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1371600"/>
            <a:ext cx="3840480" cy="3840480"/>
          </a:xfrm>
          <a:prstGeom prst="ellipse">
            <a:avLst/>
          </a:prstGeom>
          <a:solidFill>
            <a:srgbClr val="243353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-731520"/>
            <a:ext cx="2286000" cy="2286000"/>
          </a:xfrm>
          <a:prstGeom prst="ellipse">
            <a:avLst/>
          </a:prstGeom>
          <a:solidFill>
            <a:srgbClr val="2A3F60"/>
          </a:solidFill>
          <a:ln/>
        </p:spPr>
      </p:sp>
      <p:sp>
        <p:nvSpPr>
          <p:cNvPr id="5" name="Shape 3"/>
          <p:cNvSpPr/>
          <p:nvPr/>
        </p:nvSpPr>
        <p:spPr>
          <a:xfrm>
            <a:off x="-914400" y="3474720"/>
            <a:ext cx="2560320" cy="2560320"/>
          </a:xfrm>
          <a:prstGeom prst="ellipse">
            <a:avLst/>
          </a:prstGeom>
          <a:solidFill>
            <a:srgbClr val="222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9436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824A"/>
                </a:solidFill>
              </a:rPr>
              <a:t>MODULE 8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1440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Prompt Optimization,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Evaluation, and DSPy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D8E8"/>
                </a:solidFill>
              </a:rPr>
              <a:t>Atul Kahate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074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824A"/>
                </a:solidFill>
              </a:rPr>
              <a:t>https://www.linkedin.com/in/atulkahate/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ROADMAP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</a:rPr>
              <a:t>What We'll Cover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268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A9A"/>
                </a:solidFill>
              </a:rPr>
              <a:t>Four sections, moving from DSPy fundamentals to optimization, evaluation, and production deployment.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114800" cy="150876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6" name="Shape 4"/>
          <p:cNvSpPr/>
          <p:nvPr/>
        </p:nvSpPr>
        <p:spPr>
          <a:xfrm>
            <a:off x="621792" y="149047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49961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14904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</a:rPr>
              <a:t>1. DSPy Fundamentals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874520"/>
            <a:ext cx="3703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What DSPy is, how modules and signatures work, and the Predict, ChainOfThought, and ReAct building blocks.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4114800" cy="150876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1" name="Shape 9"/>
          <p:cNvSpPr/>
          <p:nvPr/>
        </p:nvSpPr>
        <p:spPr>
          <a:xfrm>
            <a:off x="4919472" y="149047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19472" y="149961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13248" y="14904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</a:rPr>
              <a:t>2. Optimizers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956048" y="1874520"/>
            <a:ext cx="3703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Automatic prompt tuning with BootstrapFewShot and MIPRO — letting DSPy write and refine examples for you.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4114800" cy="150876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318211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319125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31821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</a:rPr>
              <a:t>3. Compilation &amp; Evaluation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566160"/>
            <a:ext cx="3703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Compiling DSPy programs, writing metric functions, and evaluating quality rigorously.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114800" cy="1508760"/>
          </a:xfrm>
          <a:prstGeom prst="rect">
            <a:avLst/>
          </a:prstGeom>
          <a:solidFill>
            <a:srgbClr val="F4F6F9"/>
          </a:solidFill>
          <a:ln/>
        </p:spPr>
      </p:sp>
      <p:sp>
        <p:nvSpPr>
          <p:cNvPr id="21" name="Shape 19"/>
          <p:cNvSpPr/>
          <p:nvPr/>
        </p:nvSpPr>
        <p:spPr>
          <a:xfrm>
            <a:off x="4919472" y="318211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19472" y="3191256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13248" y="31821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</a:rPr>
              <a:t>4. Advanced &amp; Production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956048" y="3566160"/>
            <a:ext cx="3703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Multi-LLM pipelines, self-improving loops, trade-offs vs. manual prompting, and deployment patterns.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DSPY FUNDAMENTALS  ·  1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Introduction to DSPy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DSPy replaces hand-written prompts with programs — modules that the optimizer can automatically tune.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WHAT MAKES DSPY DIFFERENT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Prompts are generated, not hand-written.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You write Python code describing what you want (a signature). DSPy writes the actual prompt text and tunes it automatically.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A DSPy program is a pipeline of typed modules.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Each module declares its inputs and outputs; the optimizer figures out the best way to achieve them via a language model.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You optimize against a metric, not against a fixed prompt.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Supply a dataset + a metric function; DSPy's optimizer (BootstrapFewShot, MIPRO) finds examples and instructions that maximize it.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The compiled program is portable and reproducible.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Save it as a JSON file — reload it on any model, tune further with more data, or swap the LLM backend without changing the code.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DSPy adds complexity up front — a dataset and metric are required before optimization can start.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The payoff: prompt quality improves automatically as data grows, rather than requiring manual iteration each time.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DSPy in one paragraph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Traditional prompting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prompt = 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Classify this review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positive or negative.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Review: {review}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Answer: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response = llm(prompt.format(...))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DSPy equivalent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Classify(dspy.Signature):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"""Classify sentiment."""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review: str = dspy.InputField()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label: str = dspy.OutputField(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desc="positive or negative"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classifier = dspy.Predict(Classify)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result = classifier(review=text)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print(result.label)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Then: optimizer writes the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few-shot examples automatically.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DSPY FUNDAMENTALS  ·  2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DSPy Modules and Signatures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Signatures declare what a step does; modules decide how to do 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HOW SIGNATURES WORK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A Signature is a typed input/output contract for one step.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Inherit from dspy.Signature, declare InputField and OutputField attributes with descriptions — the optimizer reads these.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The docstring becomes the instruction sent to the model.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"Classify the sentiment of a product review." — simple, direct, and automatically tuned by the optimizer.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Modules wrap a Signature with a reasoning strategy.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dspy.Predict(Sig) uses the signature directly; dspy.ChainOfThought(Sig) adds a rationale field before the output.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Compose modules into a dspy.Module subclass.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Override __init__ to declare sub-modules and forward() to define how they connect — it's just Python.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Descriptions on OutputField are critical — vague descriptions produce inconsistent outputs.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Think of a Signature as an API contract: the clearer the types and descriptions, the better the optimizer performs.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 complete DSPy module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import dspy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SummarizeAndClassify(dspy.Signature):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"""Summarize a support ticket and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classify its urgency."""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ticket: str = dspy.InputField()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summary: str = dspy.OutputField(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desc="one-sentence summary"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urgency: str = dspy.OutputField(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desc="low / medium / high"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TicketProcessor(dspy.Module):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def __init__(self):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self.process = dspy.ChainOfThought(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SummarizeAndClassify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def forward(self, ticket):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return self.process(ticket=ticket)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Usage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proc = TicketProcessor()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result = proc(ticket=raw_text)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print(result.summary)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print(result.urgency)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DSPY FUNDAMENTALS  ·  3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Predict, ChainOfThought, and ReAct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Three core modules — each applies the same Signature with a different reasoning strategy.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18288"/>
          </a:xfrm>
          <a:prstGeom prst="rect">
            <a:avLst/>
          </a:prstGeom>
          <a:solidFill>
            <a:srgbClr val="E0E8F0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1508760"/>
            <a:ext cx="640080" cy="64008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448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</a:rPr>
              <a:t>Predict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51760"/>
            <a:ext cx="2697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Calls the LLM once with the signature prompt and returns the output fields directly. Best for classification, extraction, or any task where the answer can be produced in a single step without intermediate reasoning.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34840" y="1508760"/>
            <a:ext cx="640080" cy="64008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348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37560" y="2286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</a:rPr>
              <a:t>ChainOfThought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337560" y="2651760"/>
            <a:ext cx="2697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Adds a rationale field before the output — the model "thinks aloud" before committing. Improves accuracy on multi-step reasoning, math, and inference tasks. The optimizer can tune the reasoning style too.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1508760"/>
            <a:ext cx="640080" cy="64008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A"/>
                </a:solidFill>
              </a:rPr>
              <a:t>ReAct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51760"/>
            <a:ext cx="2697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Interleaves Thought → Action → Observation steps in a loop until done. Designed for tool-using agents: each Action calls a tool you supply; the Observation feeds back into the next Thought. Best for search-and-answer tasks.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OPTIMIZERS  ·  1 OF 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BootstrapFewShot: Automatic Example Generation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DSPy's simplest optimizer — it runs your program on training data and selects the best examples as few-shot demonstrations.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HOW IT WORKS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Provide a small training set (20–200 examples).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Each example needs the inputs; ground-truth outputs are optional — DSPy can bootstrap labels using the program itself.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BootstrapFewShot runs the program on training data.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It generates completions, filters by your metric, and keeps the traces where the program produced correct output.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Passing traces become the few-shot examples.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The optimizer selects k demonstrations and appends them to the prompt — automatically, no manual example curation needed.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Compile the optimized program and save it.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program.compile() returns a new program with the examples baked in; save to JSON and reload without recompiling.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Example quality depends on your metric — a weak metric produces poor demonstrations even with good data.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BootstrapFewShot is the right starting point: fast, requires no API calls for the optimizer itself, and often gives 10–30% accuracy gains.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Running BootstrapFewShot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import dspy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dspy.teleprompt import BootstrapFewShot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1. Define metric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accuracy(example, pred, trace=None):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pred.label == example.label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2. Set up optimizer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optimizer = BootstrapFewShot(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metric=accuracy,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max_bootstrapped_demos=4,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max_labeled_demos=8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3. Compile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trained = optimizer.compile(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student=MyModule(),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trainset=train_data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4. Use compiled program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pred = trained(review=text)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print(pred.label)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5. Save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trained.save("classifier_v1.json")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OPTIMIZERS  ·  2 OF 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MIPRO: Instruction and Example Co-optimization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MIPRO goes further — it optimizes both the instruction text and the few-shot examples simultaneously using Bayesian search.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WHAT MIPRO ADDS OVER BOOTSTRAPFEWSHOT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MIPRO also rewrites the instruction (the docstring).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It generates multiple candidate instruction phrasings, evaluates each on a validation set, and keeps the best combination.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Bayesian optimization searches the (instruction, examples) space.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Rather than random search, MIPRO uses a surrogate model to predict which candidates are worth evaluating — fewer LLM calls.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Requires a labeled validation set for scoring.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Set aside 15–20% of your data as a validation set — MIPRO scores each candidate against it using your metric.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Produces a better prompt at the cost of more optimizer calls.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Expect 50–300 LLM calls during optimization depending on num_trials — plan for the API cost before running on production data.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MIPRO is significantly more expensive than BootstrapFewShot — use it once BootstrapFewShot has plateaued.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Start with BootstrapFewShot; graduate to MIPRO when you need the extra accuracy and have a solid validation set.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Running MIPRO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dspy.teleprompt import MIPROv2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optimizer = MIPROv2(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metric=accuracy,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auto="medium",   # light/medium/heavy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num_threads=4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trained = optimizer.compile(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student=MyModule(),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trainset=train_data,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valset=val_data,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num_trials=20,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minibatch=True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What MIPRO optimized: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1. The docstring instruction text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2. The few-shot demonstrations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3. Their combination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trained.save("classifier_mipro.json")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Inspect what changed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print(trained.process.demos)  # examples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print(trained.process.extended_signature)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COMPILATION &amp; EVALUATION  ·  1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Compiling DSPy Programs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Compilation is the step that locks in the optimizer's choices — examples, instructions, and module weights.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WHAT COMPILATION DOES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Runs the optimizer to find the best prompt configuration.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The optimizer evaluates candidates, scores them with your metric, and selects the top-performing configuration.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Returns a new, concrete program — the original is unchanged.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compiled = optimizer.compile(MyModule(), ...) returns a new object; call compiled.save() to persist it.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The compiled program contains frozen demonstrations.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Inspect compiled.predict.demos to see exactly what examples were selected — they're just Python dicts, easy to audit.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Reload without recompiling on every deploy.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loaded = MyModule(); loaded.load("model.json") — the module rehydrates from the JSON without touching the optimizer again.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Compilation is expensive — don't rerun it unless your dataset, metric, or base model changes.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Treat compiled JSON files like trained model checkpoints: version them, test them before deploying, and keep the training data that produced them.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Compile, inspect, and reload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Compile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compiled = optimizer.compile(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student=MyModule(),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trainset=train_data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Inspect what was chosen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for demo in compiled.process.demos: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print("Input:", demo["ticket"])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print("Output:", demo["urgency"])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print("---")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Save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compiled.save("ticket_v1.json")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Reload in production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my_module import TicketProcessor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prod = TicketProcessor()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prod.load("ticket_v1.json")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result = prod(ticket=incoming_ticket)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print(result.urgency)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No LLM calls to optimizer 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just inference with baked-in prompts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COMPILATION &amp; EVALUATION  ·  2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Metric Functions and Evaluation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The metric function is the heart of DSPy — it tells the optimizer what "better" means for your task.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WRITING GOOD METRICS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A metric is a Python function: (example, prediction, trace) → bool or float.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Return True/1.0 for a correct prediction, False/0.0 for wrong. Return a float (0–1) for partial credit.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Match your metric to the actual task goal.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Exact match works for classification; F1 for extraction; a secondary LLM judge ("is this summary accurate?") for open-ended tasks.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Use dspy.Evaluate to measure a compiled program systematically.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Evaluate(devset, metric, num_threads) runs your program over a held-out set and returns the aggregate score.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Split data: train / validation / test — hold test until the end.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Optimize on train+validation, then run a single evaluation on test to get an unbiased accuracy estimate.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A metric that's easy to game produces a well-optimized program that fails in production — design metrics carefully.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Run Evaluate before and after compilation to confirm the optimizer actually helped; sometimes BootstrapFewShot hurts on small datasets.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Metric + Evaluate example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import dspy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dspy.evaluate import Evaluate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Exact-match metric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label_match(example, pred, trace=None):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pred.label.lower() == \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example.label.lower()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F1 metric (for extraction)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token_f1(example, pred, trace=None):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gold = set(example.answer.split())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pred_toks = set(pred.answer.split())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if not pred_toks: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return 0.0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prec = len(gold &amp; pred_toks) / len(pred_toks)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rec  = len(gold &amp; pred_toks) / len(gold)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2*prec*rec/(prec+rec+1e-9)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Evaluate compiled program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evaluator = Evaluate(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devset=test_data,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metric=label_match,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num_threads=8,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display_progress=True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score = evaluator(compiled_program)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print(f"Test accuracy: {score:.1%}")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COMPILATION &amp; EVALUATION  ·  3 OF 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Validating DSPy Programs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A compiled program is a hypothesis — validation confirms it generalizes beyond the training set.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VALIDATION CHECKLIST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Run the compiled program on a held-out test set.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Never evaluate on training or validation data — the optimizer has already seen those; only the test set tells you the real accuracy.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Compare baseline (uncompiled) vs. compiled accuracy.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If the compiled program isn't clearly better, the metric is weak or the training set is too small — fix those before adding more data.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Check output consistency across runs.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Run the same inputs through the program twice — high variability signals a signature that's under-specified.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Inspect failure cases manually.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Sample 20 wrong predictions: are they clustered around a specific input type? That pattern tells you what to improve in the signature or training data.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Compiled accuracy on val set is optimistic — always report test set numbers and use val set only for hyperparameter decisions.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DSPy's Evaluate makes this easy: run it once on each split, keep the numbers, and compare across program versions.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Before-and-after validation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Baseline (no optimization)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base = TicketProcessor()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base_score = evaluator(base)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print(f"Baseline: {base_score:.1%}")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After BootstrapFewShot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bfs_program = bfs_optimizer.compile(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student=TicketProcessor(),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trainset=train_data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bfs_score = evaluator(bfs_program)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print(f"BootstrapFewShot: {bfs_score:.1%}")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After MIPRO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mipro_prog = mipro.compile(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student=TicketProcessor(),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trainset=train_data,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valset=val_data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mipro_score = evaluator(mipro_prog)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print(f"MIPRO: {mipro_score:.1%}")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Sample failures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fails = [ex for ex, pred, _ in results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if not label_match(ex, pred)]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for f in fails[:5]: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print(f.ticket, "→", f.urgency)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ADVANCED &amp; PRODUCTION  ·  1 OF 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ReAct Modules in DSPy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ReAct combines reasoning and acting — the module loops through Thought, Action, and Observation until a final answer is produced.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HOW REACT WORKS IN DSPY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Define tools as Python functions and pass them to dspy.ReAct.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Each tool gets a name and docstring — the model reads these to decide which to call, exactly like LangChain tool calling.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The module runs a Thought → Action → Observation loop.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The model produces a Thought (reasoning), then an Action (tool name + args), then receives the Observation (tool output) — and repeats.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The loop ends when the model produces a Finish action.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Finish("answer") signals that the model has enough information and produces the final output field.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ReAct can be optimized like any other DSPy module.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BootstrapFewShot works on ReAct traces too — it selects examples of good Thought/Action chains, not just final answers.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ReAct multiplies LLM calls — each step in the loop is a separate call. Budget accordingly.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Keep tools narrowly scoped and well-described; ambiguous tools cause the model to loop or choose wrong actions.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ReAct with web search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import dspy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Define tools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search(query: str) -&gt; str: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"""Search Wikipedia for a query."""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wikipedia_api(query)[:500]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calculate(expr: str) -&gt; str: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"""Evaluate a math expression."""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str(eval(expr))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Build ReAct agent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QA(dspy.Signature):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"""Answer questions using search."""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question: str = dspy.InputField()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answer: str = dspy.OutputField()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agent = dspy.ReAct(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QA,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tools=[search, calculate]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result = agent(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question="What is the GDP of India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divided by its population?"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print(result.answer)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Model searched GDP, searched population,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then called calculate to divide them.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ADVANCED &amp; PRODUCTION  ·  2 OF 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DSPy with Multiple LLMs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Different modules in one pipeline can use different models — small ones for cheap steps, large ones for hard reasoning.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MULTI-MODEL PATTERNS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Set a global LM with dspy.configure(lm=...).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All modules use it by default — a sensible global default prevents accidental expensive calls on cheap steps.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Override per-module with dspy.context(lm=...).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Wrap a module's forward call in a context manager to use a different model for just that step without changing global config.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Use a cheap model for classification, a powerful one for generation.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gpt-4o-mini for intent detection, gpt-4o for complex synthesis — the router is a fast, cheap Predict module.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The optimizer can be run with a different model than inference.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Compile with gpt-4o for maximum quality examples; run the compiled program with gpt-4o-mini in production for cost savings.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Mixing models adds configuration complexity — document which step uses which model and why.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Optimize with the most capable model you can afford; deploy with the cheapest that meets your accuracy threshold.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Multi-model pipeline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import dspy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Configure models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gpt4o = dspy.LM("openai/gpt-4o")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mini  = dspy.LM("openai/gpt-4o-mini")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claude = dspy.LM("anthropic/claude-3-5-haiku")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Global default: cheap model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dspy.configure(lm=mini)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class Pipeline(dspy.Module):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def __init__(self):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# Cheap: intent classification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self.classify = dspy.Predict(Intent)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# Expensive: response generation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self.generate = dspy.ChainOfThought(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Response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def forward(self, query):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intent = self.classify(query=query)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# Use gpt-4o only for generation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with dspy.context(lm=gpt4o):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resp = self.generate(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 query=query,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    intent=intent.category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    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return resp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ADVANCED &amp; PRODUCTION  ·  3 OF 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Building Self-Improving Pipelines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A self-improving pipeline collects production feedback, recompiles periodically, and gets better without human intervention.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THE SELF-IMPROVEMENT LOOP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Log every prediction and its ground-truth signal.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Store (inputs, outputs, metric_score) for every inference call — implicit signals (clicks, corrections) work when explicit labels are unavailable.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Accumulate labeled examples into a training set.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Once you have 50–100 new examples since the last compile, trigger a recompile — more data without more human labeling.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Recompile on a schedule using the accumulated data.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 weekly cron job: load new examples → run BootstrapFewShot → evaluate on a fixed test set → deploy if improved.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Gate deployment on a quality threshold.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Only swap the production program if the new compiled version beats the current one by at least +N% on the test set — prevent regressions.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Self-improvement requires a stable metric and a reliable test set — both must stay fixed as the model improves.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Log everything from the start: the cost of missing early production data is high once you want to start improving automatically.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Self-improvement skeleton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Pseudocode for the loop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weekly_recompile():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# 1. Fetch new labeled examples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new_examples = db.fetch_examples(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since=last_compile_date,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min_score=0.8   # only confident ones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if len(new_examples) &lt; 50: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return  # not enough data yet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# 2. Combine with historical 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trainset = historical + new_examples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# 3. Recompile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optimizer = BootstrapFewShot(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metric=production_metric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candidate = optimizer.compile(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student=Pipeline(),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trainset=trainset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# 4. Gate on test set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new_score = evaluator(candidate)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if new_score &gt; current_score + 0.02: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candidate.save("prod.json")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deploy(candidate)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log(f"Deployed: {new_score:.1%}")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ADVANCED &amp; PRODUCTION  ·  4 OF 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DSPy vs Manual Prompting: Trade-offs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DSPy is not always the right choice — knowing when to use each approach saves time and complexity.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2062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30352" y="142646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DIMENSION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221992" y="1426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MANUAL PROMPTING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376672" y="1426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</a:rPr>
              <a:t>DSPY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1792224"/>
            <a:ext cx="822960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847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Setup cost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221992" y="184708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Low — write a prompt and ship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376672" y="184708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High — need dataset, metric, and optimizer run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12848"/>
            <a:ext cx="8229600" cy="420624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" y="22677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Prompt quality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221992" y="22677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Depends on engineer skill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376672" y="22677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Improves automatically with data and optimizer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633472"/>
            <a:ext cx="822960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0352" y="268833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Reproducibility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221992" y="268833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Hard — prompt text changes ad hoc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376672" y="268833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High — compiled JSON is versioned and auditable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054096"/>
            <a:ext cx="8229600" cy="420624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0352" y="31089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Multi-step tasks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2221992" y="31089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Manual chaining with fragile state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376672" y="31089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Native — modules compose cleanly in forward()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8229600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0352" y="352958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Iteration speed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221992" y="352958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Fast for one-off changes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376672" y="352958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Slower — each change requires recompilation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895344"/>
            <a:ext cx="8229600" cy="420624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30352" y="395020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Best for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39502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Prototypes, simple 1-step tasks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376672" y="39502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A4A"/>
                </a:solidFill>
              </a:rPr>
              <a:t>Production pipelines, multi-step reasoning, continuous improvement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ADVANCED &amp; PRODUCTION  ·  DEPLOYMENT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DSPy Production Deployment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A compiled DSPy program is just Python + a JSON file — deployment is simpler than it looks.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DEPLOYMENT CHECKLIST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61848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160020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Save the compiled program as a versioned JSON file.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180136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Use compiled.save("model_v1.2.json") — the filename encodes the version; store it in object storage (S3, GCS) alongside the training data that produced it.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16712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14884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Load at startup — do not recompile on every request.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23500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Compilation is a one-time offline step; at runtime, load() rehydrates the frozen examples with no optimizer calls.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71576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269748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Pin the base model version used during compilation.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" y="28986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A model update (e.g. gpt-4o-2024-11 → gpt-4o-2025-03) can change accuracy — track model version alongside program version.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255264"/>
            <a:ext cx="246888" cy="24688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264408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" y="3246120"/>
            <a:ext cx="4251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Monitor metric score in production with the same function used in training.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" y="34472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A9A"/>
                </a:solidFill>
              </a:rPr>
              <a:t>Shadow-score live traffic with your metric: if production score drops below threshold, trigger an alert and recompile.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708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Trade-off: A compiled program trained on gpt-4o may not transfer perfectly to claude-3-5-sonnet — recompile when switching base models.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6634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A9A"/>
                </a:solidFill>
              </a:rPr>
              <a:t>Key point: The JSON file is human-readable: review the selected demonstrations before deploying, the same way you'd review a model's training data.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49240" y="1353312"/>
            <a:ext cx="3337560" cy="356616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25" name="Shape 23"/>
          <p:cNvSpPr/>
          <p:nvPr/>
        </p:nvSpPr>
        <p:spPr>
          <a:xfrm>
            <a:off x="5577840" y="1490472"/>
            <a:ext cx="475488" cy="475488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577840" y="1490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Dp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153912" y="15727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D4824A"/>
                </a:solidFill>
              </a:rPr>
              <a:t>EXAMPLE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199339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Production loading pattern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532120" y="2359152"/>
            <a:ext cx="3017520" cy="2450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production_server.py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import dspy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from my_module import TicketProcessor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Configure LM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lm = dspy.LM(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"openai/gpt-4o",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cache=True   # cache repeated inputs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dspy.configure(lm=lm)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Load compiled program once at startup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prog = TicketProcessor()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prog.load("s3://my-bucket/ticket_v2.json")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def handle_request(ticket_text: str):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result = prog(ticket=ticket_text)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# Log for self-improvement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db.log({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"input": ticket_text,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"output": result.urgency,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    "model_version": "ticket_v2"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})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    return result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FastAPI / Flask / Lambda 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8CCE0"/>
                </a:solidFill>
              </a:rPr>
              <a:t># prog is shared across requests.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REFERENCE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DSPy Module Types and Optimizers at a Glance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Which module and optimizer to reach for depending on your task.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53312"/>
            <a:ext cx="8229600" cy="43891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12064" y="140817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</a:rPr>
              <a:t>TYPE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2478024" y="1408176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</a:rPr>
              <a:t>DSPY CLASS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4535424" y="140817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</a:rPr>
              <a:t>REASONING STYLE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6501384" y="1408176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</a:rPr>
              <a:t>BEST FOR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792224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2064" y="184708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Module: Predict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2478024" y="184708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dspy.Predict(Sig)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184708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Single LLM call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501384" y="1847088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Classification, labeling, simple extraction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231136"/>
            <a:ext cx="8229600" cy="438912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228600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Module: ChainOfThought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478024" y="2286000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dspy.ChainOfThought(Sig)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35424" y="228600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Rationale before output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501384" y="2286000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Multi-step reasoning, math, inference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" y="2670048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12064" y="272491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Module: ReAct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2478024" y="2724912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dspy.ReAct(Sig, tools)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35424" y="272491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Think → Act → Observe loop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2724912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Tool-using agents, search-and-answer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" y="3108960"/>
            <a:ext cx="8229600" cy="438912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12064" y="316382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Optimizer: BootstrapFewShot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478024" y="316382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BootstrapFewShot(metric)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535424" y="316382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Selects best traces as demos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501384" y="3163824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Starting point; fast; no labeled outputs required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547872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12064" y="36027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Optimizer: MIPRO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478024" y="3602736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MIPROv2(metric, auto=...)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4535424" y="36027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Optimizes instruction + demos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6501384" y="3602736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Maximum accuracy; requires labeled val set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57200" y="3986784"/>
            <a:ext cx="8229600" cy="438912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12064" y="404164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Evaluation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478024" y="4041648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dspy.Evaluate(devset, metric)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535424" y="404164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Runs program over a dataset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501384" y="4041648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4A"/>
                </a:solidFill>
              </a:rPr>
              <a:t>Before/after comparison; production monitoring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4A6A8A"/>
                </a:solidFill>
              </a:rPr>
              <a:t>PRACTICAL GUIDANCE  ·  COMMON MISTAKES TO AVOID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</a:rPr>
              <a:t>Common DSPy Mistakes and How to Fix Them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8A9A"/>
                </a:solidFill>
              </a:rPr>
              <a:t>Errors that almost every first-time DSPy user hits — and the one-line fixes.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18288"/>
          </a:xfrm>
          <a:prstGeom prst="rect">
            <a:avLst/>
          </a:prstGeom>
          <a:solidFill>
            <a:srgbClr val="E0E8F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81912"/>
            <a:ext cx="320040" cy="32004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5819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1554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Evaluating on training data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1554480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The optimizer has seen the training set — accuracy there is optimistic. Always hold out a separate test set and never report training accuracy as your "real" score.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13716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32304"/>
            <a:ext cx="320040" cy="32004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4323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" y="24048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Weak or proxy metric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2404872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A metric that's easy to maximize but doesn't reflect the real goal (e.g. length &gt; 0) produces a program optimized for the wrong thing. Make your metric as close to the user goal as possible.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82112"/>
            <a:ext cx="8229600" cy="13716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282696"/>
            <a:ext cx="320040" cy="32004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2826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" y="32552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Recompiling on every model version update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971800" y="3255264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The compiled program is tied to the base model that produced its examples. Recompile deliberately when switching models, not automatically — and evaluate before deploying.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032504"/>
            <a:ext cx="8229600" cy="13716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133088"/>
            <a:ext cx="320040" cy="32004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133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105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Vague OutputField descriptions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971800" y="4105656"/>
            <a:ext cx="5715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A9A"/>
                </a:solidFill>
              </a:rPr>
              <a:t>desc="the answer" gives the optimizer nothing to work with. Write desc="positive, negative, or neutral — lowercase single word" to constrain output and improve optimization.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882896"/>
            <a:ext cx="8229600" cy="13716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914400"/>
            <a:ext cx="3200400" cy="3200400"/>
          </a:xfrm>
          <a:prstGeom prst="ellipse">
            <a:avLst/>
          </a:prstGeom>
          <a:solidFill>
            <a:srgbClr val="243353"/>
          </a:solidFill>
          <a:ln/>
        </p:spPr>
      </p:sp>
      <p:sp>
        <p:nvSpPr>
          <p:cNvPr id="4" name="Shape 2"/>
          <p:cNvSpPr/>
          <p:nvPr/>
        </p:nvSpPr>
        <p:spPr>
          <a:xfrm>
            <a:off x="-731520" y="3200400"/>
            <a:ext cx="2286000" cy="2286000"/>
          </a:xfrm>
          <a:prstGeom prst="ellipse">
            <a:avLst/>
          </a:prstGeom>
          <a:solidFill>
            <a:srgbClr val="22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365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4824A"/>
                </a:solidFill>
              </a:rPr>
              <a:t>KEY TAKEAWAYS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217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Three Things to Remember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2606040" cy="347472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8" name="Shape 6"/>
          <p:cNvSpPr/>
          <p:nvPr/>
        </p:nvSpPr>
        <p:spPr>
          <a:xfrm>
            <a:off x="1463040" y="1481328"/>
            <a:ext cx="594360" cy="59436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14813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240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Signatures replace prompts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7432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CE0"/>
                </a:solidFill>
              </a:rPr>
              <a:t>Write typed input/output contracts instead of prompt strings. The optimizer fills in the examples and instruction text — your job is to define what correct output looks like, not how to elicit it.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27832" y="1325880"/>
            <a:ext cx="2606040" cy="347472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13" name="Shape 11"/>
          <p:cNvSpPr/>
          <p:nvPr/>
        </p:nvSpPr>
        <p:spPr>
          <a:xfrm>
            <a:off x="4233672" y="1481328"/>
            <a:ext cx="594360" cy="59436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33672" y="14813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392424" y="2240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Metrics drive everything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392424" y="27432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CE0"/>
                </a:solidFill>
              </a:rPr>
              <a:t>The optimizer is only as good as the metric you give it. A metric that captures the real goal produces a program that serves real users; a proxy metric produces a program that games the score.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98464" y="1325880"/>
            <a:ext cx="2606040" cy="3474720"/>
          </a:xfrm>
          <a:prstGeom prst="rect">
            <a:avLst/>
          </a:prstGeom>
          <a:solidFill>
            <a:srgbClr val="243353"/>
          </a:solidFill>
          <a:ln/>
        </p:spPr>
      </p:sp>
      <p:sp>
        <p:nvSpPr>
          <p:cNvPr id="18" name="Shape 16"/>
          <p:cNvSpPr/>
          <p:nvPr/>
        </p:nvSpPr>
        <p:spPr>
          <a:xfrm>
            <a:off x="7004304" y="1481328"/>
            <a:ext cx="594360" cy="594360"/>
          </a:xfrm>
          <a:prstGeom prst="ellipse">
            <a:avLst/>
          </a:prstGeom>
          <a:solidFill>
            <a:srgbClr val="D482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04304" y="14813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2240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Compile once, deploy many times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63056" y="27432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CE0"/>
                </a:solidFill>
              </a:rPr>
              <a:t>Compilation is offline and expensive; inference is cheap. Treat compiled programs like trained models: version them, test before deploying, and recompile deliberately — not on every code change.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9194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Prompt Optimization, Evaluation &amp; DSPy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91947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0B0C0"/>
                </a:solidFill>
              </a:rPr>
              <a:t>18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2026-09-21T13:32:37Z</dcterms:created>
  <dcterms:modified xsi:type="dcterms:W3CDTF">2026-09-21T13:32:37Z</dcterms:modified>
</cp:coreProperties>
</file>