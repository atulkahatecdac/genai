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81"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7" d="100"/>
          <a:sy n="127" d="100"/>
        </p:scale>
        <p:origin x="620" y="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120748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sections, moving from DSPy fundamentals to optimization, evaluation, and production deployment.
1. DSPy Fundamentals: what DSPy is, how modules and signatures work, and the Predict, ChainOfThought, and ReAct building blocks.
2. Optimizers: automatic prompt tuning with BootstrapFewShot and MIPRO, letting DSPy write and refine examples for you.
3. Compilation &amp; Evaluation: compiling DSPy programs, writing metric functions, and evaluating quality rigorously.
4. Advanced &amp; Production: multi-LLM pipelines, self-improving loops, trade-offs vs. manual prompting, and deployment patterns.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You already know how to write prompts. DSPy asks: instead of me manually trying 20 prompts, can the system search for a better prompting strategy for me? This is the single most important idea to establish before showing any DSPy code.
Concrete example: you write "Classify this customer complaint as High, Medium or Low priority." You test it, it is not good enough, you change it, test again, add examples, test again...
Traditional GenAI development: Prompt -&gt; LLM -&gt; Output -&gt; Not good enough? -&gt; Manually modify prompt -&gt; Test -&gt; again -&gt; Modify again -&gt; ...
What if I have 50 test cases? Do I manually keep changing the prompt?
DSPy: Define WHAT you want -&gt; Signature -&gt; DSPy program -&gt; Examples + Metric -&gt; DSPy Optimizer -&gt; Better instructions / examples -&gt; LLM.
Who does the work:
- Prompt engineering: the human writes the prompt.
- DSPy: the human defines the task + examples + metric; DSPy searches for and optimizes the prompting strategy.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If you remember only four words from today's session, remember these four.
Signature: what goes in and what comes out.
Module: how the task should be performed (Predict, ChainOfThought, ReAct).
Metric: how we measure success.
Optimizer: how we improve the program.
The picture: your task becomes a DSPy program (Signature + Module + examples). It calls the LLM and produces output. The metric scores the output. The optimizer uses those scores to improve the program: better instructions and better examples, which give better results.
DSPy lets you describe the task and optimize how the LLM performs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code, explain what a Signature means conceptually.
A Signature describes two things:
- What information does the LLM receive? (the input fields)
- What should the LLM produce? (the output fields)
Example: input "What is the capital of Australia?" -&gt; output "Canberra".
In code (next slide):
class QA(dspy.Signature):
    question: str = dspy.InputField()
    answer: str = dspy.OutputField()
Key takeaway: a Signature is like a contract between your program and the LLM.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DSPy replaces hand-written prompts with programs: modules that the optimizer can automatically tune.
1. Prompts are generated, not hand-written. You write Python code describing what you want (a signature). DSPy writes the actual prompt text and tunes it automatically.
2. A DSPy program is a pipeline of typed modules. Each module declares its inputs and outputs; the optimizer figures out the best way to achieve them.
3. You optimize against a metric, not against a fixed prompt. Supply a dataset + a metric function; DSPy's optimizer (BootstrapFewShot, MIPRO) finds examples and instructions that maximize it.
4. The compiled program is portable and reproducible. Save it as a JSON file; reload it, tune further with more data, or swap the LLM backend without changing the code.
A signature tells DSPy what goes IN and what should come OUT.
Second example (traditional vs DSPy):
prompt = "Classify this review as positive or negative. Review: {review} Answer:"
vs
class Classify(dspy.Signature): """Classify sentiment.""" review: str = dspy.InputField(); label: str = dspy.OutputField(desc="positive or negative")
classifier = dspy.Predict(Classify)
Trade-off: DSPy adds complexity up front. A dataset and metric are required before optimization can start.
Key point: prompt quality improves automatically as data grows, rather than requiring manual iteration each time.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slide shows Signature and Module together in code. Separate the two ideas first.
Signature: WHAT do I want? (task definition)
Module: HOW should DSPy ask the LLM to do it? (strategy)
Signature (question -&gt; answer) + Module (Predict / ChainOfThought / ReAct) -&gt; LLM call.
Analogy: the Signature is the dish you want (the recipe requirement); the Module is the cooking method. Same dish, different methods.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Signatures declare what a step does; modules decide how to do it.
1. A Signature is a typed input/output contract for one step. Inherit from dspy.Signature, declare InputField and OutputField attributes with descriptions; the optimizer reads these.
2. The docstring becomes the instruction sent to the model: simple, direct, and automatically tuned by the optimizer.
3. Modules wrap a Signature with a reasoning strategy. dspy.Predict(Sig) uses the signature directly; dspy.ChainOfThought(Sig) adds a rationale field before the output.
4. Compose modules into a dspy.Module subclass. Override __init__ to declare sub-modules and forward() to define how they connect.
Usage: proc = TicketProcessor(); result = proc(ticket=raw_text); print(result.summary, result.urgency)
Trade-off: descriptions on OutputField are critical. Vague descriptions produce inconsistent outputs.
Key point: think of a Signature as an API contract.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core modules: each applies the same Signature with a different reasoning strategy. See demo 03.
Predict: calls the LLM once with the signature prompt and returns the output fields directly. Best for classification, extraction, or any task that can be answered in a single step.
ChainOfThought: adds a rationale field before the output; the model "thinks aloud" before committing. Improves accuracy on multi-step reasoning, math, and inference tasks. The optimizer can tune the reasoning style too.
ReAct: interleaves Thought -&gt; Action -&gt; Observation steps in a loop until done. Designed for tool-using agents: each Action calls a tool you supply; the Observation feeds back into the next Thought.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idea before the optimizer slides.
We have: a DSPy program + some examples (e.g. 50-100) + a metric. Question: can we make the program perform better?
The optimizer tries different configurations (different few-shot examples, different instruction wording), measures each one with the metric, and keeps the best.
Simple example: task = classify a review. Input "The delivery was two days late." Expected: Negative. With 50 labeled examples, the optimizer tries configuration A (72%), B (81%), C (86%) and keeps C. (Numbers are illustrative.)
BootstrapFewShot: finds useful examples.
MIPRO: searches for better instructions + examples.
Optimization = search + measurement + improvement.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DSPy's simplest optimizer: it runs your program on training data and selects the best examples as few-shot demonstrations.
1. Provide a small training set (20-200 examples). Each example needs the inputs; ground-truth outputs are optional, as DSPy can bootstrap labels using the program itself.
2. BootstrapFewShot runs the program on training data. It generates completions, filters by your metric, and keeps the traces where the program produced correct output.
3. Passing traces become the few-shot examples. The optimizer selects k demonstrations and adds them to the prompt automatically.
4. Compile the optimized program and save it. compile() returns a new program with the examples baked in; save to JSON and reload without recompiling.
Trade-off: example quality depends on your metric. A weak metric produces poor demonstrations even with good data.
Key point: BootstrapFewShot is the right starting point and often gives a solid accuracy gain.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MIPRO optimizes both the instruction text and the few-shot examples together, using Bayesian search.
1. MIPRO also rewrites the instruction (the docstring). It generates multiple candidate phrasings, evaluates each on a validation set, and keeps the best combination.
2. Bayesian optimization searches the (instruction, examples) space. A surrogate model predicts which candidates are worth evaluating, so fewer LLM calls are needed than random search.
3. Requires a labeled validation set for scoring: set aside 15-20% of your data.
4. Produces a better prompt at the cost of more optimizer calls: expect tens to hundreds of LLM calls depending on settings. Plan for the API cost.
Inspect what changed: print(trained.process.demos); print(trained.process.extended_signature)
Trade-off: MIPRO is significantly more expensive than BootstrapFewShot.
Key point: start with BootstrapFewShot; graduate to MIPRO when you need the extra accuracy and have a solid validation set.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mental map for the whole module.
1. Define the task
2. Create the Signature
3. Choose a Module
4. Prepare examples
5. Define the metric
6. Run a baseline (unoptimized program, measured with the metric)
7. Optimize (BootstrapFewShot / MIPRO)
8. Evaluate on held-out data
9. Save / compile to JSON
10. Deploy
Development: Define -&gt; Build -&gt; Measure -&gt; Optimize.
Production: Save -&gt; Load -&gt; Run -&gt; Monitor.
The following slides cover compiling (9), metrics and evaluation (6, 8), and later production deployment (10).</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Compilation locks in the optimizer's choices: examples and instructions.
1. Runs the optimizer to find the best prompt configuration: it evaluates candidates, scores them with your metric, and selects the top-performing configuration.
2. Returns a new, concrete program; the original is unchanged. Call compiled.save() to persist it.
3. The compiled program contains frozen demonstrations. Inspect compiled.process.demos to see exactly which examples were selected; they're easy to audit.
4. Reload without recompiling on every deploy: prod = TicketProcessor(); prod.load("ticket_v1.json"). No optimizer calls, just inference with baked-in prompts.
Trade-off: compilation is expensive. Don't rerun it unless your dataset, metric, or base model changes.
Key point: treat compiled JSON files like trained model checkpoints: version them, test them before deploying, and keep the training data that produced them.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metric function is the heart of DSPy: it tells the optimizer what "better" means for your task.
1. A metric is a Python function: (example, prediction, trace) -&gt; bool or float. Return True/1.0 for correct, False/0.0 for wrong, or a float (0-1) for partial credit.
2. Match your metric to the actual task goal: exact match for classification; F1 for extraction; a secondary LLM judge ("is this summary accurate?") for open-ended tasks.
3. Use dspy.Evaluate(devset, metric, num_threads) to run your program over a held-out set and return the aggregate score.
4. Split data into train / validation / test. Optimize on train+validation, then run a single evaluation on test for an unbiased estimate.
F1 metric example: gold = set(example.answer.split()); pred_toks = set(pred.answer.split()); prec = overlap/len(pred_toks); rec = overlap/len(gold); return 2*prec*rec/(prec+rec).
Trade-off: a metric that's easy to game produces a well-optimized program that fails in production.
Key point: sometimes BootstrapFewShot hurts on small datasets, so always measure.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compiled program is a hypothesis: validation confirms it generalizes beyond the training set.
1. Run the compiled program on a held-out test set. Never evaluate on training or validation data: the optimizer has already seen those.
2. Compare baseline (uncompiled) vs. compiled accuracy. If the compiled program isn't clearly better, the metric is weak or the training set is too small.
3. Check output consistency across runs. High variability signals an under-specified signature.
4. Inspect failure cases manually. Sample 20 wrong predictions: are they clustered around a specific input type? That tells you what to improve in the signature or training data.
Trade-off: compiled accuracy on the val set is optimistic. Always report test set numbers and use the val set only for tuning decisions.
Key point: run Evaluate once on each split, keep the numbers, and compare across program versions.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Consolidate before the advanced section.
Signature = input/output specification. Module = LLM strategy. Prediction = result from the LLM. Example = training example. Metric = score. Optimizer = prompt/program improver. Compile = optimize and produce the improved program. Save = store the optimized configuration. Evaluate = test how well it works.
DSPy is still an LLM application. It simply gives us a structured way to build and improve it.
Say: Everything up to this point is enough to start using DSPy. The next section shows what you can build on top of these foundations: core concepts (Signature, Module, Predict, Optimizer, Evaluation) vs advanced (ReAct, multiple LLMs, self-improving pipelines, production). You don't need to master the advanced part immediately.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 combines reasoning and acting: the module loops through Thought, Action, and Observation until a final answer is produced. Demo 09 uses tools over the CloudSync ticket data.
1. Define tools as Python functions and pass them to dspy.ReAct. Each tool gets a name and docstring; the model reads these to decide which to call, like LangChain tool calling.
2. The module runs a Thought -&gt; Action -&gt; Observation loop: reasoning, then a tool call with arguments, then the tool output, and repeats.
3. The loop ends when the model chooses Finish, signalling it has enough information to produce the final output field.
4. ReAct can be optimized like any other DSPy module: BootstrapFewShot selects examples of good Thought/Action chains, not just final answers.
Original example question: "What is the GDP of India divided by its population?" The model searched GDP, searched population, then called calculate to divide them.
Trade-off: ReAct multiplies LLM calls; each step in the loop is a separate call. Budget accordingly.
Key point: keep tools narrowly scoped and well described; ambiguous tools cause the model to loop or choose wrong actions.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 modules in one pipeline can use different models: small ones for cheap steps, large ones for hard reasoning.
1. Set a global LM with dspy.configure(lm=...). All modules use it by default; a sensible default prevents accidental expensive calls.
2. Override per step with dspy.context(lm=...): wrap a module's call in a context manager to use a different model for just that step.
3. Use a cheap model for classification and a powerful one for generation: gpt-4o-mini for intent detection, gpt-4o for complex synthesis.
4. The optimizer can run with a different model than inference: compile with gpt-4o for high-quality examples; run the compiled program with gpt-4o-mini in production.
Trade-off: mixing models adds configuration complexity. Document which step uses which model and why.
Key point: optimize with the most capable model you can afford; deploy with the cheapest that meets your accuracy threshold.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self-improving pipeline collects production feedback, recompiles periodically, and gets better without human intervention.
1. Log every prediction and its ground-truth signal: store (inputs, outputs, metric_score). Implicit signals (clicks, corrections) work when explicit labels are unavailable.
2. Accumulate labeled examples into a training set. Once you have 50-100 new examples since the last compile, trigger a recompile.
3. Recompile on a schedule using the accumulated data: e.g. a weekly cron job loads new examples -&gt; runs BootstrapFewShot -&gt; evaluates on a fixed test set -&gt; deploys if improved.
4. Gate deployment on a quality threshold: only swap the production program if the new version beats the current one by at least +N% on the test set.
Skeleton: weekly_recompile(): new_examples = db.fetch_examples(since=last_compile_date, min_score=0.8); if fewer than 50, return; trainset = historical + new_examples; candidate = BootstrapFewShot(metric=production_metric).compile(student=Pipeline(), trainset=trainset); if evaluator(candidate) &gt; current_score + 0.02: candidate.save("prod.json"); deploy(candidate).
Trade-off: self-improvement requires a stable metric and a reliable test set; both must stay fixed.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DSPy is not always the right choice: knowing when to use each approach saves time and complexity.
Setup cost: manual is low (write a prompt and ship); DSPy is high (needs dataset, metric, and an optimizer run).
Prompt quality: manual depends on engineer skill; DSPy improves automatically with data and the optimizer.
Reproducibility: manual is hard (prompt text changes ad hoc); DSPy is high (compiled JSON is versioned and auditable).
Multi-step tasks: manual chaining with fragile state vs. modules that compose cleanly in forward().
Iteration speed: manual is fast for one-off changes; DSPy is slower as each change requires recompilation.
Best for: manual for prototypes and simple one-step tasks; DSPy for production pipelines, multi-step reasoning, and continuous improvement.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compiled DSPy program is just Python + a JSON file: deployment is simpler than it looks.
1. Save the compiled program as a versioned JSON file, e.g. compiled.save("model_v1.2.json"). Store it alongside the training data that produced it (e.g. in S3 or GCS).
2. Load at startup; do not recompile on every request. Compilation is a one-time offline step; at runtime, load() restores the frozen examples with no optimizer calls.
3. Pin the base model version used during compilation. A model update can change accuracy, so track model version alongside program version.
4. Monitor metric score in production with the same function used in training. If the production score drops below threshold, alert and recompile.
Tips: dspy.LM(..., cache=True) caches repeated inputs. The loaded program is shared across requests in FastAPI / Flask / Lambda.
Trade-off: a program compiled on one model may not transfer perfectly to another; recompile when switching base models.
Key point: the JSON file is human-readable. Review the selected demonstrations before deploying, as you would review training data.</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module and optimizer to reach for depending on your task.
Modules: Predict (single LLM call), ChainOfThought (rationale before output), ReAct (think -&gt; act -&gt; observe loop).
Optimizers: BootstrapFewShot (selects best traces as demos; starting point; fast; no labeled outputs required), MIPRO (optimizes instruction + demos; maximum accuracy; requires labeled val set).
Evaluation: dspy.Evaluate runs a program over a dataset; use for before/after comparison and production monitoring.</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Errors almost every first-time DSPy user hits, and the fixes.
1. Evaluating on training data: the optimizer has seen the training set, so accuracy there is optimistic. Always hold out a separate test set and never report training accuracy as your real score.
2. Weak or proxy metric: a metric that's easy to maximize but doesn't reflect the real goal (e.g. length &gt; 0) produces a program optimized for the wrong thing.
3. Recompiling on every model version update: the compiled program is tied to the base model that produced its examples. Recompile deliberately when switching models, not automatically, and evaluate before deploying.
4. Vague OutputField descriptions: desc="the answer" gives the optimizer nothing to work with. Write desc="positive, negative, or neutral - lowercase single word".</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Signatures replace prompts: write typed input/output contracts instead of prompt strings. The optimizer fills in the examples and instruction text; your job is to define what correct output looks like, not how to elicit it.
Metrics drive everything: a metric that captures the real goal produces a program that serves real users; a proxy metric produces a program that games the score.
Compile once, deploy many times: compilation is offline and expensive; inference is cheap. Treat compiled programs like trained models: version them, test before deploying, and recompile deliberately.</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800600"/>
            <a:ext cx="3657600" cy="228600"/>
          </a:xfrm>
          <a:prstGeom prst="rect">
            <a:avLst/>
          </a:prstGeom>
          <a:noFill/>
          <a:ln/>
        </p:spPr>
        <p:txBody>
          <a:bodyPr wrap="square" lIns="0" tIns="0" rIns="0" bIns="0" rtlCol="0" anchor="ctr"/>
          <a:lstStyle/>
          <a:p>
            <a:pPr marL="0" indent="0">
              <a:buNone/>
            </a:pPr>
            <a:r>
              <a:rPr lang="en-US" sz="900" dirty="0">
                <a:solidFill>
                  <a:srgbClr val="A0B0C0"/>
                </a:solidFill>
              </a:rPr>
              <a:t>Prompt Optimization, Evaluation &amp; DSPy</a:t>
            </a:r>
            <a:endParaRPr lang="en-US" sz="900" dirty="0"/>
          </a:p>
        </p:txBody>
      </p:sp>
      <p:sp>
        <p:nvSpPr>
          <p:cNvPr id="3" name="Text 1"/>
          <p:cNvSpPr>
            <a:spLocks noGrp="1"/>
          </p:cNvSpPr>
          <p:nvPr>
            <p:ph type="title" idx="101" hasCustomPrompt="1"/>
          </p:nvPr>
        </p:nvSpPr>
        <p:spPr>
          <a:xfrm>
            <a:off x="502920" y="457200"/>
            <a:ext cx="8138160" cy="594360"/>
          </a:xfrm>
          <a:prstGeom prst="rect">
            <a:avLst/>
          </a:prstGeom>
          <a:noFill/>
          <a:ln/>
        </p:spPr>
        <p:txBody>
          <a:bodyPr wrap="square" rtlCol="0"/>
          <a:lstStyle>
            <a:lvl1pPr marL="0" indent="0" algn="l">
              <a:buNone/>
              <a:defRPr lang="en-US" sz="2800" b="1" dirty="0">
                <a:solidFill>
                  <a:srgbClr val="1B2A4A"/>
                </a:solidFill>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8229600" y="4800600"/>
            <a:ext cx="41148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A0B0C0"/>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A4A"/>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1148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A0B0C0"/>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linkedin.com/in/atulkahate/" TargetMode="External"/><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132320" y="-1188720"/>
            <a:ext cx="3657600" cy="3657600"/>
          </a:xfrm>
          <a:prstGeom prst="ellipse">
            <a:avLst/>
          </a:prstGeom>
          <a:solidFill>
            <a:srgbClr val="243353"/>
          </a:solidFill>
          <a:ln w="12700">
            <a:solidFill>
              <a:srgbClr val="243353"/>
            </a:solidFill>
            <a:prstDash val="solid"/>
          </a:ln>
        </p:spPr>
      </p:sp>
      <p:sp>
        <p:nvSpPr>
          <p:cNvPr id="3" name="Shape 1"/>
          <p:cNvSpPr/>
          <p:nvPr/>
        </p:nvSpPr>
        <p:spPr>
          <a:xfrm>
            <a:off x="-914400" y="3474720"/>
            <a:ext cx="2560320" cy="2560320"/>
          </a:xfrm>
          <a:prstGeom prst="ellipse">
            <a:avLst/>
          </a:prstGeom>
          <a:solidFill>
            <a:srgbClr val="243353"/>
          </a:solidFill>
          <a:ln w="12700">
            <a:solidFill>
              <a:srgbClr val="243353"/>
            </a:solidFill>
            <a:prstDash val="solid"/>
          </a:ln>
        </p:spPr>
      </p:sp>
      <p:sp>
        <p:nvSpPr>
          <p:cNvPr id="4" name="Text 2"/>
          <p:cNvSpPr txBox="1"/>
          <p:nvPr/>
        </p:nvSpPr>
        <p:spPr>
          <a:xfrm>
            <a:off x="640080" y="685800"/>
            <a:ext cx="5486400" cy="320040"/>
          </a:xfrm>
          <a:prstGeom prst="rect">
            <a:avLst/>
          </a:prstGeom>
          <a:noFill/>
          <a:ln/>
        </p:spPr>
        <p:txBody>
          <a:bodyPr wrap="square" lIns="0" tIns="0" rIns="0" bIns="0" rtlCol="0" anchor="ctr"/>
          <a:lstStyle/>
          <a:p>
            <a:pPr marL="0" indent="0">
              <a:buNone/>
            </a:pPr>
            <a:r>
              <a:rPr lang="en-US" sz="1300" b="1" kern="0" spc="400" dirty="0">
                <a:solidFill>
                  <a:srgbClr val="D4824A"/>
                </a:solidFill>
              </a:rPr>
              <a:t>MODULE 8</a:t>
            </a:r>
            <a:endParaRPr lang="en-US" sz="1300" dirty="0"/>
          </a:p>
        </p:txBody>
      </p:sp>
      <p:sp>
        <p:nvSpPr>
          <p:cNvPr id="5" name="Text 3"/>
          <p:cNvSpPr txBox="1"/>
          <p:nvPr/>
        </p:nvSpPr>
        <p:spPr>
          <a:xfrm>
            <a:off x="640080" y="1097280"/>
            <a:ext cx="6400800" cy="1371600"/>
          </a:xfrm>
          <a:prstGeom prst="rect">
            <a:avLst/>
          </a:prstGeom>
          <a:noFill/>
          <a:ln/>
        </p:spPr>
        <p:txBody>
          <a:bodyPr wrap="square" lIns="0" tIns="0" rIns="0" bIns="0" rtlCol="0" anchor="t"/>
          <a:lstStyle/>
          <a:p>
            <a:pPr marL="0" indent="0">
              <a:buNone/>
            </a:pPr>
            <a:r>
              <a:rPr lang="en-US" sz="4000" b="1" dirty="0">
                <a:solidFill>
                  <a:srgbClr val="FFFFFF"/>
                </a:solidFill>
              </a:rPr>
              <a:t>Prompt Optimization,</a:t>
            </a:r>
            <a:endParaRPr lang="en-US" sz="4000" dirty="0"/>
          </a:p>
          <a:p>
            <a:pPr marL="0" indent="0">
              <a:buNone/>
            </a:pPr>
            <a:r>
              <a:rPr lang="en-US" sz="4000" b="1" dirty="0">
                <a:solidFill>
                  <a:srgbClr val="FFFFFF"/>
                </a:solidFill>
              </a:rPr>
              <a:t>Evaluation, and DSPy</a:t>
            </a:r>
            <a:endParaRPr lang="en-US" sz="4000" dirty="0"/>
          </a:p>
        </p:txBody>
      </p:sp>
      <p:sp>
        <p:nvSpPr>
          <p:cNvPr id="6" name="Text 4"/>
          <p:cNvSpPr txBox="1"/>
          <p:nvPr/>
        </p:nvSpPr>
        <p:spPr>
          <a:xfrm>
            <a:off x="640080" y="4114800"/>
            <a:ext cx="4572000" cy="274320"/>
          </a:xfrm>
          <a:prstGeom prst="rect">
            <a:avLst/>
          </a:prstGeom>
          <a:noFill/>
          <a:ln/>
        </p:spPr>
        <p:txBody>
          <a:bodyPr wrap="square" lIns="0" tIns="0" rIns="0" bIns="0" rtlCol="0" anchor="ctr"/>
          <a:lstStyle/>
          <a:p>
            <a:pPr marL="0" indent="0">
              <a:buNone/>
            </a:pPr>
            <a:r>
              <a:rPr lang="en-US" sz="1400" b="1" dirty="0">
                <a:solidFill>
                  <a:srgbClr val="C8D8E8"/>
                </a:solidFill>
              </a:rPr>
              <a:t>Atul Kahate</a:t>
            </a:r>
            <a:endParaRPr lang="en-US" sz="1400" dirty="0"/>
          </a:p>
        </p:txBody>
      </p:sp>
      <p:sp>
        <p:nvSpPr>
          <p:cNvPr id="7" name="Text 5">
            <a:hlinkClick r:id="rId3"/>
          </p:cNvPr>
          <p:cNvSpPr txBox="1"/>
          <p:nvPr/>
        </p:nvSpPr>
        <p:spPr>
          <a:xfrm>
            <a:off x="640080" y="4407408"/>
            <a:ext cx="4572000" cy="256032"/>
          </a:xfrm>
          <a:prstGeom prst="rect">
            <a:avLst/>
          </a:prstGeom>
          <a:noFill/>
          <a:ln/>
        </p:spPr>
        <p:txBody>
          <a:bodyPr wrap="square" lIns="0" tIns="0" rIns="0" bIns="0" rtlCol="0" anchor="ctr"/>
          <a:lstStyle/>
          <a:p>
            <a:pPr marL="0" indent="0">
              <a:buNone/>
            </a:pPr>
            <a:r>
              <a:rPr lang="en-US" sz="1100" u="sng" dirty="0">
                <a:solidFill>
                  <a:srgbClr val="D4824A"/>
                </a:solidFill>
                <a:hlinkClick r:id="rId3">
                  <a:extLst>
                    <a:ext uri="{A12FA001-AC4F-418D-AE19-62706E023703}">
                      <ahyp:hlinkClr xmlns:ahyp="http://schemas.microsoft.com/office/drawing/2018/hyperlinkcolor" val="tx"/>
                    </a:ext>
                  </a:extLst>
                </a:hlinkClick>
              </a:rPr>
              <a:t>https://www.linkedin.com/in/atulkahate/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201168"/>
            <a:ext cx="8138160" cy="256032"/>
          </a:xfrm>
          <a:prstGeom prst="rect">
            <a:avLst/>
          </a:prstGeom>
          <a:noFill/>
          <a:ln/>
        </p:spPr>
        <p:txBody>
          <a:bodyPr wrap="square" lIns="0" tIns="0" rIns="0" bIns="0" rtlCol="0" anchor="ctr"/>
          <a:lstStyle/>
          <a:p>
            <a:pPr marL="0" indent="0">
              <a:buNone/>
            </a:pPr>
            <a:r>
              <a:rPr lang="en-US" sz="1000" b="1" kern="0" spc="300" dirty="0">
                <a:solidFill>
                  <a:srgbClr val="D4824A"/>
                </a:solidFill>
              </a:rPr>
              <a:t>ROADMAP</a:t>
            </a:r>
            <a:endParaRPr lang="en-US" sz="1000" dirty="0"/>
          </a:p>
        </p:txBody>
      </p:sp>
      <p:sp>
        <p:nvSpPr>
          <p:cNvPr id="3" name="Text 1"/>
          <p:cNvSpPr>
            <a:spLocks noGrp="1"/>
          </p:cNvSpPr>
          <p:nvPr>
            <p:ph type="title" idx="101" hasCustomPrompt="1"/>
          </p:nvPr>
        </p:nvSpPr>
        <p:spPr>
          <a:xfrm>
            <a:off x="502920" y="457200"/>
            <a:ext cx="8138160" cy="594360"/>
          </a:xfrm>
          <a:prstGeom prst="rect">
            <a:avLst/>
          </a:prstGeom>
          <a:noFill/>
          <a:ln/>
        </p:spPr>
        <p:txBody>
          <a:bodyPr wrap="square" lIns="0" tIns="0" rIns="0" bIns="0" rtlCol="0" anchor="ctr"/>
          <a:lstStyle/>
          <a:p>
            <a:pPr marL="0" indent="0" algn="l">
              <a:buNone/>
            </a:pPr>
            <a:r>
              <a:rPr lang="en-US" sz="2800" b="1" dirty="0">
                <a:solidFill>
                  <a:srgbClr val="1B2A4A"/>
                </a:solidFill>
              </a:rPr>
              <a:t>What We'll Cover</a:t>
            </a:r>
            <a:endParaRPr lang="en-US" sz="2800" dirty="0"/>
          </a:p>
        </p:txBody>
      </p:sp>
      <p:sp>
        <p:nvSpPr>
          <p:cNvPr id="4" name="Shape 2"/>
          <p:cNvSpPr/>
          <p:nvPr/>
        </p:nvSpPr>
        <p:spPr>
          <a:xfrm>
            <a:off x="502920" y="1463040"/>
            <a:ext cx="1874520" cy="2377440"/>
          </a:xfrm>
          <a:prstGeom prst="roundRect">
            <a:avLst>
              <a:gd name="adj" fmla="val 4878"/>
            </a:avLst>
          </a:prstGeom>
          <a:solidFill>
            <a:srgbClr val="F4F6F9"/>
          </a:solidFill>
          <a:ln w="12700">
            <a:solidFill>
              <a:srgbClr val="F4F6F9"/>
            </a:solidFill>
            <a:prstDash val="solid"/>
          </a:ln>
        </p:spPr>
      </p:sp>
      <p:sp>
        <p:nvSpPr>
          <p:cNvPr id="5" name="Shape 3"/>
          <p:cNvSpPr/>
          <p:nvPr/>
        </p:nvSpPr>
        <p:spPr>
          <a:xfrm>
            <a:off x="731520" y="1691640"/>
            <a:ext cx="502920" cy="502920"/>
          </a:xfrm>
          <a:prstGeom prst="ellipse">
            <a:avLst/>
          </a:prstGeom>
          <a:solidFill>
            <a:srgbClr val="1B2A4A"/>
          </a:solidFill>
          <a:ln w="12700">
            <a:solidFill>
              <a:srgbClr val="1B2A4A"/>
            </a:solidFill>
            <a:prstDash val="solid"/>
          </a:ln>
        </p:spPr>
      </p:sp>
      <p:sp>
        <p:nvSpPr>
          <p:cNvPr id="6" name="Text 4"/>
          <p:cNvSpPr txBox="1"/>
          <p:nvPr/>
        </p:nvSpPr>
        <p:spPr>
          <a:xfrm>
            <a:off x="731520" y="1691640"/>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rPr>
              <a:t>01</a:t>
            </a:r>
            <a:endParaRPr lang="en-US" sz="1500" dirty="0"/>
          </a:p>
        </p:txBody>
      </p:sp>
      <p:sp>
        <p:nvSpPr>
          <p:cNvPr id="7" name="Text 5"/>
          <p:cNvSpPr txBox="1"/>
          <p:nvPr/>
        </p:nvSpPr>
        <p:spPr>
          <a:xfrm>
            <a:off x="731520" y="2377440"/>
            <a:ext cx="1508760" cy="594360"/>
          </a:xfrm>
          <a:prstGeom prst="rect">
            <a:avLst/>
          </a:prstGeom>
          <a:noFill/>
          <a:ln/>
        </p:spPr>
        <p:txBody>
          <a:bodyPr wrap="square" lIns="0" tIns="0" rIns="0" bIns="0" rtlCol="0" anchor="t"/>
          <a:lstStyle/>
          <a:p>
            <a:pPr marL="0" indent="0">
              <a:buNone/>
            </a:pPr>
            <a:r>
              <a:rPr lang="en-US" sz="1600" b="1" dirty="0">
                <a:solidFill>
                  <a:srgbClr val="1B2A4A"/>
                </a:solidFill>
              </a:rPr>
              <a:t>DSPy Fundamentals</a:t>
            </a:r>
            <a:endParaRPr lang="en-US" sz="1600" dirty="0"/>
          </a:p>
        </p:txBody>
      </p:sp>
      <p:sp>
        <p:nvSpPr>
          <p:cNvPr id="8" name="Text 6"/>
          <p:cNvSpPr txBox="1"/>
          <p:nvPr/>
        </p:nvSpPr>
        <p:spPr>
          <a:xfrm>
            <a:off x="731520" y="3017520"/>
            <a:ext cx="1508760" cy="731520"/>
          </a:xfrm>
          <a:prstGeom prst="rect">
            <a:avLst/>
          </a:prstGeom>
          <a:noFill/>
          <a:ln/>
        </p:spPr>
        <p:txBody>
          <a:bodyPr wrap="square" lIns="0" tIns="0" rIns="0" bIns="0" rtlCol="0" anchor="t"/>
          <a:lstStyle/>
          <a:p>
            <a:pPr marL="0" indent="0">
              <a:buNone/>
            </a:pPr>
            <a:r>
              <a:rPr lang="en-US" sz="1250" dirty="0">
                <a:solidFill>
                  <a:srgbClr val="5F6F80"/>
                </a:solidFill>
              </a:rPr>
              <a:t>Signatures, modules, Predict / CoT / ReAct</a:t>
            </a:r>
            <a:endParaRPr lang="en-US" sz="1250" dirty="0"/>
          </a:p>
        </p:txBody>
      </p:sp>
      <p:sp>
        <p:nvSpPr>
          <p:cNvPr id="9" name="Shape 7"/>
          <p:cNvSpPr/>
          <p:nvPr/>
        </p:nvSpPr>
        <p:spPr>
          <a:xfrm>
            <a:off x="2404872" y="2651760"/>
            <a:ext cx="158191" cy="0"/>
          </a:xfrm>
          <a:prstGeom prst="line">
            <a:avLst/>
          </a:prstGeom>
          <a:noFill/>
          <a:ln w="25400">
            <a:solidFill>
              <a:srgbClr val="D4824A"/>
            </a:solidFill>
            <a:prstDash val="solid"/>
            <a:tailEnd type="triangle"/>
          </a:ln>
        </p:spPr>
      </p:sp>
      <p:sp>
        <p:nvSpPr>
          <p:cNvPr id="10" name="Shape 8"/>
          <p:cNvSpPr/>
          <p:nvPr/>
        </p:nvSpPr>
        <p:spPr>
          <a:xfrm>
            <a:off x="2590495" y="1463040"/>
            <a:ext cx="1874520" cy="2377440"/>
          </a:xfrm>
          <a:prstGeom prst="roundRect">
            <a:avLst>
              <a:gd name="adj" fmla="val 4878"/>
            </a:avLst>
          </a:prstGeom>
          <a:solidFill>
            <a:srgbClr val="F4F6F9"/>
          </a:solidFill>
          <a:ln w="12700">
            <a:solidFill>
              <a:srgbClr val="F4F6F9"/>
            </a:solidFill>
            <a:prstDash val="solid"/>
          </a:ln>
        </p:spPr>
      </p:sp>
      <p:sp>
        <p:nvSpPr>
          <p:cNvPr id="11" name="Shape 9"/>
          <p:cNvSpPr/>
          <p:nvPr/>
        </p:nvSpPr>
        <p:spPr>
          <a:xfrm>
            <a:off x="2819095" y="1691640"/>
            <a:ext cx="502920" cy="502920"/>
          </a:xfrm>
          <a:prstGeom prst="ellipse">
            <a:avLst/>
          </a:prstGeom>
          <a:solidFill>
            <a:srgbClr val="1B2A4A"/>
          </a:solidFill>
          <a:ln w="12700">
            <a:solidFill>
              <a:srgbClr val="1B2A4A"/>
            </a:solidFill>
            <a:prstDash val="solid"/>
          </a:ln>
        </p:spPr>
      </p:sp>
      <p:sp>
        <p:nvSpPr>
          <p:cNvPr id="12" name="Text 10"/>
          <p:cNvSpPr txBox="1"/>
          <p:nvPr/>
        </p:nvSpPr>
        <p:spPr>
          <a:xfrm>
            <a:off x="2819095" y="1691640"/>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rPr>
              <a:t>02</a:t>
            </a:r>
            <a:endParaRPr lang="en-US" sz="1500" dirty="0"/>
          </a:p>
        </p:txBody>
      </p:sp>
      <p:sp>
        <p:nvSpPr>
          <p:cNvPr id="13" name="Text 11"/>
          <p:cNvSpPr txBox="1"/>
          <p:nvPr/>
        </p:nvSpPr>
        <p:spPr>
          <a:xfrm>
            <a:off x="2819095" y="2377440"/>
            <a:ext cx="1508760" cy="594360"/>
          </a:xfrm>
          <a:prstGeom prst="rect">
            <a:avLst/>
          </a:prstGeom>
          <a:noFill/>
          <a:ln/>
        </p:spPr>
        <p:txBody>
          <a:bodyPr wrap="square" lIns="0" tIns="0" rIns="0" bIns="0" rtlCol="0" anchor="t"/>
          <a:lstStyle/>
          <a:p>
            <a:pPr marL="0" indent="0">
              <a:buNone/>
            </a:pPr>
            <a:r>
              <a:rPr lang="en-US" sz="1600" b="1" dirty="0">
                <a:solidFill>
                  <a:srgbClr val="1B2A4A"/>
                </a:solidFill>
              </a:rPr>
              <a:t>Optimizers</a:t>
            </a:r>
            <a:endParaRPr lang="en-US" sz="1600" dirty="0"/>
          </a:p>
        </p:txBody>
      </p:sp>
      <p:sp>
        <p:nvSpPr>
          <p:cNvPr id="14" name="Text 12"/>
          <p:cNvSpPr txBox="1"/>
          <p:nvPr/>
        </p:nvSpPr>
        <p:spPr>
          <a:xfrm>
            <a:off x="2819095" y="3017520"/>
            <a:ext cx="1508760" cy="731520"/>
          </a:xfrm>
          <a:prstGeom prst="rect">
            <a:avLst/>
          </a:prstGeom>
          <a:noFill/>
          <a:ln/>
        </p:spPr>
        <p:txBody>
          <a:bodyPr wrap="square" lIns="0" tIns="0" rIns="0" bIns="0" rtlCol="0" anchor="t"/>
          <a:lstStyle/>
          <a:p>
            <a:pPr marL="0" indent="0">
              <a:buNone/>
            </a:pPr>
            <a:r>
              <a:rPr lang="en-US" sz="1250" dirty="0">
                <a:solidFill>
                  <a:srgbClr val="5F6F80"/>
                </a:solidFill>
              </a:rPr>
              <a:t>BootstrapFewShot and MIPRO tune prompts for you</a:t>
            </a:r>
            <a:endParaRPr lang="en-US" sz="1250" dirty="0"/>
          </a:p>
        </p:txBody>
      </p:sp>
      <p:sp>
        <p:nvSpPr>
          <p:cNvPr id="15" name="Shape 13"/>
          <p:cNvSpPr/>
          <p:nvPr/>
        </p:nvSpPr>
        <p:spPr>
          <a:xfrm>
            <a:off x="4492447" y="2651760"/>
            <a:ext cx="158191" cy="0"/>
          </a:xfrm>
          <a:prstGeom prst="line">
            <a:avLst/>
          </a:prstGeom>
          <a:noFill/>
          <a:ln w="25400">
            <a:solidFill>
              <a:srgbClr val="D4824A"/>
            </a:solidFill>
            <a:prstDash val="solid"/>
            <a:tailEnd type="triangle"/>
          </a:ln>
        </p:spPr>
      </p:sp>
      <p:sp>
        <p:nvSpPr>
          <p:cNvPr id="16" name="Shape 14"/>
          <p:cNvSpPr/>
          <p:nvPr/>
        </p:nvSpPr>
        <p:spPr>
          <a:xfrm>
            <a:off x="4678070" y="1463040"/>
            <a:ext cx="1874520" cy="2377440"/>
          </a:xfrm>
          <a:prstGeom prst="roundRect">
            <a:avLst>
              <a:gd name="adj" fmla="val 4878"/>
            </a:avLst>
          </a:prstGeom>
          <a:solidFill>
            <a:srgbClr val="F4F6F9"/>
          </a:solidFill>
          <a:ln w="12700">
            <a:solidFill>
              <a:srgbClr val="F4F6F9"/>
            </a:solidFill>
            <a:prstDash val="solid"/>
          </a:ln>
        </p:spPr>
      </p:sp>
      <p:sp>
        <p:nvSpPr>
          <p:cNvPr id="17" name="Shape 15"/>
          <p:cNvSpPr/>
          <p:nvPr/>
        </p:nvSpPr>
        <p:spPr>
          <a:xfrm>
            <a:off x="4906670" y="1691640"/>
            <a:ext cx="502920" cy="502920"/>
          </a:xfrm>
          <a:prstGeom prst="ellipse">
            <a:avLst/>
          </a:prstGeom>
          <a:solidFill>
            <a:srgbClr val="1B2A4A"/>
          </a:solidFill>
          <a:ln w="12700">
            <a:solidFill>
              <a:srgbClr val="1B2A4A"/>
            </a:solidFill>
            <a:prstDash val="solid"/>
          </a:ln>
        </p:spPr>
      </p:sp>
      <p:sp>
        <p:nvSpPr>
          <p:cNvPr id="18" name="Text 16"/>
          <p:cNvSpPr txBox="1"/>
          <p:nvPr/>
        </p:nvSpPr>
        <p:spPr>
          <a:xfrm>
            <a:off x="4906670" y="1691640"/>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rPr>
              <a:t>03</a:t>
            </a:r>
            <a:endParaRPr lang="en-US" sz="1500" dirty="0"/>
          </a:p>
        </p:txBody>
      </p:sp>
      <p:sp>
        <p:nvSpPr>
          <p:cNvPr id="19" name="Text 17"/>
          <p:cNvSpPr txBox="1"/>
          <p:nvPr/>
        </p:nvSpPr>
        <p:spPr>
          <a:xfrm>
            <a:off x="4906670" y="2377440"/>
            <a:ext cx="1508760" cy="594360"/>
          </a:xfrm>
          <a:prstGeom prst="rect">
            <a:avLst/>
          </a:prstGeom>
          <a:noFill/>
          <a:ln/>
        </p:spPr>
        <p:txBody>
          <a:bodyPr wrap="square" lIns="0" tIns="0" rIns="0" bIns="0" rtlCol="0" anchor="t"/>
          <a:lstStyle/>
          <a:p>
            <a:pPr marL="0" indent="0">
              <a:buNone/>
            </a:pPr>
            <a:r>
              <a:rPr lang="en-US" sz="1600" b="1" dirty="0">
                <a:solidFill>
                  <a:srgbClr val="1B2A4A"/>
                </a:solidFill>
              </a:rPr>
              <a:t>Compile &amp; Evaluate</a:t>
            </a:r>
            <a:endParaRPr lang="en-US" sz="1600" dirty="0"/>
          </a:p>
        </p:txBody>
      </p:sp>
      <p:sp>
        <p:nvSpPr>
          <p:cNvPr id="20" name="Text 18"/>
          <p:cNvSpPr txBox="1"/>
          <p:nvPr/>
        </p:nvSpPr>
        <p:spPr>
          <a:xfrm>
            <a:off x="4906670" y="3017520"/>
            <a:ext cx="1508760" cy="731520"/>
          </a:xfrm>
          <a:prstGeom prst="rect">
            <a:avLst/>
          </a:prstGeom>
          <a:noFill/>
          <a:ln/>
        </p:spPr>
        <p:txBody>
          <a:bodyPr wrap="square" lIns="0" tIns="0" rIns="0" bIns="0" rtlCol="0" anchor="t"/>
          <a:lstStyle/>
          <a:p>
            <a:pPr marL="0" indent="0">
              <a:buNone/>
            </a:pPr>
            <a:r>
              <a:rPr lang="en-US" sz="1250" dirty="0">
                <a:solidFill>
                  <a:srgbClr val="5F6F80"/>
                </a:solidFill>
              </a:rPr>
              <a:t>Compile, write metrics, measure quality</a:t>
            </a:r>
            <a:endParaRPr lang="en-US" sz="1250" dirty="0"/>
          </a:p>
        </p:txBody>
      </p:sp>
      <p:sp>
        <p:nvSpPr>
          <p:cNvPr id="21" name="Shape 19"/>
          <p:cNvSpPr/>
          <p:nvPr/>
        </p:nvSpPr>
        <p:spPr>
          <a:xfrm>
            <a:off x="6580022" y="2651760"/>
            <a:ext cx="158191" cy="0"/>
          </a:xfrm>
          <a:prstGeom prst="line">
            <a:avLst/>
          </a:prstGeom>
          <a:noFill/>
          <a:ln w="25400">
            <a:solidFill>
              <a:srgbClr val="D4824A"/>
            </a:solidFill>
            <a:prstDash val="solid"/>
            <a:tailEnd type="triangle"/>
          </a:ln>
        </p:spPr>
      </p:sp>
      <p:sp>
        <p:nvSpPr>
          <p:cNvPr id="22" name="Shape 20"/>
          <p:cNvSpPr/>
          <p:nvPr/>
        </p:nvSpPr>
        <p:spPr>
          <a:xfrm>
            <a:off x="6765646" y="1463040"/>
            <a:ext cx="1874520" cy="2377440"/>
          </a:xfrm>
          <a:prstGeom prst="roundRect">
            <a:avLst>
              <a:gd name="adj" fmla="val 4878"/>
            </a:avLst>
          </a:prstGeom>
          <a:solidFill>
            <a:srgbClr val="F4F6F9"/>
          </a:solidFill>
          <a:ln w="12700">
            <a:solidFill>
              <a:srgbClr val="F4F6F9"/>
            </a:solidFill>
            <a:prstDash val="solid"/>
          </a:ln>
        </p:spPr>
      </p:sp>
      <p:sp>
        <p:nvSpPr>
          <p:cNvPr id="23" name="Shape 21"/>
          <p:cNvSpPr/>
          <p:nvPr/>
        </p:nvSpPr>
        <p:spPr>
          <a:xfrm>
            <a:off x="6994246" y="1691640"/>
            <a:ext cx="502920" cy="502920"/>
          </a:xfrm>
          <a:prstGeom prst="ellipse">
            <a:avLst/>
          </a:prstGeom>
          <a:solidFill>
            <a:srgbClr val="1B2A4A"/>
          </a:solidFill>
          <a:ln w="12700">
            <a:solidFill>
              <a:srgbClr val="1B2A4A"/>
            </a:solidFill>
            <a:prstDash val="solid"/>
          </a:ln>
        </p:spPr>
      </p:sp>
      <p:sp>
        <p:nvSpPr>
          <p:cNvPr id="24" name="Text 22"/>
          <p:cNvSpPr txBox="1"/>
          <p:nvPr/>
        </p:nvSpPr>
        <p:spPr>
          <a:xfrm>
            <a:off x="6994246" y="1691640"/>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rPr>
              <a:t>04</a:t>
            </a:r>
            <a:endParaRPr lang="en-US" sz="1500" dirty="0"/>
          </a:p>
        </p:txBody>
      </p:sp>
      <p:sp>
        <p:nvSpPr>
          <p:cNvPr id="25" name="Text 23"/>
          <p:cNvSpPr txBox="1"/>
          <p:nvPr/>
        </p:nvSpPr>
        <p:spPr>
          <a:xfrm>
            <a:off x="6994246" y="2377440"/>
            <a:ext cx="1508760" cy="594360"/>
          </a:xfrm>
          <a:prstGeom prst="rect">
            <a:avLst/>
          </a:prstGeom>
          <a:noFill/>
          <a:ln/>
        </p:spPr>
        <p:txBody>
          <a:bodyPr wrap="square" lIns="0" tIns="0" rIns="0" bIns="0" rtlCol="0" anchor="t"/>
          <a:lstStyle/>
          <a:p>
            <a:pPr marL="0" indent="0">
              <a:buNone/>
            </a:pPr>
            <a:r>
              <a:rPr lang="en-US" sz="1600" b="1" dirty="0">
                <a:solidFill>
                  <a:srgbClr val="1B2A4A"/>
                </a:solidFill>
              </a:rPr>
              <a:t>Advanced &amp; Production</a:t>
            </a:r>
            <a:endParaRPr lang="en-US" sz="1600" dirty="0"/>
          </a:p>
        </p:txBody>
      </p:sp>
      <p:sp>
        <p:nvSpPr>
          <p:cNvPr id="26" name="Text 24"/>
          <p:cNvSpPr txBox="1"/>
          <p:nvPr/>
        </p:nvSpPr>
        <p:spPr>
          <a:xfrm>
            <a:off x="6994246" y="3017520"/>
            <a:ext cx="1508760" cy="731520"/>
          </a:xfrm>
          <a:prstGeom prst="rect">
            <a:avLst/>
          </a:prstGeom>
          <a:noFill/>
          <a:ln/>
        </p:spPr>
        <p:txBody>
          <a:bodyPr wrap="square" lIns="0" tIns="0" rIns="0" bIns="0" rtlCol="0" anchor="t"/>
          <a:lstStyle/>
          <a:p>
            <a:pPr marL="0" indent="0">
              <a:buNone/>
            </a:pPr>
            <a:r>
              <a:rPr lang="en-US" sz="1250" dirty="0">
                <a:solidFill>
                  <a:srgbClr val="5F6F80"/>
                </a:solidFill>
              </a:rPr>
              <a:t>Multi-LLM, self-improving, deployment</a:t>
            </a:r>
            <a:endParaRPr lang="en-US" sz="1250" dirty="0"/>
          </a:p>
        </p:txBody>
      </p:sp>
      <p:sp>
        <p:nvSpPr>
          <p:cNvPr id="27" name="Text 25"/>
          <p:cNvSpPr txBox="1"/>
          <p:nvPr/>
        </p:nvSpPr>
        <p:spPr>
          <a:xfrm>
            <a:off x="502920" y="4114800"/>
            <a:ext cx="8138160" cy="320040"/>
          </a:xfrm>
          <a:prstGeom prst="rect">
            <a:avLst/>
          </a:prstGeom>
          <a:noFill/>
          <a:ln/>
        </p:spPr>
        <p:txBody>
          <a:bodyPr wrap="square" lIns="0" tIns="0" rIns="0" bIns="0" rtlCol="0" anchor="ctr"/>
          <a:lstStyle/>
          <a:p>
            <a:pPr marL="0" indent="0">
              <a:buNone/>
            </a:pPr>
            <a:r>
              <a:rPr lang="en-US" sz="1300" i="1" dirty="0">
                <a:solidFill>
                  <a:srgbClr val="5F6F80"/>
                </a:solidFill>
              </a:rPr>
              <a:t>From DSPy basics to optimized, evaluated, production-ready programs.</a:t>
            </a:r>
            <a:endParaRPr lang="en-US" sz="1300" dirty="0"/>
          </a:p>
        </p:txBody>
      </p:sp>
      <p:sp>
        <p:nvSpPr>
          <p:cNvPr id="28" name="Slide Number Placeholder 0"/>
          <p:cNvSpPr>
            <a:spLocks noGrp="1"/>
          </p:cNvSpPr>
          <p:nvPr>
            <p:ph type="sldNum" sz="quarter" idx="4294967295"/>
          </p:nvPr>
        </p:nvSpPr>
        <p:spPr>
          <a:xfrm>
            <a:off x="8229600" y="4800600"/>
            <a:ext cx="41148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A0B0C0"/>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201168"/>
            <a:ext cx="8138160" cy="256032"/>
          </a:xfrm>
          <a:prstGeom prst="rect">
            <a:avLst/>
          </a:prstGeom>
          <a:noFill/>
          <a:ln/>
        </p:spPr>
        <p:txBody>
          <a:bodyPr wrap="square" lIns="0" tIns="0" rIns="0" bIns="0" rtlCol="0" anchor="ctr"/>
          <a:lstStyle/>
          <a:p>
            <a:pPr marL="0" indent="0">
              <a:buNone/>
            </a:pPr>
            <a:r>
              <a:rPr lang="en-US" sz="1000" b="1" kern="0" spc="300" dirty="0">
                <a:solidFill>
                  <a:srgbClr val="D4824A"/>
                </a:solidFill>
              </a:rPr>
              <a:t>DSPY FUNDAMENTALS  ·  1 OF 7</a:t>
            </a:r>
            <a:endParaRPr lang="en-US" sz="1000" dirty="0"/>
          </a:p>
        </p:txBody>
      </p:sp>
      <p:sp>
        <p:nvSpPr>
          <p:cNvPr id="3" name="Text 1"/>
          <p:cNvSpPr>
            <a:spLocks noGrp="1"/>
          </p:cNvSpPr>
          <p:nvPr>
            <p:ph type="title" idx="101" hasCustomPrompt="1"/>
          </p:nvPr>
        </p:nvSpPr>
        <p:spPr>
          <a:xfrm>
            <a:off x="502920" y="457200"/>
            <a:ext cx="8138160" cy="594360"/>
          </a:xfrm>
          <a:prstGeom prst="rect">
            <a:avLst/>
          </a:prstGeom>
          <a:noFill/>
          <a:ln/>
        </p:spPr>
        <p:txBody>
          <a:bodyPr wrap="square" lIns="0" tIns="0" rIns="0" bIns="0" rtlCol="0" anchor="ctr"/>
          <a:lstStyle/>
          <a:p>
            <a:pPr marL="0" indent="0" algn="l">
              <a:buNone/>
            </a:pPr>
            <a:r>
              <a:rPr lang="en-US" sz="2800" b="1" dirty="0">
                <a:solidFill>
                  <a:srgbClr val="1B2A4A"/>
                </a:solidFill>
              </a:rPr>
              <a:t>Why DSPy?</a:t>
            </a:r>
            <a:endParaRPr lang="en-US" sz="2800" dirty="0"/>
          </a:p>
        </p:txBody>
      </p:sp>
      <p:sp>
        <p:nvSpPr>
          <p:cNvPr id="4" name="Text 2"/>
          <p:cNvSpPr txBox="1"/>
          <p:nvPr/>
        </p:nvSpPr>
        <p:spPr>
          <a:xfrm>
            <a:off x="502920" y="1188720"/>
            <a:ext cx="3840480" cy="320040"/>
          </a:xfrm>
          <a:prstGeom prst="rect">
            <a:avLst/>
          </a:prstGeom>
          <a:noFill/>
          <a:ln/>
        </p:spPr>
        <p:txBody>
          <a:bodyPr wrap="square" lIns="0" tIns="0" rIns="0" bIns="0" rtlCol="0" anchor="ctr"/>
          <a:lstStyle/>
          <a:p>
            <a:pPr marL="0" indent="0">
              <a:buNone/>
            </a:pPr>
            <a:r>
              <a:rPr lang="en-US" sz="1500" b="1" dirty="0">
                <a:solidFill>
                  <a:srgbClr val="5F6F80"/>
                </a:solidFill>
              </a:rPr>
              <a:t>Manual prompt engineering</a:t>
            </a:r>
            <a:endParaRPr lang="en-US" sz="1500" dirty="0"/>
          </a:p>
        </p:txBody>
      </p:sp>
      <p:sp>
        <p:nvSpPr>
          <p:cNvPr id="5" name="Shape 3"/>
          <p:cNvSpPr/>
          <p:nvPr/>
        </p:nvSpPr>
        <p:spPr>
          <a:xfrm>
            <a:off x="502920" y="1554480"/>
            <a:ext cx="3840480" cy="384048"/>
          </a:xfrm>
          <a:prstGeom prst="roundRect">
            <a:avLst>
              <a:gd name="adj" fmla="val 14286"/>
            </a:avLst>
          </a:prstGeom>
          <a:solidFill>
            <a:srgbClr val="F4F6F9"/>
          </a:solidFill>
          <a:ln w="12700">
            <a:solidFill>
              <a:srgbClr val="F4F6F9"/>
            </a:solidFill>
            <a:prstDash val="solid"/>
          </a:ln>
        </p:spPr>
      </p:sp>
      <p:sp>
        <p:nvSpPr>
          <p:cNvPr id="6" name="Text 4"/>
          <p:cNvSpPr txBox="1"/>
          <p:nvPr/>
        </p:nvSpPr>
        <p:spPr>
          <a:xfrm>
            <a:off x="640080" y="1554480"/>
            <a:ext cx="3566160" cy="384048"/>
          </a:xfrm>
          <a:prstGeom prst="rect">
            <a:avLst/>
          </a:prstGeom>
          <a:noFill/>
          <a:ln/>
        </p:spPr>
        <p:txBody>
          <a:bodyPr wrap="square" lIns="0" tIns="0" rIns="0" bIns="0" rtlCol="0" anchor="ctr"/>
          <a:lstStyle/>
          <a:p>
            <a:pPr marL="0" indent="0">
              <a:buNone/>
            </a:pPr>
            <a:r>
              <a:rPr lang="en-US" sz="1300" dirty="0">
                <a:solidFill>
                  <a:srgbClr val="1B2A4A"/>
                </a:solidFill>
              </a:rPr>
              <a:t>Write a prompt</a:t>
            </a:r>
            <a:endParaRPr lang="en-US" sz="1300" dirty="0"/>
          </a:p>
        </p:txBody>
      </p:sp>
      <p:sp>
        <p:nvSpPr>
          <p:cNvPr id="7" name="Shape 5"/>
          <p:cNvSpPr/>
          <p:nvPr/>
        </p:nvSpPr>
        <p:spPr>
          <a:xfrm>
            <a:off x="868680" y="1947672"/>
            <a:ext cx="0" cy="100584"/>
          </a:xfrm>
          <a:prstGeom prst="line">
            <a:avLst/>
          </a:prstGeom>
          <a:noFill/>
          <a:ln w="25400">
            <a:solidFill>
              <a:srgbClr val="D4824A"/>
            </a:solidFill>
            <a:prstDash val="solid"/>
            <a:tailEnd type="triangle"/>
          </a:ln>
        </p:spPr>
      </p:sp>
      <p:sp>
        <p:nvSpPr>
          <p:cNvPr id="8" name="Shape 6"/>
          <p:cNvSpPr/>
          <p:nvPr/>
        </p:nvSpPr>
        <p:spPr>
          <a:xfrm>
            <a:off x="502920" y="2057400"/>
            <a:ext cx="3840480" cy="384048"/>
          </a:xfrm>
          <a:prstGeom prst="roundRect">
            <a:avLst>
              <a:gd name="adj" fmla="val 14286"/>
            </a:avLst>
          </a:prstGeom>
          <a:solidFill>
            <a:srgbClr val="F4F6F9"/>
          </a:solidFill>
          <a:ln w="12700">
            <a:solidFill>
              <a:srgbClr val="F4F6F9"/>
            </a:solidFill>
            <a:prstDash val="solid"/>
          </a:ln>
        </p:spPr>
      </p:sp>
      <p:sp>
        <p:nvSpPr>
          <p:cNvPr id="9" name="Text 7"/>
          <p:cNvSpPr txBox="1"/>
          <p:nvPr/>
        </p:nvSpPr>
        <p:spPr>
          <a:xfrm>
            <a:off x="640080" y="2057400"/>
            <a:ext cx="3566160" cy="384048"/>
          </a:xfrm>
          <a:prstGeom prst="rect">
            <a:avLst/>
          </a:prstGeom>
          <a:noFill/>
          <a:ln/>
        </p:spPr>
        <p:txBody>
          <a:bodyPr wrap="square" lIns="0" tIns="0" rIns="0" bIns="0" rtlCol="0" anchor="ctr"/>
          <a:lstStyle/>
          <a:p>
            <a:pPr marL="0" indent="0">
              <a:buNone/>
            </a:pPr>
            <a:r>
              <a:rPr lang="en-US" sz="1300" dirty="0">
                <a:solidFill>
                  <a:srgbClr val="1B2A4A"/>
                </a:solidFill>
              </a:rPr>
              <a:t>Run it and check the output</a:t>
            </a:r>
            <a:endParaRPr lang="en-US" sz="1300" dirty="0"/>
          </a:p>
        </p:txBody>
      </p:sp>
      <p:sp>
        <p:nvSpPr>
          <p:cNvPr id="10" name="Shape 8"/>
          <p:cNvSpPr/>
          <p:nvPr/>
        </p:nvSpPr>
        <p:spPr>
          <a:xfrm>
            <a:off x="868680" y="2450592"/>
            <a:ext cx="0" cy="100584"/>
          </a:xfrm>
          <a:prstGeom prst="line">
            <a:avLst/>
          </a:prstGeom>
          <a:noFill/>
          <a:ln w="25400">
            <a:solidFill>
              <a:srgbClr val="D4824A"/>
            </a:solidFill>
            <a:prstDash val="solid"/>
            <a:tailEnd type="triangle"/>
          </a:ln>
        </p:spPr>
      </p:sp>
      <p:sp>
        <p:nvSpPr>
          <p:cNvPr id="11" name="Shape 9"/>
          <p:cNvSpPr/>
          <p:nvPr/>
        </p:nvSpPr>
        <p:spPr>
          <a:xfrm>
            <a:off x="502920" y="2560320"/>
            <a:ext cx="3840480" cy="384048"/>
          </a:xfrm>
          <a:prstGeom prst="roundRect">
            <a:avLst>
              <a:gd name="adj" fmla="val 14286"/>
            </a:avLst>
          </a:prstGeom>
          <a:solidFill>
            <a:srgbClr val="F4F6F9"/>
          </a:solidFill>
          <a:ln w="12700">
            <a:solidFill>
              <a:srgbClr val="F4F6F9"/>
            </a:solidFill>
            <a:prstDash val="solid"/>
          </a:ln>
        </p:spPr>
      </p:sp>
      <p:sp>
        <p:nvSpPr>
          <p:cNvPr id="12" name="Text 10"/>
          <p:cNvSpPr txBox="1"/>
          <p:nvPr/>
        </p:nvSpPr>
        <p:spPr>
          <a:xfrm>
            <a:off x="640080" y="2560320"/>
            <a:ext cx="3566160" cy="384048"/>
          </a:xfrm>
          <a:prstGeom prst="rect">
            <a:avLst/>
          </a:prstGeom>
          <a:noFill/>
          <a:ln/>
        </p:spPr>
        <p:txBody>
          <a:bodyPr wrap="square" lIns="0" tIns="0" rIns="0" bIns="0" rtlCol="0" anchor="ctr"/>
          <a:lstStyle/>
          <a:p>
            <a:pPr marL="0" indent="0">
              <a:buNone/>
            </a:pPr>
            <a:r>
              <a:rPr lang="en-US" sz="1300" dirty="0">
                <a:solidFill>
                  <a:srgbClr val="1B2A4A"/>
                </a:solidFill>
              </a:rPr>
              <a:t>Not good enough? Edit the prompt</a:t>
            </a:r>
            <a:endParaRPr lang="en-US" sz="1300" dirty="0"/>
          </a:p>
        </p:txBody>
      </p:sp>
      <p:sp>
        <p:nvSpPr>
          <p:cNvPr id="13" name="Shape 11"/>
          <p:cNvSpPr/>
          <p:nvPr/>
        </p:nvSpPr>
        <p:spPr>
          <a:xfrm>
            <a:off x="868680" y="2953512"/>
            <a:ext cx="0" cy="100584"/>
          </a:xfrm>
          <a:prstGeom prst="line">
            <a:avLst/>
          </a:prstGeom>
          <a:noFill/>
          <a:ln w="25400">
            <a:solidFill>
              <a:srgbClr val="D4824A"/>
            </a:solidFill>
            <a:prstDash val="solid"/>
            <a:tailEnd type="triangle"/>
          </a:ln>
        </p:spPr>
      </p:sp>
      <p:sp>
        <p:nvSpPr>
          <p:cNvPr id="14" name="Shape 12"/>
          <p:cNvSpPr/>
          <p:nvPr/>
        </p:nvSpPr>
        <p:spPr>
          <a:xfrm>
            <a:off x="502920" y="3063240"/>
            <a:ext cx="3840480" cy="384048"/>
          </a:xfrm>
          <a:prstGeom prst="roundRect">
            <a:avLst>
              <a:gd name="adj" fmla="val 14286"/>
            </a:avLst>
          </a:prstGeom>
          <a:solidFill>
            <a:srgbClr val="F4F6F9"/>
          </a:solidFill>
          <a:ln w="12700">
            <a:solidFill>
              <a:srgbClr val="F4F6F9"/>
            </a:solidFill>
            <a:prstDash val="solid"/>
          </a:ln>
        </p:spPr>
      </p:sp>
      <p:sp>
        <p:nvSpPr>
          <p:cNvPr id="15" name="Text 13"/>
          <p:cNvSpPr txBox="1"/>
          <p:nvPr/>
        </p:nvSpPr>
        <p:spPr>
          <a:xfrm>
            <a:off x="640080" y="3063240"/>
            <a:ext cx="3566160" cy="384048"/>
          </a:xfrm>
          <a:prstGeom prst="rect">
            <a:avLst/>
          </a:prstGeom>
          <a:noFill/>
          <a:ln/>
        </p:spPr>
        <p:txBody>
          <a:bodyPr wrap="square" lIns="0" tIns="0" rIns="0" bIns="0" rtlCol="0" anchor="ctr"/>
          <a:lstStyle/>
          <a:p>
            <a:pPr marL="0" indent="0">
              <a:buNone/>
            </a:pPr>
            <a:r>
              <a:rPr lang="en-US" sz="1300" dirty="0">
                <a:solidFill>
                  <a:srgbClr val="1B2A4A"/>
                </a:solidFill>
              </a:rPr>
              <a:t>Test again ... and again</a:t>
            </a:r>
            <a:endParaRPr lang="en-US" sz="1300" dirty="0"/>
          </a:p>
        </p:txBody>
      </p:sp>
      <p:sp>
        <p:nvSpPr>
          <p:cNvPr id="16" name="Text 14"/>
          <p:cNvSpPr txBox="1"/>
          <p:nvPr/>
        </p:nvSpPr>
        <p:spPr>
          <a:xfrm>
            <a:off x="502920" y="3547872"/>
            <a:ext cx="3840480" cy="274320"/>
          </a:xfrm>
          <a:prstGeom prst="rect">
            <a:avLst/>
          </a:prstGeom>
          <a:noFill/>
          <a:ln/>
        </p:spPr>
        <p:txBody>
          <a:bodyPr wrap="square" lIns="0" tIns="0" rIns="0" bIns="0" rtlCol="0" anchor="t"/>
          <a:lstStyle/>
          <a:p>
            <a:pPr marL="0" indent="0">
              <a:buNone/>
            </a:pPr>
            <a:r>
              <a:rPr lang="en-US" sz="1250" i="1" dirty="0">
                <a:solidFill>
                  <a:srgbClr val="5F6F80"/>
                </a:solidFill>
              </a:rPr>
              <a:t>50 test cases? You keep editing by hand.</a:t>
            </a:r>
            <a:endParaRPr lang="en-US" sz="1250" dirty="0"/>
          </a:p>
        </p:txBody>
      </p:sp>
      <p:sp>
        <p:nvSpPr>
          <p:cNvPr id="17" name="Text 15"/>
          <p:cNvSpPr txBox="1"/>
          <p:nvPr/>
        </p:nvSpPr>
        <p:spPr>
          <a:xfrm>
            <a:off x="4800600" y="1188720"/>
            <a:ext cx="3840480" cy="320040"/>
          </a:xfrm>
          <a:prstGeom prst="rect">
            <a:avLst/>
          </a:prstGeom>
          <a:noFill/>
          <a:ln/>
        </p:spPr>
        <p:txBody>
          <a:bodyPr wrap="square" lIns="0" tIns="0" rIns="0" bIns="0" rtlCol="0" anchor="ctr"/>
          <a:lstStyle/>
          <a:p>
            <a:pPr marL="0" indent="0">
              <a:buNone/>
            </a:pPr>
            <a:r>
              <a:rPr lang="en-US" sz="1500" b="1" dirty="0">
                <a:solidFill>
                  <a:srgbClr val="D4824A"/>
                </a:solidFill>
              </a:rPr>
              <a:t>DSPy</a:t>
            </a:r>
            <a:endParaRPr lang="en-US" sz="1500" dirty="0"/>
          </a:p>
        </p:txBody>
      </p:sp>
      <p:sp>
        <p:nvSpPr>
          <p:cNvPr id="18" name="Shape 16"/>
          <p:cNvSpPr/>
          <p:nvPr/>
        </p:nvSpPr>
        <p:spPr>
          <a:xfrm>
            <a:off x="4800600" y="1554480"/>
            <a:ext cx="3840480" cy="384048"/>
          </a:xfrm>
          <a:prstGeom prst="roundRect">
            <a:avLst>
              <a:gd name="adj" fmla="val 14286"/>
            </a:avLst>
          </a:prstGeom>
          <a:solidFill>
            <a:srgbClr val="1B2A4A"/>
          </a:solidFill>
          <a:ln w="12700">
            <a:solidFill>
              <a:srgbClr val="1B2A4A"/>
            </a:solidFill>
            <a:prstDash val="solid"/>
          </a:ln>
        </p:spPr>
      </p:sp>
      <p:sp>
        <p:nvSpPr>
          <p:cNvPr id="19" name="Text 17"/>
          <p:cNvSpPr txBox="1"/>
          <p:nvPr/>
        </p:nvSpPr>
        <p:spPr>
          <a:xfrm>
            <a:off x="4937760" y="1554480"/>
            <a:ext cx="3566160" cy="384048"/>
          </a:xfrm>
          <a:prstGeom prst="rect">
            <a:avLst/>
          </a:prstGeom>
          <a:noFill/>
          <a:ln/>
        </p:spPr>
        <p:txBody>
          <a:bodyPr wrap="square" lIns="0" tIns="0" rIns="0" bIns="0" rtlCol="0" anchor="ctr"/>
          <a:lstStyle/>
          <a:p>
            <a:pPr marL="0" indent="0">
              <a:buNone/>
            </a:pPr>
            <a:r>
              <a:rPr lang="en-US" sz="1300" dirty="0">
                <a:solidFill>
                  <a:srgbClr val="FFFFFF"/>
                </a:solidFill>
              </a:rPr>
              <a:t>Define WHAT you want (a Signature)</a:t>
            </a:r>
            <a:endParaRPr lang="en-US" sz="1300" dirty="0"/>
          </a:p>
        </p:txBody>
      </p:sp>
      <p:sp>
        <p:nvSpPr>
          <p:cNvPr id="20" name="Shape 18"/>
          <p:cNvSpPr/>
          <p:nvPr/>
        </p:nvSpPr>
        <p:spPr>
          <a:xfrm>
            <a:off x="5166360" y="1947672"/>
            <a:ext cx="0" cy="100584"/>
          </a:xfrm>
          <a:prstGeom prst="line">
            <a:avLst/>
          </a:prstGeom>
          <a:noFill/>
          <a:ln w="25400">
            <a:solidFill>
              <a:srgbClr val="D4824A"/>
            </a:solidFill>
            <a:prstDash val="solid"/>
            <a:tailEnd type="triangle"/>
          </a:ln>
        </p:spPr>
      </p:sp>
      <p:sp>
        <p:nvSpPr>
          <p:cNvPr id="21" name="Shape 19"/>
          <p:cNvSpPr/>
          <p:nvPr/>
        </p:nvSpPr>
        <p:spPr>
          <a:xfrm>
            <a:off x="4800600" y="2057400"/>
            <a:ext cx="3840480" cy="384048"/>
          </a:xfrm>
          <a:prstGeom prst="roundRect">
            <a:avLst>
              <a:gd name="adj" fmla="val 14286"/>
            </a:avLst>
          </a:prstGeom>
          <a:solidFill>
            <a:srgbClr val="1B2A4A"/>
          </a:solidFill>
          <a:ln w="12700">
            <a:solidFill>
              <a:srgbClr val="1B2A4A"/>
            </a:solidFill>
            <a:prstDash val="solid"/>
          </a:ln>
        </p:spPr>
      </p:sp>
      <p:sp>
        <p:nvSpPr>
          <p:cNvPr id="22" name="Text 20"/>
          <p:cNvSpPr txBox="1"/>
          <p:nvPr/>
        </p:nvSpPr>
        <p:spPr>
          <a:xfrm>
            <a:off x="4937760" y="2057400"/>
            <a:ext cx="3566160" cy="384048"/>
          </a:xfrm>
          <a:prstGeom prst="rect">
            <a:avLst/>
          </a:prstGeom>
          <a:noFill/>
          <a:ln/>
        </p:spPr>
        <p:txBody>
          <a:bodyPr wrap="square" lIns="0" tIns="0" rIns="0" bIns="0" rtlCol="0" anchor="ctr"/>
          <a:lstStyle/>
          <a:p>
            <a:pPr marL="0" indent="0">
              <a:buNone/>
            </a:pPr>
            <a:r>
              <a:rPr lang="en-US" sz="1300" dirty="0">
                <a:solidFill>
                  <a:srgbClr val="FFFFFF"/>
                </a:solidFill>
              </a:rPr>
              <a:t>Add examples and a metric</a:t>
            </a:r>
            <a:endParaRPr lang="en-US" sz="1300" dirty="0"/>
          </a:p>
        </p:txBody>
      </p:sp>
      <p:sp>
        <p:nvSpPr>
          <p:cNvPr id="23" name="Shape 21"/>
          <p:cNvSpPr/>
          <p:nvPr/>
        </p:nvSpPr>
        <p:spPr>
          <a:xfrm>
            <a:off x="5166360" y="2450592"/>
            <a:ext cx="0" cy="100584"/>
          </a:xfrm>
          <a:prstGeom prst="line">
            <a:avLst/>
          </a:prstGeom>
          <a:noFill/>
          <a:ln w="25400">
            <a:solidFill>
              <a:srgbClr val="D4824A"/>
            </a:solidFill>
            <a:prstDash val="solid"/>
            <a:tailEnd type="triangle"/>
          </a:ln>
        </p:spPr>
      </p:sp>
      <p:sp>
        <p:nvSpPr>
          <p:cNvPr id="24" name="Shape 22"/>
          <p:cNvSpPr/>
          <p:nvPr/>
        </p:nvSpPr>
        <p:spPr>
          <a:xfrm>
            <a:off x="4800600" y="2560320"/>
            <a:ext cx="3840480" cy="384048"/>
          </a:xfrm>
          <a:prstGeom prst="roundRect">
            <a:avLst>
              <a:gd name="adj" fmla="val 14286"/>
            </a:avLst>
          </a:prstGeom>
          <a:solidFill>
            <a:srgbClr val="1B2A4A"/>
          </a:solidFill>
          <a:ln w="12700">
            <a:solidFill>
              <a:srgbClr val="1B2A4A"/>
            </a:solidFill>
            <a:prstDash val="solid"/>
          </a:ln>
        </p:spPr>
      </p:sp>
      <p:sp>
        <p:nvSpPr>
          <p:cNvPr id="25" name="Text 23"/>
          <p:cNvSpPr txBox="1"/>
          <p:nvPr/>
        </p:nvSpPr>
        <p:spPr>
          <a:xfrm>
            <a:off x="4937760" y="2560320"/>
            <a:ext cx="3566160" cy="384048"/>
          </a:xfrm>
          <a:prstGeom prst="rect">
            <a:avLst/>
          </a:prstGeom>
          <a:noFill/>
          <a:ln/>
        </p:spPr>
        <p:txBody>
          <a:bodyPr wrap="square" lIns="0" tIns="0" rIns="0" bIns="0" rtlCol="0" anchor="ctr"/>
          <a:lstStyle/>
          <a:p>
            <a:pPr marL="0" indent="0">
              <a:buNone/>
            </a:pPr>
            <a:r>
              <a:rPr lang="en-US" sz="1300" dirty="0">
                <a:solidFill>
                  <a:srgbClr val="FFFFFF"/>
                </a:solidFill>
              </a:rPr>
              <a:t>Optimizer searches for better prompts</a:t>
            </a:r>
            <a:endParaRPr lang="en-US" sz="1300" dirty="0"/>
          </a:p>
        </p:txBody>
      </p:sp>
      <p:sp>
        <p:nvSpPr>
          <p:cNvPr id="26" name="Shape 24"/>
          <p:cNvSpPr/>
          <p:nvPr/>
        </p:nvSpPr>
        <p:spPr>
          <a:xfrm>
            <a:off x="5166360" y="2953512"/>
            <a:ext cx="0" cy="100584"/>
          </a:xfrm>
          <a:prstGeom prst="line">
            <a:avLst/>
          </a:prstGeom>
          <a:noFill/>
          <a:ln w="25400">
            <a:solidFill>
              <a:srgbClr val="D4824A"/>
            </a:solidFill>
            <a:prstDash val="solid"/>
            <a:tailEnd type="triangle"/>
          </a:ln>
        </p:spPr>
      </p:sp>
      <p:sp>
        <p:nvSpPr>
          <p:cNvPr id="27" name="Shape 25"/>
          <p:cNvSpPr/>
          <p:nvPr/>
        </p:nvSpPr>
        <p:spPr>
          <a:xfrm>
            <a:off x="4800600" y="3063240"/>
            <a:ext cx="3840480" cy="384048"/>
          </a:xfrm>
          <a:prstGeom prst="roundRect">
            <a:avLst>
              <a:gd name="adj" fmla="val 14286"/>
            </a:avLst>
          </a:prstGeom>
          <a:solidFill>
            <a:srgbClr val="D4824A"/>
          </a:solidFill>
          <a:ln w="12700">
            <a:solidFill>
              <a:srgbClr val="D4824A"/>
            </a:solidFill>
            <a:prstDash val="solid"/>
          </a:ln>
        </p:spPr>
      </p:sp>
      <p:sp>
        <p:nvSpPr>
          <p:cNvPr id="28" name="Text 26"/>
          <p:cNvSpPr txBox="1"/>
          <p:nvPr/>
        </p:nvSpPr>
        <p:spPr>
          <a:xfrm>
            <a:off x="4937760" y="3063240"/>
            <a:ext cx="3566160" cy="384048"/>
          </a:xfrm>
          <a:prstGeom prst="rect">
            <a:avLst/>
          </a:prstGeom>
          <a:noFill/>
          <a:ln/>
        </p:spPr>
        <p:txBody>
          <a:bodyPr wrap="square" lIns="0" tIns="0" rIns="0" bIns="0" rtlCol="0" anchor="ctr"/>
          <a:lstStyle/>
          <a:p>
            <a:pPr marL="0" indent="0">
              <a:buNone/>
            </a:pPr>
            <a:r>
              <a:rPr lang="en-US" sz="1300" dirty="0">
                <a:solidFill>
                  <a:srgbClr val="FFFFFF"/>
                </a:solidFill>
              </a:rPr>
              <a:t>Better instructions and examples</a:t>
            </a:r>
            <a:endParaRPr lang="en-US" sz="1300" dirty="0"/>
          </a:p>
        </p:txBody>
      </p:sp>
      <p:sp>
        <p:nvSpPr>
          <p:cNvPr id="29" name="Text 27"/>
          <p:cNvSpPr txBox="1"/>
          <p:nvPr/>
        </p:nvSpPr>
        <p:spPr>
          <a:xfrm>
            <a:off x="4800600" y="3547872"/>
            <a:ext cx="3840480" cy="274320"/>
          </a:xfrm>
          <a:prstGeom prst="rect">
            <a:avLst/>
          </a:prstGeom>
          <a:noFill/>
          <a:ln/>
        </p:spPr>
        <p:txBody>
          <a:bodyPr wrap="square" lIns="0" tIns="0" rIns="0" bIns="0" rtlCol="0" anchor="t"/>
          <a:lstStyle/>
          <a:p>
            <a:pPr marL="0" indent="0">
              <a:buNone/>
            </a:pPr>
            <a:r>
              <a:rPr lang="en-US" sz="1250" i="1" dirty="0">
                <a:solidFill>
                  <a:srgbClr val="5F6F80"/>
                </a:solidFill>
              </a:rPr>
              <a:t>You say WHAT you want. DSPy finds HOW to prompt.</a:t>
            </a:r>
            <a:endParaRPr lang="en-US" sz="1250" dirty="0"/>
          </a:p>
        </p:txBody>
      </p:sp>
      <p:sp>
        <p:nvSpPr>
          <p:cNvPr id="30" name="Shape 28"/>
          <p:cNvSpPr/>
          <p:nvPr/>
        </p:nvSpPr>
        <p:spPr>
          <a:xfrm>
            <a:off x="502920" y="3977640"/>
            <a:ext cx="8138160" cy="548640"/>
          </a:xfrm>
          <a:prstGeom prst="roundRect">
            <a:avLst>
              <a:gd name="adj" fmla="val 13333"/>
            </a:avLst>
          </a:prstGeom>
          <a:solidFill>
            <a:srgbClr val="FBEFE6"/>
          </a:solidFill>
          <a:ln w="12700">
            <a:solidFill>
              <a:srgbClr val="FBEFE6"/>
            </a:solidFill>
            <a:prstDash val="solid"/>
          </a:ln>
        </p:spPr>
      </p:sp>
      <p:sp>
        <p:nvSpPr>
          <p:cNvPr id="31" name="Text 29"/>
          <p:cNvSpPr txBox="1"/>
          <p:nvPr/>
        </p:nvSpPr>
        <p:spPr>
          <a:xfrm>
            <a:off x="667512" y="3977640"/>
            <a:ext cx="7808976" cy="548640"/>
          </a:xfrm>
          <a:prstGeom prst="rect">
            <a:avLst/>
          </a:prstGeom>
          <a:noFill/>
          <a:ln/>
        </p:spPr>
        <p:txBody>
          <a:bodyPr wrap="square" lIns="0" tIns="0" rIns="0" bIns="0" rtlCol="0" anchor="ctr"/>
          <a:lstStyle/>
          <a:p>
            <a:pPr marL="0" indent="0">
              <a:buNone/>
            </a:pPr>
            <a:r>
              <a:rPr lang="en-US" sz="1000" b="1" kern="0" spc="200" dirty="0">
                <a:solidFill>
                  <a:srgbClr val="D4824A"/>
                </a:solidFill>
              </a:rPr>
              <a:t>KEY POINT  </a:t>
            </a:r>
            <a:r>
              <a:rPr lang="en-US" sz="1300" dirty="0">
                <a:solidFill>
                  <a:srgbClr val="1B2A4A"/>
                </a:solidFill>
              </a:rPr>
              <a:t>DSPy automates the prompt trial-and-error loop: it searches for a better prompting strategy for you.</a:t>
            </a:r>
            <a:endParaRPr lang="en-US" sz="1000" dirty="0"/>
          </a:p>
        </p:txBody>
      </p:sp>
      <p:sp>
        <p:nvSpPr>
          <p:cNvPr id="32" name="Slide Number Placeholder 0"/>
          <p:cNvSpPr>
            <a:spLocks noGrp="1"/>
          </p:cNvSpPr>
          <p:nvPr>
            <p:ph type="sldNum" sz="quarter" idx="4294967295"/>
          </p:nvPr>
        </p:nvSpPr>
        <p:spPr>
          <a:xfrm>
            <a:off x="8229600" y="4800600"/>
            <a:ext cx="41148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A0B0C0"/>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6A1419A-49BE-7238-C552-84D5EFF5E731}"/>
              </a:ext>
            </a:extLst>
          </p:cNvPr>
          <p:cNvPicPr>
            <a:picLocks noChangeAspect="1"/>
          </p:cNvPicPr>
          <p:nvPr/>
        </p:nvPicPr>
        <p:blipFill>
          <a:blip r:embed="rId2"/>
          <a:stretch>
            <a:fillRect/>
          </a:stretch>
        </p:blipFill>
        <p:spPr>
          <a:xfrm>
            <a:off x="0" y="285750"/>
            <a:ext cx="9144000" cy="4572000"/>
          </a:xfrm>
          <a:prstGeom prst="rect">
            <a:avLst/>
          </a:prstGeom>
        </p:spPr>
      </p:pic>
    </p:spTree>
    <p:extLst>
      <p:ext uri="{BB962C8B-B14F-4D97-AF65-F5344CB8AC3E}">
        <p14:creationId xmlns:p14="http://schemas.microsoft.com/office/powerpoint/2010/main" val="26345277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02920" y="201168"/>
            <a:ext cx="8138160" cy="256032"/>
          </a:xfrm>
          <a:prstGeom prst="rect">
            <a:avLst/>
          </a:prstGeom>
          <a:noFill/>
          <a:ln/>
        </p:spPr>
        <p:txBody>
          <a:bodyPr wrap="square" lIns="0" tIns="0" rIns="0" bIns="0" rtlCol="0" anchor="ctr"/>
          <a:lstStyle/>
          <a:p>
            <a:pPr marL="0" indent="0">
              <a:buNone/>
            </a:pPr>
            <a:r>
              <a:rPr lang="en-US" sz="1000" b="1" kern="0" spc="300" dirty="0">
                <a:solidFill>
                  <a:srgbClr val="D4824A"/>
                </a:solidFill>
              </a:rPr>
              <a:t>DSPY FUNDAMENTALS  ·  2 OF 7</a:t>
            </a:r>
            <a:endParaRPr lang="en-US" sz="1000" dirty="0"/>
          </a:p>
        </p:txBody>
      </p:sp>
      <p:sp>
        <p:nvSpPr>
          <p:cNvPr id="3" name="Text 1"/>
          <p:cNvSpPr>
            <a:spLocks noGrp="1"/>
          </p:cNvSpPr>
          <p:nvPr>
            <p:ph type="title" idx="101" hasCustomPrompt="1"/>
          </p:nvPr>
        </p:nvSpPr>
        <p:spPr>
          <a:xfrm>
            <a:off x="502920" y="457200"/>
            <a:ext cx="8138160" cy="594360"/>
          </a:xfrm>
          <a:prstGeom prst="rect">
            <a:avLst/>
          </a:prstGeom>
          <a:noFill/>
          <a:ln/>
        </p:spPr>
        <p:txBody>
          <a:bodyPr wrap="square" lIns="0" tIns="0" rIns="0" bIns="0" rtlCol="0" anchor="ctr"/>
          <a:lstStyle/>
          <a:p>
            <a:pPr marL="0" indent="0" algn="l">
              <a:buNone/>
            </a:pPr>
            <a:r>
              <a:rPr lang="en-US" sz="2800" b="1" dirty="0">
                <a:solidFill>
                  <a:srgbClr val="1B2A4A"/>
                </a:solidFill>
              </a:rPr>
              <a:t>DSPy in One Picture: 4 Building Blocks</a:t>
            </a:r>
            <a:endParaRPr lang="en-US" sz="2800" dirty="0"/>
          </a:p>
        </p:txBody>
      </p:sp>
      <p:sp>
        <p:nvSpPr>
          <p:cNvPr id="4" name="Shape 2"/>
          <p:cNvSpPr/>
          <p:nvPr/>
        </p:nvSpPr>
        <p:spPr>
          <a:xfrm>
            <a:off x="502920" y="1234440"/>
            <a:ext cx="1828800" cy="1143000"/>
          </a:xfrm>
          <a:prstGeom prst="roundRect">
            <a:avLst>
              <a:gd name="adj" fmla="val 8000"/>
            </a:avLst>
          </a:prstGeom>
          <a:solidFill>
            <a:srgbClr val="F4F6F9"/>
          </a:solidFill>
          <a:ln w="12700">
            <a:solidFill>
              <a:srgbClr val="F4F6F9"/>
            </a:solidFill>
            <a:prstDash val="solid"/>
          </a:ln>
        </p:spPr>
      </p:sp>
      <p:sp>
        <p:nvSpPr>
          <p:cNvPr id="5" name="Text 3"/>
          <p:cNvSpPr txBox="1"/>
          <p:nvPr/>
        </p:nvSpPr>
        <p:spPr>
          <a:xfrm>
            <a:off x="667512" y="1234440"/>
            <a:ext cx="1499616" cy="1143000"/>
          </a:xfrm>
          <a:prstGeom prst="rect">
            <a:avLst/>
          </a:prstGeom>
          <a:noFill/>
          <a:ln/>
        </p:spPr>
        <p:txBody>
          <a:bodyPr wrap="square" lIns="0" tIns="0" rIns="0" bIns="0" rtlCol="0" anchor="ctr"/>
          <a:lstStyle/>
          <a:p>
            <a:pPr marL="0" indent="0">
              <a:spcAft>
                <a:spcPts val="400"/>
              </a:spcAft>
              <a:buNone/>
            </a:pPr>
            <a:r>
              <a:rPr lang="en-US" sz="1800" b="1" dirty="0">
                <a:solidFill>
                  <a:srgbClr val="1B2A4A"/>
                </a:solidFill>
              </a:rPr>
              <a:t>Signature</a:t>
            </a:r>
            <a:endParaRPr lang="en-US" sz="1800" dirty="0"/>
          </a:p>
          <a:p>
            <a:pPr marL="0" indent="0">
              <a:spcAft>
                <a:spcPts val="400"/>
              </a:spcAft>
              <a:buNone/>
            </a:pPr>
            <a:r>
              <a:rPr lang="en-US" sz="1300" dirty="0">
                <a:solidFill>
                  <a:srgbClr val="5F6F80"/>
                </a:solidFill>
              </a:rPr>
              <a:t>What goes in, what comes out?</a:t>
            </a:r>
            <a:endParaRPr lang="en-US" sz="1800" dirty="0"/>
          </a:p>
        </p:txBody>
      </p:sp>
      <p:sp>
        <p:nvSpPr>
          <p:cNvPr id="6" name="Shape 4"/>
          <p:cNvSpPr/>
          <p:nvPr/>
        </p:nvSpPr>
        <p:spPr>
          <a:xfrm>
            <a:off x="2606040" y="1234440"/>
            <a:ext cx="1828800" cy="1143000"/>
          </a:xfrm>
          <a:prstGeom prst="roundRect">
            <a:avLst>
              <a:gd name="adj" fmla="val 8000"/>
            </a:avLst>
          </a:prstGeom>
          <a:solidFill>
            <a:srgbClr val="F4F6F9"/>
          </a:solidFill>
          <a:ln w="12700">
            <a:solidFill>
              <a:srgbClr val="F4F6F9"/>
            </a:solidFill>
            <a:prstDash val="solid"/>
          </a:ln>
        </p:spPr>
      </p:sp>
      <p:sp>
        <p:nvSpPr>
          <p:cNvPr id="7" name="Text 5"/>
          <p:cNvSpPr txBox="1"/>
          <p:nvPr/>
        </p:nvSpPr>
        <p:spPr>
          <a:xfrm>
            <a:off x="2770632" y="1234440"/>
            <a:ext cx="1499616" cy="1143000"/>
          </a:xfrm>
          <a:prstGeom prst="rect">
            <a:avLst/>
          </a:prstGeom>
          <a:noFill/>
          <a:ln/>
        </p:spPr>
        <p:txBody>
          <a:bodyPr wrap="square" lIns="0" tIns="0" rIns="0" bIns="0" rtlCol="0" anchor="ctr"/>
          <a:lstStyle/>
          <a:p>
            <a:pPr marL="0" indent="0">
              <a:spcAft>
                <a:spcPts val="400"/>
              </a:spcAft>
              <a:buNone/>
            </a:pPr>
            <a:r>
              <a:rPr lang="en-US" sz="1800" b="1" dirty="0">
                <a:solidFill>
                  <a:srgbClr val="1B2A4A"/>
                </a:solidFill>
              </a:rPr>
              <a:t>Module</a:t>
            </a:r>
            <a:endParaRPr lang="en-US" sz="1800" dirty="0"/>
          </a:p>
          <a:p>
            <a:pPr marL="0" indent="0">
              <a:spcAft>
                <a:spcPts val="400"/>
              </a:spcAft>
              <a:buNone/>
            </a:pPr>
            <a:r>
              <a:rPr lang="en-US" sz="1300" dirty="0">
                <a:solidFill>
                  <a:srgbClr val="5F6F80"/>
                </a:solidFill>
              </a:rPr>
              <a:t>How should the task be done?</a:t>
            </a:r>
            <a:endParaRPr lang="en-US" sz="1800" dirty="0"/>
          </a:p>
        </p:txBody>
      </p:sp>
      <p:sp>
        <p:nvSpPr>
          <p:cNvPr id="8" name="Shape 6"/>
          <p:cNvSpPr/>
          <p:nvPr/>
        </p:nvSpPr>
        <p:spPr>
          <a:xfrm>
            <a:off x="4709160" y="1234440"/>
            <a:ext cx="1828800" cy="1143000"/>
          </a:xfrm>
          <a:prstGeom prst="roundRect">
            <a:avLst>
              <a:gd name="adj" fmla="val 8000"/>
            </a:avLst>
          </a:prstGeom>
          <a:solidFill>
            <a:srgbClr val="F4F6F9"/>
          </a:solidFill>
          <a:ln w="12700">
            <a:solidFill>
              <a:srgbClr val="F4F6F9"/>
            </a:solidFill>
            <a:prstDash val="solid"/>
          </a:ln>
        </p:spPr>
      </p:sp>
      <p:sp>
        <p:nvSpPr>
          <p:cNvPr id="9" name="Text 7"/>
          <p:cNvSpPr txBox="1"/>
          <p:nvPr/>
        </p:nvSpPr>
        <p:spPr>
          <a:xfrm>
            <a:off x="4873752" y="1234440"/>
            <a:ext cx="1499616" cy="1143000"/>
          </a:xfrm>
          <a:prstGeom prst="rect">
            <a:avLst/>
          </a:prstGeom>
          <a:noFill/>
          <a:ln/>
        </p:spPr>
        <p:txBody>
          <a:bodyPr wrap="square" lIns="0" tIns="0" rIns="0" bIns="0" rtlCol="0" anchor="ctr"/>
          <a:lstStyle/>
          <a:p>
            <a:pPr marL="0" indent="0">
              <a:spcAft>
                <a:spcPts val="400"/>
              </a:spcAft>
              <a:buNone/>
            </a:pPr>
            <a:r>
              <a:rPr lang="en-US" sz="1800" b="1" dirty="0">
                <a:solidFill>
                  <a:srgbClr val="1B2A4A"/>
                </a:solidFill>
              </a:rPr>
              <a:t>Metric</a:t>
            </a:r>
            <a:endParaRPr lang="en-US" sz="1800" dirty="0"/>
          </a:p>
          <a:p>
            <a:pPr marL="0" indent="0">
              <a:spcAft>
                <a:spcPts val="400"/>
              </a:spcAft>
              <a:buNone/>
            </a:pPr>
            <a:r>
              <a:rPr lang="en-US" sz="1300" dirty="0">
                <a:solidFill>
                  <a:srgbClr val="5F6F80"/>
                </a:solidFill>
              </a:rPr>
              <a:t>How do we measure success?</a:t>
            </a:r>
            <a:endParaRPr lang="en-US" sz="1800" dirty="0"/>
          </a:p>
        </p:txBody>
      </p:sp>
      <p:sp>
        <p:nvSpPr>
          <p:cNvPr id="10" name="Shape 8"/>
          <p:cNvSpPr/>
          <p:nvPr/>
        </p:nvSpPr>
        <p:spPr>
          <a:xfrm>
            <a:off x="6812280" y="1234440"/>
            <a:ext cx="1828800" cy="1143000"/>
          </a:xfrm>
          <a:prstGeom prst="roundRect">
            <a:avLst>
              <a:gd name="adj" fmla="val 8000"/>
            </a:avLst>
          </a:prstGeom>
          <a:solidFill>
            <a:srgbClr val="F4F6F9"/>
          </a:solidFill>
          <a:ln w="12700">
            <a:solidFill>
              <a:srgbClr val="F4F6F9"/>
            </a:solidFill>
            <a:prstDash val="solid"/>
          </a:ln>
        </p:spPr>
      </p:sp>
      <p:sp>
        <p:nvSpPr>
          <p:cNvPr id="11" name="Text 9"/>
          <p:cNvSpPr txBox="1"/>
          <p:nvPr/>
        </p:nvSpPr>
        <p:spPr>
          <a:xfrm>
            <a:off x="6976872" y="1234440"/>
            <a:ext cx="1499616" cy="1143000"/>
          </a:xfrm>
          <a:prstGeom prst="rect">
            <a:avLst/>
          </a:prstGeom>
          <a:noFill/>
          <a:ln/>
        </p:spPr>
        <p:txBody>
          <a:bodyPr wrap="square" lIns="0" tIns="0" rIns="0" bIns="0" rtlCol="0" anchor="ctr"/>
          <a:lstStyle/>
          <a:p>
            <a:pPr marL="0" indent="0">
              <a:spcAft>
                <a:spcPts val="400"/>
              </a:spcAft>
              <a:buNone/>
            </a:pPr>
            <a:r>
              <a:rPr lang="en-US" sz="1800" b="1" dirty="0">
                <a:solidFill>
                  <a:srgbClr val="D4824A"/>
                </a:solidFill>
              </a:rPr>
              <a:t>Optimizer</a:t>
            </a:r>
            <a:endParaRPr lang="en-US" sz="1800" dirty="0"/>
          </a:p>
          <a:p>
            <a:pPr marL="0" indent="0">
              <a:spcAft>
                <a:spcPts val="400"/>
              </a:spcAft>
              <a:buNone/>
            </a:pPr>
            <a:r>
              <a:rPr lang="en-US" sz="1300" dirty="0">
                <a:solidFill>
                  <a:srgbClr val="5F6F80"/>
                </a:solidFill>
              </a:rPr>
              <a:t>How do we improve the program?</a:t>
            </a:r>
            <a:endParaRPr lang="en-US" sz="1800" dirty="0"/>
          </a:p>
        </p:txBody>
      </p:sp>
      <p:sp>
        <p:nvSpPr>
          <p:cNvPr id="12" name="Shape 10"/>
          <p:cNvSpPr/>
          <p:nvPr/>
        </p:nvSpPr>
        <p:spPr>
          <a:xfrm>
            <a:off x="502920" y="2651760"/>
            <a:ext cx="1188720" cy="457200"/>
          </a:xfrm>
          <a:prstGeom prst="roundRect">
            <a:avLst>
              <a:gd name="adj" fmla="val 16000"/>
            </a:avLst>
          </a:prstGeom>
          <a:solidFill>
            <a:srgbClr val="1B2A4A"/>
          </a:solidFill>
          <a:ln w="12700">
            <a:solidFill>
              <a:srgbClr val="1B2A4A"/>
            </a:solidFill>
            <a:prstDash val="solid"/>
          </a:ln>
        </p:spPr>
      </p:sp>
      <p:sp>
        <p:nvSpPr>
          <p:cNvPr id="13" name="Text 11"/>
          <p:cNvSpPr txBox="1"/>
          <p:nvPr/>
        </p:nvSpPr>
        <p:spPr>
          <a:xfrm>
            <a:off x="612648" y="2651760"/>
            <a:ext cx="969264" cy="457200"/>
          </a:xfrm>
          <a:prstGeom prst="rect">
            <a:avLst/>
          </a:prstGeom>
          <a:noFill/>
          <a:ln/>
        </p:spPr>
        <p:txBody>
          <a:bodyPr wrap="square" lIns="0" tIns="0" rIns="0" bIns="0" rtlCol="0" anchor="ctr"/>
          <a:lstStyle/>
          <a:p>
            <a:pPr marL="0" indent="0" algn="ctr">
              <a:spcAft>
                <a:spcPts val="400"/>
              </a:spcAft>
              <a:buNone/>
            </a:pPr>
            <a:r>
              <a:rPr lang="en-US" sz="1400" b="1" dirty="0">
                <a:solidFill>
                  <a:srgbClr val="FFFFFF"/>
                </a:solidFill>
              </a:rPr>
              <a:t>Signature</a:t>
            </a:r>
            <a:endParaRPr lang="en-US" sz="1400" dirty="0"/>
          </a:p>
        </p:txBody>
      </p:sp>
      <p:sp>
        <p:nvSpPr>
          <p:cNvPr id="14" name="Shape 12"/>
          <p:cNvSpPr/>
          <p:nvPr/>
        </p:nvSpPr>
        <p:spPr>
          <a:xfrm>
            <a:off x="1709928" y="2880360"/>
            <a:ext cx="164592" cy="0"/>
          </a:xfrm>
          <a:prstGeom prst="line">
            <a:avLst/>
          </a:prstGeom>
          <a:noFill/>
          <a:ln w="25400">
            <a:solidFill>
              <a:srgbClr val="D4824A"/>
            </a:solidFill>
            <a:prstDash val="solid"/>
            <a:tailEnd type="triangle"/>
          </a:ln>
        </p:spPr>
      </p:sp>
      <p:sp>
        <p:nvSpPr>
          <p:cNvPr id="15" name="Shape 13"/>
          <p:cNvSpPr/>
          <p:nvPr/>
        </p:nvSpPr>
        <p:spPr>
          <a:xfrm>
            <a:off x="1892808" y="2651760"/>
            <a:ext cx="1188720" cy="457200"/>
          </a:xfrm>
          <a:prstGeom prst="roundRect">
            <a:avLst>
              <a:gd name="adj" fmla="val 16000"/>
            </a:avLst>
          </a:prstGeom>
          <a:solidFill>
            <a:srgbClr val="1B2A4A"/>
          </a:solidFill>
          <a:ln w="12700">
            <a:solidFill>
              <a:srgbClr val="1B2A4A"/>
            </a:solidFill>
            <a:prstDash val="solid"/>
          </a:ln>
        </p:spPr>
      </p:sp>
      <p:sp>
        <p:nvSpPr>
          <p:cNvPr id="16" name="Text 14"/>
          <p:cNvSpPr txBox="1"/>
          <p:nvPr/>
        </p:nvSpPr>
        <p:spPr>
          <a:xfrm>
            <a:off x="2002536" y="2651760"/>
            <a:ext cx="969264" cy="457200"/>
          </a:xfrm>
          <a:prstGeom prst="rect">
            <a:avLst/>
          </a:prstGeom>
          <a:noFill/>
          <a:ln/>
        </p:spPr>
        <p:txBody>
          <a:bodyPr wrap="square" lIns="0" tIns="0" rIns="0" bIns="0" rtlCol="0" anchor="ctr"/>
          <a:lstStyle/>
          <a:p>
            <a:pPr marL="0" indent="0" algn="ctr">
              <a:spcAft>
                <a:spcPts val="400"/>
              </a:spcAft>
              <a:buNone/>
            </a:pPr>
            <a:r>
              <a:rPr lang="en-US" sz="1400" b="1" dirty="0">
                <a:solidFill>
                  <a:srgbClr val="FFFFFF"/>
                </a:solidFill>
              </a:rPr>
              <a:t>Module</a:t>
            </a:r>
            <a:endParaRPr lang="en-US" sz="1400" dirty="0"/>
          </a:p>
        </p:txBody>
      </p:sp>
      <p:sp>
        <p:nvSpPr>
          <p:cNvPr id="17" name="Shape 15"/>
          <p:cNvSpPr/>
          <p:nvPr/>
        </p:nvSpPr>
        <p:spPr>
          <a:xfrm>
            <a:off x="3099816" y="2880360"/>
            <a:ext cx="164592" cy="0"/>
          </a:xfrm>
          <a:prstGeom prst="line">
            <a:avLst/>
          </a:prstGeom>
          <a:noFill/>
          <a:ln w="25400">
            <a:solidFill>
              <a:srgbClr val="D4824A"/>
            </a:solidFill>
            <a:prstDash val="solid"/>
            <a:tailEnd type="triangle"/>
          </a:ln>
        </p:spPr>
      </p:sp>
      <p:sp>
        <p:nvSpPr>
          <p:cNvPr id="18" name="Shape 16"/>
          <p:cNvSpPr/>
          <p:nvPr/>
        </p:nvSpPr>
        <p:spPr>
          <a:xfrm>
            <a:off x="3282696" y="2651760"/>
            <a:ext cx="1188720" cy="457200"/>
          </a:xfrm>
          <a:prstGeom prst="roundRect">
            <a:avLst>
              <a:gd name="adj" fmla="val 16000"/>
            </a:avLst>
          </a:prstGeom>
          <a:solidFill>
            <a:srgbClr val="F4F6F9"/>
          </a:solidFill>
          <a:ln w="12700">
            <a:solidFill>
              <a:srgbClr val="F4F6F9"/>
            </a:solidFill>
            <a:prstDash val="solid"/>
          </a:ln>
        </p:spPr>
      </p:sp>
      <p:sp>
        <p:nvSpPr>
          <p:cNvPr id="19" name="Text 17"/>
          <p:cNvSpPr txBox="1"/>
          <p:nvPr/>
        </p:nvSpPr>
        <p:spPr>
          <a:xfrm>
            <a:off x="3392424" y="2651760"/>
            <a:ext cx="969264" cy="457200"/>
          </a:xfrm>
          <a:prstGeom prst="rect">
            <a:avLst/>
          </a:prstGeom>
          <a:noFill/>
          <a:ln/>
        </p:spPr>
        <p:txBody>
          <a:bodyPr wrap="square" lIns="0" tIns="0" rIns="0" bIns="0" rtlCol="0" anchor="ctr"/>
          <a:lstStyle/>
          <a:p>
            <a:pPr marL="0" indent="0" algn="ctr">
              <a:spcAft>
                <a:spcPts val="400"/>
              </a:spcAft>
              <a:buNone/>
            </a:pPr>
            <a:r>
              <a:rPr lang="en-US" sz="1400" b="1" dirty="0">
                <a:solidFill>
                  <a:srgbClr val="1B2A4A"/>
                </a:solidFill>
              </a:rPr>
              <a:t>LLM</a:t>
            </a:r>
            <a:endParaRPr lang="en-US" sz="1400" dirty="0"/>
          </a:p>
        </p:txBody>
      </p:sp>
      <p:sp>
        <p:nvSpPr>
          <p:cNvPr id="20" name="Shape 18"/>
          <p:cNvSpPr/>
          <p:nvPr/>
        </p:nvSpPr>
        <p:spPr>
          <a:xfrm>
            <a:off x="4489704" y="2880360"/>
            <a:ext cx="164592" cy="0"/>
          </a:xfrm>
          <a:prstGeom prst="line">
            <a:avLst/>
          </a:prstGeom>
          <a:noFill/>
          <a:ln w="25400">
            <a:solidFill>
              <a:srgbClr val="D4824A"/>
            </a:solidFill>
            <a:prstDash val="solid"/>
            <a:tailEnd type="triangle"/>
          </a:ln>
        </p:spPr>
      </p:sp>
      <p:sp>
        <p:nvSpPr>
          <p:cNvPr id="21" name="Shape 19"/>
          <p:cNvSpPr/>
          <p:nvPr/>
        </p:nvSpPr>
        <p:spPr>
          <a:xfrm>
            <a:off x="4672584" y="2651760"/>
            <a:ext cx="1188720" cy="457200"/>
          </a:xfrm>
          <a:prstGeom prst="roundRect">
            <a:avLst>
              <a:gd name="adj" fmla="val 16000"/>
            </a:avLst>
          </a:prstGeom>
          <a:solidFill>
            <a:srgbClr val="F4F6F9"/>
          </a:solidFill>
          <a:ln w="12700">
            <a:solidFill>
              <a:srgbClr val="F4F6F9"/>
            </a:solidFill>
            <a:prstDash val="solid"/>
          </a:ln>
        </p:spPr>
      </p:sp>
      <p:sp>
        <p:nvSpPr>
          <p:cNvPr id="22" name="Text 20"/>
          <p:cNvSpPr txBox="1"/>
          <p:nvPr/>
        </p:nvSpPr>
        <p:spPr>
          <a:xfrm>
            <a:off x="4782312" y="2651760"/>
            <a:ext cx="969264" cy="457200"/>
          </a:xfrm>
          <a:prstGeom prst="rect">
            <a:avLst/>
          </a:prstGeom>
          <a:noFill/>
          <a:ln/>
        </p:spPr>
        <p:txBody>
          <a:bodyPr wrap="square" lIns="0" tIns="0" rIns="0" bIns="0" rtlCol="0" anchor="ctr"/>
          <a:lstStyle/>
          <a:p>
            <a:pPr marL="0" indent="0" algn="ctr">
              <a:spcAft>
                <a:spcPts val="400"/>
              </a:spcAft>
              <a:buNone/>
            </a:pPr>
            <a:r>
              <a:rPr lang="en-US" sz="1400" b="1" dirty="0">
                <a:solidFill>
                  <a:srgbClr val="1B2A4A"/>
                </a:solidFill>
              </a:rPr>
              <a:t>Output</a:t>
            </a:r>
            <a:endParaRPr lang="en-US" sz="1400" dirty="0"/>
          </a:p>
        </p:txBody>
      </p:sp>
      <p:sp>
        <p:nvSpPr>
          <p:cNvPr id="23" name="Shape 21"/>
          <p:cNvSpPr/>
          <p:nvPr/>
        </p:nvSpPr>
        <p:spPr>
          <a:xfrm>
            <a:off x="5879592" y="2880360"/>
            <a:ext cx="164592" cy="0"/>
          </a:xfrm>
          <a:prstGeom prst="line">
            <a:avLst/>
          </a:prstGeom>
          <a:noFill/>
          <a:ln w="25400">
            <a:solidFill>
              <a:srgbClr val="D4824A"/>
            </a:solidFill>
            <a:prstDash val="solid"/>
            <a:tailEnd type="triangle"/>
          </a:ln>
        </p:spPr>
      </p:sp>
      <p:sp>
        <p:nvSpPr>
          <p:cNvPr id="24" name="Shape 22"/>
          <p:cNvSpPr/>
          <p:nvPr/>
        </p:nvSpPr>
        <p:spPr>
          <a:xfrm>
            <a:off x="6062472" y="2651760"/>
            <a:ext cx="1188720" cy="457200"/>
          </a:xfrm>
          <a:prstGeom prst="roundRect">
            <a:avLst>
              <a:gd name="adj" fmla="val 16000"/>
            </a:avLst>
          </a:prstGeom>
          <a:solidFill>
            <a:srgbClr val="1B2A4A"/>
          </a:solidFill>
          <a:ln w="12700">
            <a:solidFill>
              <a:srgbClr val="1B2A4A"/>
            </a:solidFill>
            <a:prstDash val="solid"/>
          </a:ln>
        </p:spPr>
      </p:sp>
      <p:sp>
        <p:nvSpPr>
          <p:cNvPr id="25" name="Text 23"/>
          <p:cNvSpPr txBox="1"/>
          <p:nvPr/>
        </p:nvSpPr>
        <p:spPr>
          <a:xfrm>
            <a:off x="6172200" y="2651760"/>
            <a:ext cx="969264" cy="457200"/>
          </a:xfrm>
          <a:prstGeom prst="rect">
            <a:avLst/>
          </a:prstGeom>
          <a:noFill/>
          <a:ln/>
        </p:spPr>
        <p:txBody>
          <a:bodyPr wrap="square" lIns="0" tIns="0" rIns="0" bIns="0" rtlCol="0" anchor="ctr"/>
          <a:lstStyle/>
          <a:p>
            <a:pPr marL="0" indent="0" algn="ctr">
              <a:spcAft>
                <a:spcPts val="400"/>
              </a:spcAft>
              <a:buNone/>
            </a:pPr>
            <a:r>
              <a:rPr lang="en-US" sz="1400" b="1" dirty="0">
                <a:solidFill>
                  <a:srgbClr val="FFFFFF"/>
                </a:solidFill>
              </a:rPr>
              <a:t>Metric</a:t>
            </a:r>
            <a:endParaRPr lang="en-US" sz="1400" dirty="0"/>
          </a:p>
        </p:txBody>
      </p:sp>
      <p:sp>
        <p:nvSpPr>
          <p:cNvPr id="26" name="Shape 24"/>
          <p:cNvSpPr/>
          <p:nvPr/>
        </p:nvSpPr>
        <p:spPr>
          <a:xfrm>
            <a:off x="7269480" y="2880360"/>
            <a:ext cx="164592" cy="0"/>
          </a:xfrm>
          <a:prstGeom prst="line">
            <a:avLst/>
          </a:prstGeom>
          <a:noFill/>
          <a:ln w="25400">
            <a:solidFill>
              <a:srgbClr val="D4824A"/>
            </a:solidFill>
            <a:prstDash val="solid"/>
            <a:tailEnd type="triangle"/>
          </a:ln>
        </p:spPr>
      </p:sp>
      <p:sp>
        <p:nvSpPr>
          <p:cNvPr id="27" name="Shape 25"/>
          <p:cNvSpPr/>
          <p:nvPr/>
        </p:nvSpPr>
        <p:spPr>
          <a:xfrm>
            <a:off x="7452360" y="2651760"/>
            <a:ext cx="1188720" cy="457200"/>
          </a:xfrm>
          <a:prstGeom prst="roundRect">
            <a:avLst>
              <a:gd name="adj" fmla="val 16000"/>
            </a:avLst>
          </a:prstGeom>
          <a:solidFill>
            <a:srgbClr val="D4824A"/>
          </a:solidFill>
          <a:ln w="12700">
            <a:solidFill>
              <a:srgbClr val="D4824A"/>
            </a:solidFill>
            <a:prstDash val="solid"/>
          </a:ln>
        </p:spPr>
      </p:sp>
      <p:sp>
        <p:nvSpPr>
          <p:cNvPr id="28" name="Text 26"/>
          <p:cNvSpPr txBox="1"/>
          <p:nvPr/>
        </p:nvSpPr>
        <p:spPr>
          <a:xfrm>
            <a:off x="7562088" y="2651760"/>
            <a:ext cx="969264" cy="457200"/>
          </a:xfrm>
          <a:prstGeom prst="rect">
            <a:avLst/>
          </a:prstGeom>
          <a:noFill/>
          <a:ln/>
        </p:spPr>
        <p:txBody>
          <a:bodyPr wrap="square" lIns="0" tIns="0" rIns="0" bIns="0" rtlCol="0" anchor="ctr"/>
          <a:lstStyle/>
          <a:p>
            <a:pPr marL="0" indent="0" algn="ctr">
              <a:spcAft>
                <a:spcPts val="400"/>
              </a:spcAft>
              <a:buNone/>
            </a:pPr>
            <a:r>
              <a:rPr lang="en-US" sz="1400" b="1" dirty="0">
                <a:solidFill>
                  <a:srgbClr val="FFFFFF"/>
                </a:solidFill>
              </a:rPr>
              <a:t>Optimizer</a:t>
            </a:r>
            <a:endParaRPr lang="en-US" sz="1400" dirty="0"/>
          </a:p>
        </p:txBody>
      </p:sp>
      <p:sp>
        <p:nvSpPr>
          <p:cNvPr id="29" name="Text 27"/>
          <p:cNvSpPr txBox="1"/>
          <p:nvPr/>
        </p:nvSpPr>
        <p:spPr>
          <a:xfrm>
            <a:off x="502920" y="3200400"/>
            <a:ext cx="8138160" cy="274320"/>
          </a:xfrm>
          <a:prstGeom prst="rect">
            <a:avLst/>
          </a:prstGeom>
          <a:noFill/>
          <a:ln/>
        </p:spPr>
        <p:txBody>
          <a:bodyPr wrap="square" lIns="0" tIns="0" rIns="0" bIns="0" rtlCol="0" anchor="ctr"/>
          <a:lstStyle/>
          <a:p>
            <a:pPr marL="0" indent="0">
              <a:buNone/>
            </a:pPr>
            <a:r>
              <a:rPr lang="en-US" sz="1200" b="1" dirty="0">
                <a:solidFill>
                  <a:srgbClr val="D4824A"/>
                </a:solidFill>
              </a:rPr>
              <a:t>↺  The optimizer feeds a better program back in: better instructions and examples.</a:t>
            </a:r>
            <a:endParaRPr lang="en-US" sz="1200" dirty="0"/>
          </a:p>
        </p:txBody>
      </p:sp>
      <p:sp>
        <p:nvSpPr>
          <p:cNvPr id="30" name="Shape 28"/>
          <p:cNvSpPr/>
          <p:nvPr/>
        </p:nvSpPr>
        <p:spPr>
          <a:xfrm>
            <a:off x="502920" y="3840480"/>
            <a:ext cx="8138160" cy="594360"/>
          </a:xfrm>
          <a:prstGeom prst="roundRect">
            <a:avLst>
              <a:gd name="adj" fmla="val 12308"/>
            </a:avLst>
          </a:prstGeom>
          <a:solidFill>
            <a:srgbClr val="FBEFE6"/>
          </a:solidFill>
          <a:ln w="12700">
            <a:solidFill>
              <a:srgbClr val="FBEFE6"/>
            </a:solidFill>
            <a:prstDash val="solid"/>
          </a:ln>
        </p:spPr>
      </p:sp>
      <p:sp>
        <p:nvSpPr>
          <p:cNvPr id="31" name="Text 29"/>
          <p:cNvSpPr txBox="1"/>
          <p:nvPr/>
        </p:nvSpPr>
        <p:spPr>
          <a:xfrm>
            <a:off x="667512" y="3840480"/>
            <a:ext cx="7808976" cy="594360"/>
          </a:xfrm>
          <a:prstGeom prst="rect">
            <a:avLst/>
          </a:prstGeom>
          <a:noFill/>
          <a:ln/>
        </p:spPr>
        <p:txBody>
          <a:bodyPr wrap="square" lIns="0" tIns="0" rIns="0" bIns="0" rtlCol="0" anchor="ctr"/>
          <a:lstStyle/>
          <a:p>
            <a:pPr marL="0" indent="0">
              <a:buNone/>
            </a:pPr>
            <a:r>
              <a:rPr lang="en-US" sz="1000" b="1" kern="0" spc="200" dirty="0">
                <a:solidFill>
                  <a:srgbClr val="D4824A"/>
                </a:solidFill>
              </a:rPr>
              <a:t>KEY POINT  </a:t>
            </a:r>
            <a:r>
              <a:rPr lang="en-US" sz="1300" dirty="0">
                <a:solidFill>
                  <a:srgbClr val="1B2A4A"/>
                </a:solidFill>
              </a:rPr>
              <a:t>If you remember four words today: Signature, Module, Metric, Optimizer.</a:t>
            </a:r>
            <a:endParaRPr lang="en-US" sz="1000" dirty="0"/>
          </a:p>
        </p:txBody>
      </p:sp>
      <p:sp>
        <p:nvSpPr>
          <p:cNvPr id="32" name="Slide Number Placeholder 0"/>
          <p:cNvSpPr>
            <a:spLocks noGrp="1"/>
          </p:cNvSpPr>
          <p:nvPr>
            <p:ph type="sldNum" sz="quarter" idx="4294967295"/>
          </p:nvPr>
        </p:nvSpPr>
        <p:spPr>
          <a:xfrm>
            <a:off x="8229600" y="4800600"/>
            <a:ext cx="41148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A0B0C0"/>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02920" y="201168"/>
            <a:ext cx="8138160" cy="256032"/>
          </a:xfrm>
          <a:prstGeom prst="rect">
            <a:avLst/>
          </a:prstGeom>
          <a:noFill/>
          <a:ln/>
        </p:spPr>
        <p:txBody>
          <a:bodyPr wrap="square" lIns="0" tIns="0" rIns="0" bIns="0" rtlCol="0" anchor="ctr"/>
          <a:lstStyle/>
          <a:p>
            <a:pPr marL="0" indent="0">
              <a:buNone/>
            </a:pPr>
            <a:r>
              <a:rPr lang="en-US" sz="1000" b="1" kern="0" spc="300" dirty="0">
                <a:solidFill>
                  <a:srgbClr val="D4824A"/>
                </a:solidFill>
              </a:rPr>
              <a:t>DSPY FUNDAMENTALS  ·  3 OF 7</a:t>
            </a:r>
            <a:endParaRPr lang="en-US" sz="1000" dirty="0"/>
          </a:p>
        </p:txBody>
      </p:sp>
      <p:sp>
        <p:nvSpPr>
          <p:cNvPr id="3" name="Text 1"/>
          <p:cNvSpPr>
            <a:spLocks noGrp="1"/>
          </p:cNvSpPr>
          <p:nvPr>
            <p:ph type="title" idx="101" hasCustomPrompt="1"/>
          </p:nvPr>
        </p:nvSpPr>
        <p:spPr>
          <a:xfrm>
            <a:off x="502920" y="457200"/>
            <a:ext cx="8138160" cy="594360"/>
          </a:xfrm>
          <a:prstGeom prst="rect">
            <a:avLst/>
          </a:prstGeom>
          <a:noFill/>
          <a:ln/>
        </p:spPr>
        <p:txBody>
          <a:bodyPr wrap="square" lIns="0" tIns="0" rIns="0" bIns="0" rtlCol="0" anchor="ctr"/>
          <a:lstStyle/>
          <a:p>
            <a:pPr marL="0" indent="0" algn="l">
              <a:buNone/>
            </a:pPr>
            <a:r>
              <a:rPr lang="en-US" sz="2800" b="1" dirty="0">
                <a:solidFill>
                  <a:srgbClr val="1B2A4A"/>
                </a:solidFill>
              </a:rPr>
              <a:t>Signature = Input + Output</a:t>
            </a:r>
            <a:endParaRPr lang="en-US" sz="2800" dirty="0"/>
          </a:p>
        </p:txBody>
      </p:sp>
      <p:sp>
        <p:nvSpPr>
          <p:cNvPr id="4" name="Text 2"/>
          <p:cNvSpPr txBox="1"/>
          <p:nvPr/>
        </p:nvSpPr>
        <p:spPr>
          <a:xfrm>
            <a:off x="502920" y="1188720"/>
            <a:ext cx="3108960" cy="256032"/>
          </a:xfrm>
          <a:prstGeom prst="rect">
            <a:avLst/>
          </a:prstGeom>
          <a:noFill/>
          <a:ln/>
        </p:spPr>
        <p:txBody>
          <a:bodyPr wrap="square" lIns="0" tIns="0" rIns="0" bIns="0" rtlCol="0" anchor="ctr"/>
          <a:lstStyle/>
          <a:p>
            <a:pPr marL="0" indent="0">
              <a:buNone/>
            </a:pPr>
            <a:r>
              <a:rPr lang="en-US" sz="1000" b="1" kern="0" spc="300" dirty="0">
                <a:solidFill>
                  <a:srgbClr val="D4824A"/>
                </a:solidFill>
              </a:rPr>
              <a:t>INPUT</a:t>
            </a:r>
            <a:endParaRPr lang="en-US" sz="1000" dirty="0"/>
          </a:p>
        </p:txBody>
      </p:sp>
      <p:sp>
        <p:nvSpPr>
          <p:cNvPr id="5" name="Text 3"/>
          <p:cNvSpPr txBox="1"/>
          <p:nvPr/>
        </p:nvSpPr>
        <p:spPr>
          <a:xfrm>
            <a:off x="5532120" y="1188720"/>
            <a:ext cx="3108960" cy="256032"/>
          </a:xfrm>
          <a:prstGeom prst="rect">
            <a:avLst/>
          </a:prstGeom>
          <a:noFill/>
          <a:ln/>
        </p:spPr>
        <p:txBody>
          <a:bodyPr wrap="square" lIns="0" tIns="0" rIns="0" bIns="0" rtlCol="0" anchor="ctr"/>
          <a:lstStyle/>
          <a:p>
            <a:pPr marL="0" indent="0">
              <a:buNone/>
            </a:pPr>
            <a:r>
              <a:rPr lang="en-US" sz="1000" b="1" kern="0" spc="300" dirty="0">
                <a:solidFill>
                  <a:srgbClr val="D4824A"/>
                </a:solidFill>
              </a:rPr>
              <a:t>OUTPUT</a:t>
            </a:r>
            <a:endParaRPr lang="en-US" sz="1000" dirty="0"/>
          </a:p>
        </p:txBody>
      </p:sp>
      <p:sp>
        <p:nvSpPr>
          <p:cNvPr id="6" name="Shape 4"/>
          <p:cNvSpPr/>
          <p:nvPr/>
        </p:nvSpPr>
        <p:spPr>
          <a:xfrm>
            <a:off x="502920" y="1481328"/>
            <a:ext cx="3108960" cy="594360"/>
          </a:xfrm>
          <a:prstGeom prst="roundRect">
            <a:avLst>
              <a:gd name="adj" fmla="val 12308"/>
            </a:avLst>
          </a:prstGeom>
          <a:solidFill>
            <a:srgbClr val="1B2A4A"/>
          </a:solidFill>
          <a:ln w="12700">
            <a:solidFill>
              <a:srgbClr val="1B2A4A"/>
            </a:solidFill>
            <a:prstDash val="solid"/>
          </a:ln>
        </p:spPr>
      </p:sp>
      <p:sp>
        <p:nvSpPr>
          <p:cNvPr id="7" name="Text 5"/>
          <p:cNvSpPr txBox="1"/>
          <p:nvPr/>
        </p:nvSpPr>
        <p:spPr>
          <a:xfrm>
            <a:off x="612648" y="1481328"/>
            <a:ext cx="2889504" cy="594360"/>
          </a:xfrm>
          <a:prstGeom prst="rect">
            <a:avLst/>
          </a:prstGeom>
          <a:noFill/>
          <a:ln/>
        </p:spPr>
        <p:txBody>
          <a:bodyPr wrap="square" lIns="0" tIns="0" rIns="0" bIns="0" rtlCol="0" anchor="ctr"/>
          <a:lstStyle/>
          <a:p>
            <a:pPr marL="0" indent="0" algn="ctr">
              <a:spcAft>
                <a:spcPts val="400"/>
              </a:spcAft>
              <a:buNone/>
            </a:pPr>
            <a:r>
              <a:rPr lang="en-US" sz="1400" b="1" dirty="0">
                <a:solidFill>
                  <a:srgbClr val="FFFFFF"/>
                </a:solidFill>
              </a:rPr>
              <a:t>question</a:t>
            </a:r>
            <a:endParaRPr lang="en-US" sz="1400" dirty="0"/>
          </a:p>
          <a:p>
            <a:pPr marL="0" indent="0" algn="ctr">
              <a:spcAft>
                <a:spcPts val="400"/>
              </a:spcAft>
              <a:buNone/>
            </a:pPr>
            <a:r>
              <a:rPr lang="en-US" sz="1150" dirty="0">
                <a:solidFill>
                  <a:srgbClr val="C8D8E8"/>
                </a:solidFill>
              </a:rPr>
              <a:t>What does the LLM receive?</a:t>
            </a:r>
            <a:endParaRPr lang="en-US" sz="1400" dirty="0"/>
          </a:p>
        </p:txBody>
      </p:sp>
      <p:sp>
        <p:nvSpPr>
          <p:cNvPr id="8" name="Shape 6"/>
          <p:cNvSpPr/>
          <p:nvPr/>
        </p:nvSpPr>
        <p:spPr>
          <a:xfrm>
            <a:off x="3977640" y="1481328"/>
            <a:ext cx="1188720" cy="594360"/>
          </a:xfrm>
          <a:prstGeom prst="roundRect">
            <a:avLst>
              <a:gd name="adj" fmla="val 12308"/>
            </a:avLst>
          </a:prstGeom>
          <a:solidFill>
            <a:srgbClr val="D4824A"/>
          </a:solidFill>
          <a:ln w="12700">
            <a:solidFill>
              <a:srgbClr val="D4824A"/>
            </a:solidFill>
            <a:prstDash val="solid"/>
          </a:ln>
        </p:spPr>
      </p:sp>
      <p:sp>
        <p:nvSpPr>
          <p:cNvPr id="9" name="Text 7"/>
          <p:cNvSpPr txBox="1"/>
          <p:nvPr/>
        </p:nvSpPr>
        <p:spPr>
          <a:xfrm>
            <a:off x="4087368" y="1481328"/>
            <a:ext cx="969264" cy="594360"/>
          </a:xfrm>
          <a:prstGeom prst="rect">
            <a:avLst/>
          </a:prstGeom>
          <a:noFill/>
          <a:ln/>
        </p:spPr>
        <p:txBody>
          <a:bodyPr wrap="square" lIns="0" tIns="0" rIns="0" bIns="0" rtlCol="0" anchor="ctr"/>
          <a:lstStyle/>
          <a:p>
            <a:pPr marL="0" indent="0" algn="ctr">
              <a:spcAft>
                <a:spcPts val="400"/>
              </a:spcAft>
              <a:buNone/>
            </a:pPr>
            <a:r>
              <a:rPr lang="en-US" sz="1400" b="1" dirty="0">
                <a:solidFill>
                  <a:srgbClr val="FFFFFF"/>
                </a:solidFill>
              </a:rPr>
              <a:t>LLM</a:t>
            </a:r>
            <a:endParaRPr lang="en-US" sz="1400" dirty="0"/>
          </a:p>
        </p:txBody>
      </p:sp>
      <p:sp>
        <p:nvSpPr>
          <p:cNvPr id="10" name="Shape 8"/>
          <p:cNvSpPr/>
          <p:nvPr/>
        </p:nvSpPr>
        <p:spPr>
          <a:xfrm>
            <a:off x="5532120" y="1481328"/>
            <a:ext cx="3108960" cy="594360"/>
          </a:xfrm>
          <a:prstGeom prst="roundRect">
            <a:avLst>
              <a:gd name="adj" fmla="val 12308"/>
            </a:avLst>
          </a:prstGeom>
          <a:solidFill>
            <a:srgbClr val="1B2A4A"/>
          </a:solidFill>
          <a:ln w="12700">
            <a:solidFill>
              <a:srgbClr val="1B2A4A"/>
            </a:solidFill>
            <a:prstDash val="solid"/>
          </a:ln>
        </p:spPr>
      </p:sp>
      <p:sp>
        <p:nvSpPr>
          <p:cNvPr id="11" name="Text 9"/>
          <p:cNvSpPr txBox="1"/>
          <p:nvPr/>
        </p:nvSpPr>
        <p:spPr>
          <a:xfrm>
            <a:off x="5641848" y="1481328"/>
            <a:ext cx="2889504" cy="594360"/>
          </a:xfrm>
          <a:prstGeom prst="rect">
            <a:avLst/>
          </a:prstGeom>
          <a:noFill/>
          <a:ln/>
        </p:spPr>
        <p:txBody>
          <a:bodyPr wrap="square" lIns="0" tIns="0" rIns="0" bIns="0" rtlCol="0" anchor="ctr"/>
          <a:lstStyle/>
          <a:p>
            <a:pPr marL="0" indent="0" algn="ctr">
              <a:spcAft>
                <a:spcPts val="400"/>
              </a:spcAft>
              <a:buNone/>
            </a:pPr>
            <a:r>
              <a:rPr lang="en-US" sz="1400" b="1" dirty="0">
                <a:solidFill>
                  <a:srgbClr val="FFFFFF"/>
                </a:solidFill>
              </a:rPr>
              <a:t>answer</a:t>
            </a:r>
            <a:endParaRPr lang="en-US" sz="1400" dirty="0"/>
          </a:p>
          <a:p>
            <a:pPr marL="0" indent="0" algn="ctr">
              <a:spcAft>
                <a:spcPts val="400"/>
              </a:spcAft>
              <a:buNone/>
            </a:pPr>
            <a:r>
              <a:rPr lang="en-US" sz="1150" dirty="0">
                <a:solidFill>
                  <a:srgbClr val="C8D8E8"/>
                </a:solidFill>
              </a:rPr>
              <a:t>What should it produce?</a:t>
            </a:r>
            <a:endParaRPr lang="en-US" sz="1400" dirty="0"/>
          </a:p>
        </p:txBody>
      </p:sp>
      <p:sp>
        <p:nvSpPr>
          <p:cNvPr id="12" name="Shape 10"/>
          <p:cNvSpPr/>
          <p:nvPr/>
        </p:nvSpPr>
        <p:spPr>
          <a:xfrm>
            <a:off x="3639312" y="1778508"/>
            <a:ext cx="310896" cy="0"/>
          </a:xfrm>
          <a:prstGeom prst="line">
            <a:avLst/>
          </a:prstGeom>
          <a:noFill/>
          <a:ln w="25400">
            <a:solidFill>
              <a:srgbClr val="D4824A"/>
            </a:solidFill>
            <a:prstDash val="solid"/>
            <a:tailEnd type="triangle"/>
          </a:ln>
        </p:spPr>
      </p:sp>
      <p:sp>
        <p:nvSpPr>
          <p:cNvPr id="13" name="Shape 11"/>
          <p:cNvSpPr/>
          <p:nvPr/>
        </p:nvSpPr>
        <p:spPr>
          <a:xfrm>
            <a:off x="5193792" y="1778508"/>
            <a:ext cx="310896" cy="0"/>
          </a:xfrm>
          <a:prstGeom prst="line">
            <a:avLst/>
          </a:prstGeom>
          <a:noFill/>
          <a:ln w="25400">
            <a:solidFill>
              <a:srgbClr val="D4824A"/>
            </a:solidFill>
            <a:prstDash val="solid"/>
            <a:tailEnd type="triangle"/>
          </a:ln>
        </p:spPr>
      </p:sp>
      <p:sp>
        <p:nvSpPr>
          <p:cNvPr id="14" name="Shape 12"/>
          <p:cNvSpPr/>
          <p:nvPr/>
        </p:nvSpPr>
        <p:spPr>
          <a:xfrm>
            <a:off x="502920" y="2240280"/>
            <a:ext cx="3108960" cy="548640"/>
          </a:xfrm>
          <a:prstGeom prst="roundRect">
            <a:avLst>
              <a:gd name="adj" fmla="val 13333"/>
            </a:avLst>
          </a:prstGeom>
          <a:solidFill>
            <a:srgbClr val="F4F6F9"/>
          </a:solidFill>
          <a:ln w="12700">
            <a:solidFill>
              <a:srgbClr val="F4F6F9"/>
            </a:solidFill>
            <a:prstDash val="solid"/>
          </a:ln>
        </p:spPr>
      </p:sp>
      <p:sp>
        <p:nvSpPr>
          <p:cNvPr id="15" name="Text 13"/>
          <p:cNvSpPr txBox="1"/>
          <p:nvPr/>
        </p:nvSpPr>
        <p:spPr>
          <a:xfrm>
            <a:off x="594360" y="2240280"/>
            <a:ext cx="2926080" cy="548640"/>
          </a:xfrm>
          <a:prstGeom prst="rect">
            <a:avLst/>
          </a:prstGeom>
          <a:noFill/>
          <a:ln/>
        </p:spPr>
        <p:txBody>
          <a:bodyPr wrap="square" lIns="0" tIns="0" rIns="0" bIns="0" rtlCol="0" anchor="ctr"/>
          <a:lstStyle/>
          <a:p>
            <a:pPr marL="0" indent="0" algn="ctr">
              <a:buNone/>
            </a:pPr>
            <a:r>
              <a:rPr lang="en-US" sz="1300" i="1" dirty="0">
                <a:solidFill>
                  <a:srgbClr val="1B2A4A"/>
                </a:solidFill>
              </a:rPr>
              <a:t>"What is the capital of Australia?"</a:t>
            </a:r>
            <a:endParaRPr lang="en-US" sz="1300" dirty="0"/>
          </a:p>
        </p:txBody>
      </p:sp>
      <p:sp>
        <p:nvSpPr>
          <p:cNvPr id="16" name="Shape 14"/>
          <p:cNvSpPr/>
          <p:nvPr/>
        </p:nvSpPr>
        <p:spPr>
          <a:xfrm>
            <a:off x="5532120" y="2240280"/>
            <a:ext cx="3108960" cy="548640"/>
          </a:xfrm>
          <a:prstGeom prst="roundRect">
            <a:avLst>
              <a:gd name="adj" fmla="val 13333"/>
            </a:avLst>
          </a:prstGeom>
          <a:solidFill>
            <a:srgbClr val="F4F6F9"/>
          </a:solidFill>
          <a:ln w="12700">
            <a:solidFill>
              <a:srgbClr val="F4F6F9"/>
            </a:solidFill>
            <a:prstDash val="solid"/>
          </a:ln>
        </p:spPr>
      </p:sp>
      <p:sp>
        <p:nvSpPr>
          <p:cNvPr id="17" name="Text 15"/>
          <p:cNvSpPr txBox="1"/>
          <p:nvPr/>
        </p:nvSpPr>
        <p:spPr>
          <a:xfrm>
            <a:off x="5623560" y="2240280"/>
            <a:ext cx="2926080" cy="548640"/>
          </a:xfrm>
          <a:prstGeom prst="rect">
            <a:avLst/>
          </a:prstGeom>
          <a:noFill/>
          <a:ln/>
        </p:spPr>
        <p:txBody>
          <a:bodyPr wrap="square" lIns="0" tIns="0" rIns="0" bIns="0" rtlCol="0" anchor="ctr"/>
          <a:lstStyle/>
          <a:p>
            <a:pPr marL="0" indent="0" algn="ctr">
              <a:buNone/>
            </a:pPr>
            <a:r>
              <a:rPr lang="en-US" sz="1300" i="1" dirty="0">
                <a:solidFill>
                  <a:srgbClr val="1B2A4A"/>
                </a:solidFill>
              </a:rPr>
              <a:t>"Canberra"</a:t>
            </a:r>
            <a:endParaRPr lang="en-US" sz="1300" dirty="0"/>
          </a:p>
        </p:txBody>
      </p:sp>
      <p:sp>
        <p:nvSpPr>
          <p:cNvPr id="18" name="Text 16"/>
          <p:cNvSpPr txBox="1"/>
          <p:nvPr/>
        </p:nvSpPr>
        <p:spPr>
          <a:xfrm>
            <a:off x="502920" y="3017520"/>
            <a:ext cx="8138160" cy="548640"/>
          </a:xfrm>
          <a:prstGeom prst="rect">
            <a:avLst/>
          </a:prstGeom>
          <a:noFill/>
          <a:ln/>
        </p:spPr>
        <p:txBody>
          <a:bodyPr wrap="square" lIns="0" tIns="0" rIns="0" bIns="0" rtlCol="0" anchor="t"/>
          <a:lstStyle/>
          <a:p>
            <a:pPr marL="0" indent="0">
              <a:buNone/>
            </a:pPr>
            <a:r>
              <a:rPr lang="en-US" sz="1300" dirty="0">
                <a:solidFill>
                  <a:srgbClr val="5F6F80"/>
                </a:solidFill>
              </a:rPr>
              <a:t>No prompt text anywhere: the Signature only names what goes in and what comes out. The code is on the next slide.</a:t>
            </a:r>
            <a:endParaRPr lang="en-US" sz="1300" dirty="0"/>
          </a:p>
        </p:txBody>
      </p:sp>
      <p:sp>
        <p:nvSpPr>
          <p:cNvPr id="19" name="Shape 17"/>
          <p:cNvSpPr/>
          <p:nvPr/>
        </p:nvSpPr>
        <p:spPr>
          <a:xfrm>
            <a:off x="502920" y="3840480"/>
            <a:ext cx="8138160" cy="594360"/>
          </a:xfrm>
          <a:prstGeom prst="roundRect">
            <a:avLst>
              <a:gd name="adj" fmla="val 12308"/>
            </a:avLst>
          </a:prstGeom>
          <a:solidFill>
            <a:srgbClr val="FBEFE6"/>
          </a:solidFill>
          <a:ln w="12700">
            <a:solidFill>
              <a:srgbClr val="FBEFE6"/>
            </a:solidFill>
            <a:prstDash val="solid"/>
          </a:ln>
        </p:spPr>
      </p:sp>
      <p:sp>
        <p:nvSpPr>
          <p:cNvPr id="20" name="Text 18"/>
          <p:cNvSpPr txBox="1"/>
          <p:nvPr/>
        </p:nvSpPr>
        <p:spPr>
          <a:xfrm>
            <a:off x="667512" y="3840480"/>
            <a:ext cx="7808976" cy="594360"/>
          </a:xfrm>
          <a:prstGeom prst="rect">
            <a:avLst/>
          </a:prstGeom>
          <a:noFill/>
          <a:ln/>
        </p:spPr>
        <p:txBody>
          <a:bodyPr wrap="square" lIns="0" tIns="0" rIns="0" bIns="0" rtlCol="0" anchor="ctr"/>
          <a:lstStyle/>
          <a:p>
            <a:pPr marL="0" indent="0">
              <a:buNone/>
            </a:pPr>
            <a:r>
              <a:rPr lang="en-US" sz="1000" b="1" kern="0" spc="200" dirty="0">
                <a:solidFill>
                  <a:srgbClr val="D4824A"/>
                </a:solidFill>
              </a:rPr>
              <a:t>KEY POINT  </a:t>
            </a:r>
            <a:r>
              <a:rPr lang="en-US" sz="1300" dirty="0">
                <a:solidFill>
                  <a:srgbClr val="1B2A4A"/>
                </a:solidFill>
              </a:rPr>
              <a:t>A Signature is a contract between your program and the LLM.</a:t>
            </a:r>
            <a:endParaRPr lang="en-US" sz="1000" dirty="0"/>
          </a:p>
        </p:txBody>
      </p:sp>
      <p:sp>
        <p:nvSpPr>
          <p:cNvPr id="25" name="Slide Number Placeholder 0"/>
          <p:cNvSpPr>
            <a:spLocks noGrp="1"/>
          </p:cNvSpPr>
          <p:nvPr>
            <p:ph type="sldNum" sz="quarter" idx="4294967295"/>
          </p:nvPr>
        </p:nvSpPr>
        <p:spPr>
          <a:xfrm>
            <a:off x="8229600" y="4800600"/>
            <a:ext cx="41148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A0B0C0"/>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02920" y="201168"/>
            <a:ext cx="8138160" cy="256032"/>
          </a:xfrm>
          <a:prstGeom prst="rect">
            <a:avLst/>
          </a:prstGeom>
          <a:noFill/>
          <a:ln/>
        </p:spPr>
        <p:txBody>
          <a:bodyPr wrap="square" lIns="0" tIns="0" rIns="0" bIns="0" rtlCol="0" anchor="ctr"/>
          <a:lstStyle/>
          <a:p>
            <a:pPr marL="0" indent="0">
              <a:buNone/>
            </a:pPr>
            <a:r>
              <a:rPr lang="en-US" sz="1000" b="1" kern="0" spc="300" dirty="0">
                <a:solidFill>
                  <a:srgbClr val="D4824A"/>
                </a:solidFill>
              </a:rPr>
              <a:t>DSPY FUNDAMENTALS  ·  4 OF 7</a:t>
            </a:r>
            <a:endParaRPr lang="en-US" sz="1000" dirty="0"/>
          </a:p>
        </p:txBody>
      </p:sp>
      <p:sp>
        <p:nvSpPr>
          <p:cNvPr id="3" name="Text 1"/>
          <p:cNvSpPr>
            <a:spLocks noGrp="1"/>
          </p:cNvSpPr>
          <p:nvPr>
            <p:ph type="title" idx="101" hasCustomPrompt="1"/>
          </p:nvPr>
        </p:nvSpPr>
        <p:spPr>
          <a:xfrm>
            <a:off x="502920" y="457200"/>
            <a:ext cx="8138160" cy="594360"/>
          </a:xfrm>
          <a:prstGeom prst="rect">
            <a:avLst/>
          </a:prstGeom>
          <a:noFill/>
          <a:ln/>
        </p:spPr>
        <p:txBody>
          <a:bodyPr wrap="square" lIns="0" tIns="0" rIns="0" bIns="0" rtlCol="0" anchor="ctr"/>
          <a:lstStyle/>
          <a:p>
            <a:pPr marL="0" indent="0" algn="l">
              <a:buNone/>
            </a:pPr>
            <a:r>
              <a:rPr lang="en-US" sz="2800" b="1" dirty="0">
                <a:solidFill>
                  <a:srgbClr val="1B2A4A"/>
                </a:solidFill>
              </a:rPr>
              <a:t>Your First DSPy Signature</a:t>
            </a:r>
            <a:endParaRPr lang="en-US" sz="2800" dirty="0"/>
          </a:p>
        </p:txBody>
      </p:sp>
      <p:sp>
        <p:nvSpPr>
          <p:cNvPr id="4" name="Shape 2"/>
          <p:cNvSpPr/>
          <p:nvPr/>
        </p:nvSpPr>
        <p:spPr>
          <a:xfrm>
            <a:off x="502920" y="1298448"/>
            <a:ext cx="329184" cy="329184"/>
          </a:xfrm>
          <a:prstGeom prst="ellipse">
            <a:avLst/>
          </a:prstGeom>
          <a:solidFill>
            <a:srgbClr val="1B2A4A"/>
          </a:solidFill>
          <a:ln w="12700">
            <a:solidFill>
              <a:srgbClr val="1B2A4A"/>
            </a:solidFill>
            <a:prstDash val="solid"/>
          </a:ln>
        </p:spPr>
      </p:sp>
      <p:sp>
        <p:nvSpPr>
          <p:cNvPr id="5" name="Text 3"/>
          <p:cNvSpPr txBox="1"/>
          <p:nvPr/>
        </p:nvSpPr>
        <p:spPr>
          <a:xfrm>
            <a:off x="502920" y="1298448"/>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6" name="Text 4"/>
          <p:cNvSpPr txBox="1"/>
          <p:nvPr/>
        </p:nvSpPr>
        <p:spPr>
          <a:xfrm>
            <a:off x="978408" y="1243584"/>
            <a:ext cx="3364992" cy="621792"/>
          </a:xfrm>
          <a:prstGeom prst="rect">
            <a:avLst/>
          </a:prstGeom>
          <a:noFill/>
          <a:ln/>
        </p:spPr>
        <p:txBody>
          <a:bodyPr wrap="square" lIns="0" tIns="0" rIns="0" bIns="0" rtlCol="0" anchor="t"/>
          <a:lstStyle/>
          <a:p>
            <a:pPr marL="0" indent="0">
              <a:spcAft>
                <a:spcPts val="200"/>
              </a:spcAft>
              <a:buNone/>
            </a:pPr>
            <a:r>
              <a:rPr lang="en-US" sz="1500" b="1" dirty="0">
                <a:solidFill>
                  <a:srgbClr val="1B2A4A"/>
                </a:solidFill>
              </a:rPr>
              <a:t>Declare inputs and outputs</a:t>
            </a:r>
            <a:endParaRPr lang="en-US" sz="1500" dirty="0"/>
          </a:p>
          <a:p>
            <a:pPr marL="0" indent="0">
              <a:spcAft>
                <a:spcPts val="200"/>
              </a:spcAft>
              <a:buNone/>
            </a:pPr>
            <a:r>
              <a:rPr lang="en-US" sz="1200" dirty="0">
                <a:solidFill>
                  <a:srgbClr val="5F6F80"/>
                </a:solidFill>
              </a:rPr>
              <a:t>A Signature, not a prompt string</a:t>
            </a:r>
            <a:endParaRPr lang="en-US" sz="1500" dirty="0"/>
          </a:p>
        </p:txBody>
      </p:sp>
      <p:sp>
        <p:nvSpPr>
          <p:cNvPr id="7" name="Shape 5"/>
          <p:cNvSpPr/>
          <p:nvPr/>
        </p:nvSpPr>
        <p:spPr>
          <a:xfrm>
            <a:off x="502920" y="1920240"/>
            <a:ext cx="329184" cy="329184"/>
          </a:xfrm>
          <a:prstGeom prst="ellipse">
            <a:avLst/>
          </a:prstGeom>
          <a:solidFill>
            <a:srgbClr val="1B2A4A"/>
          </a:solidFill>
          <a:ln w="12700">
            <a:solidFill>
              <a:srgbClr val="1B2A4A"/>
            </a:solidFill>
            <a:prstDash val="solid"/>
          </a:ln>
        </p:spPr>
      </p:sp>
      <p:sp>
        <p:nvSpPr>
          <p:cNvPr id="8" name="Text 6"/>
          <p:cNvSpPr txBox="1"/>
          <p:nvPr/>
        </p:nvSpPr>
        <p:spPr>
          <a:xfrm>
            <a:off x="502920" y="192024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9" name="Text 7"/>
          <p:cNvSpPr txBox="1"/>
          <p:nvPr/>
        </p:nvSpPr>
        <p:spPr>
          <a:xfrm>
            <a:off x="978408" y="1865376"/>
            <a:ext cx="3364992" cy="621792"/>
          </a:xfrm>
          <a:prstGeom prst="rect">
            <a:avLst/>
          </a:prstGeom>
          <a:noFill/>
          <a:ln/>
        </p:spPr>
        <p:txBody>
          <a:bodyPr wrap="square" lIns="0" tIns="0" rIns="0" bIns="0" rtlCol="0" anchor="t"/>
          <a:lstStyle/>
          <a:p>
            <a:pPr marL="0" indent="0">
              <a:spcAft>
                <a:spcPts val="200"/>
              </a:spcAft>
              <a:buNone/>
            </a:pPr>
            <a:r>
              <a:rPr lang="en-US" sz="1500" b="1" dirty="0">
                <a:solidFill>
                  <a:srgbClr val="1B2A4A"/>
                </a:solidFill>
              </a:rPr>
              <a:t>The docstring is the instruction</a:t>
            </a:r>
            <a:endParaRPr lang="en-US" sz="1500" dirty="0"/>
          </a:p>
          <a:p>
            <a:pPr marL="0" indent="0">
              <a:spcAft>
                <a:spcPts val="200"/>
              </a:spcAft>
              <a:buNone/>
            </a:pPr>
            <a:r>
              <a:rPr lang="en-US" sz="1200" dirty="0">
                <a:solidFill>
                  <a:srgbClr val="5F6F80"/>
                </a:solidFill>
              </a:rPr>
              <a:t>DSPy writes the actual prompt</a:t>
            </a:r>
            <a:endParaRPr lang="en-US" sz="1500" dirty="0"/>
          </a:p>
        </p:txBody>
      </p:sp>
      <p:sp>
        <p:nvSpPr>
          <p:cNvPr id="10" name="Shape 8"/>
          <p:cNvSpPr/>
          <p:nvPr/>
        </p:nvSpPr>
        <p:spPr>
          <a:xfrm>
            <a:off x="502920" y="2542032"/>
            <a:ext cx="329184" cy="329184"/>
          </a:xfrm>
          <a:prstGeom prst="ellipse">
            <a:avLst/>
          </a:prstGeom>
          <a:solidFill>
            <a:srgbClr val="1B2A4A"/>
          </a:solidFill>
          <a:ln w="12700">
            <a:solidFill>
              <a:srgbClr val="1B2A4A"/>
            </a:solidFill>
            <a:prstDash val="solid"/>
          </a:ln>
        </p:spPr>
      </p:sp>
      <p:sp>
        <p:nvSpPr>
          <p:cNvPr id="11" name="Text 9"/>
          <p:cNvSpPr txBox="1"/>
          <p:nvPr/>
        </p:nvSpPr>
        <p:spPr>
          <a:xfrm>
            <a:off x="502920" y="254203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12" name="Text 10"/>
          <p:cNvSpPr txBox="1"/>
          <p:nvPr/>
        </p:nvSpPr>
        <p:spPr>
          <a:xfrm>
            <a:off x="978408" y="2487168"/>
            <a:ext cx="3364992" cy="621792"/>
          </a:xfrm>
          <a:prstGeom prst="rect">
            <a:avLst/>
          </a:prstGeom>
          <a:noFill/>
          <a:ln/>
        </p:spPr>
        <p:txBody>
          <a:bodyPr wrap="square" lIns="0" tIns="0" rIns="0" bIns="0" rtlCol="0" anchor="t"/>
          <a:lstStyle/>
          <a:p>
            <a:pPr marL="0" indent="0">
              <a:spcAft>
                <a:spcPts val="200"/>
              </a:spcAft>
              <a:buNone/>
            </a:pPr>
            <a:r>
              <a:rPr lang="en-US" sz="1500" b="1" dirty="0">
                <a:solidFill>
                  <a:srgbClr val="1B2A4A"/>
                </a:solidFill>
              </a:rPr>
              <a:t>Optimize against a metric</a:t>
            </a:r>
            <a:endParaRPr lang="en-US" sz="1500" dirty="0"/>
          </a:p>
          <a:p>
            <a:pPr marL="0" indent="0">
              <a:spcAft>
                <a:spcPts val="200"/>
              </a:spcAft>
              <a:buNone/>
            </a:pPr>
            <a:r>
              <a:rPr lang="en-US" sz="1200" dirty="0">
                <a:solidFill>
                  <a:srgbClr val="5F6F80"/>
                </a:solidFill>
              </a:rPr>
              <a:t>Dataset + metric = better prompts</a:t>
            </a:r>
            <a:endParaRPr lang="en-US" sz="1500" dirty="0"/>
          </a:p>
        </p:txBody>
      </p:sp>
      <p:sp>
        <p:nvSpPr>
          <p:cNvPr id="13" name="Shape 11"/>
          <p:cNvSpPr/>
          <p:nvPr/>
        </p:nvSpPr>
        <p:spPr>
          <a:xfrm>
            <a:off x="502920" y="3163824"/>
            <a:ext cx="329184" cy="329184"/>
          </a:xfrm>
          <a:prstGeom prst="ellipse">
            <a:avLst/>
          </a:prstGeom>
          <a:solidFill>
            <a:srgbClr val="1B2A4A"/>
          </a:solidFill>
          <a:ln w="12700">
            <a:solidFill>
              <a:srgbClr val="1B2A4A"/>
            </a:solidFill>
            <a:prstDash val="solid"/>
          </a:ln>
        </p:spPr>
      </p:sp>
      <p:sp>
        <p:nvSpPr>
          <p:cNvPr id="14" name="Text 12"/>
          <p:cNvSpPr txBox="1"/>
          <p:nvPr/>
        </p:nvSpPr>
        <p:spPr>
          <a:xfrm>
            <a:off x="502920" y="316382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15" name="Text 13"/>
          <p:cNvSpPr txBox="1"/>
          <p:nvPr/>
        </p:nvSpPr>
        <p:spPr>
          <a:xfrm>
            <a:off x="978408" y="3108960"/>
            <a:ext cx="3364992" cy="621792"/>
          </a:xfrm>
          <a:prstGeom prst="rect">
            <a:avLst/>
          </a:prstGeom>
          <a:noFill/>
          <a:ln/>
        </p:spPr>
        <p:txBody>
          <a:bodyPr wrap="square" lIns="0" tIns="0" rIns="0" bIns="0" rtlCol="0" anchor="t"/>
          <a:lstStyle/>
          <a:p>
            <a:pPr marL="0" indent="0">
              <a:spcAft>
                <a:spcPts val="200"/>
              </a:spcAft>
              <a:buNone/>
            </a:pPr>
            <a:r>
              <a:rPr lang="en-US" sz="1500" b="1" dirty="0">
                <a:solidFill>
                  <a:srgbClr val="1B2A4A"/>
                </a:solidFill>
              </a:rPr>
              <a:t>Save the result as JSON</a:t>
            </a:r>
            <a:endParaRPr lang="en-US" sz="1500" dirty="0"/>
          </a:p>
          <a:p>
            <a:pPr marL="0" indent="0">
              <a:spcAft>
                <a:spcPts val="200"/>
              </a:spcAft>
              <a:buNone/>
            </a:pPr>
            <a:r>
              <a:rPr lang="en-US" sz="1200" dirty="0">
                <a:solidFill>
                  <a:srgbClr val="5F6F80"/>
                </a:solidFill>
              </a:rPr>
              <a:t>Version it, reload it, reuse it</a:t>
            </a:r>
            <a:endParaRPr lang="en-US" sz="1500" dirty="0"/>
          </a:p>
        </p:txBody>
      </p:sp>
      <p:sp>
        <p:nvSpPr>
          <p:cNvPr id="16" name="Shape 14"/>
          <p:cNvSpPr/>
          <p:nvPr/>
        </p:nvSpPr>
        <p:spPr>
          <a:xfrm>
            <a:off x="502920" y="3913632"/>
            <a:ext cx="3840480" cy="658368"/>
          </a:xfrm>
          <a:prstGeom prst="roundRect">
            <a:avLst>
              <a:gd name="adj" fmla="val 11111"/>
            </a:avLst>
          </a:prstGeom>
          <a:solidFill>
            <a:srgbClr val="FBEFE6"/>
          </a:solidFill>
          <a:ln w="12700">
            <a:solidFill>
              <a:srgbClr val="FBEFE6"/>
            </a:solidFill>
            <a:prstDash val="solid"/>
          </a:ln>
        </p:spPr>
      </p:sp>
      <p:sp>
        <p:nvSpPr>
          <p:cNvPr id="17" name="Text 15"/>
          <p:cNvSpPr txBox="1"/>
          <p:nvPr/>
        </p:nvSpPr>
        <p:spPr>
          <a:xfrm>
            <a:off x="667512" y="3913632"/>
            <a:ext cx="3511296" cy="658368"/>
          </a:xfrm>
          <a:prstGeom prst="rect">
            <a:avLst/>
          </a:prstGeom>
          <a:noFill/>
          <a:ln/>
        </p:spPr>
        <p:txBody>
          <a:bodyPr wrap="square" lIns="0" tIns="0" rIns="0" bIns="0" rtlCol="0" anchor="ctr"/>
          <a:lstStyle/>
          <a:p>
            <a:pPr marL="0" indent="0">
              <a:buNone/>
            </a:pPr>
            <a:r>
              <a:rPr lang="en-US" sz="1000" b="1" kern="0" spc="200" dirty="0">
                <a:solidFill>
                  <a:srgbClr val="D4824A"/>
                </a:solidFill>
              </a:rPr>
              <a:t>KEY POINT  </a:t>
            </a:r>
            <a:r>
              <a:rPr lang="en-US" sz="1300" dirty="0">
                <a:solidFill>
                  <a:srgbClr val="1B2A4A"/>
                </a:solidFill>
              </a:rPr>
              <a:t>That's already a working DSPy program: no prompt written, no optimizer yet.</a:t>
            </a:r>
            <a:endParaRPr lang="en-US" sz="1000" dirty="0"/>
          </a:p>
        </p:txBody>
      </p:sp>
      <p:sp>
        <p:nvSpPr>
          <p:cNvPr id="18" name="Shape 16"/>
          <p:cNvSpPr/>
          <p:nvPr/>
        </p:nvSpPr>
        <p:spPr>
          <a:xfrm>
            <a:off x="4572000" y="1188720"/>
            <a:ext cx="4069080" cy="3383280"/>
          </a:xfrm>
          <a:prstGeom prst="roundRect">
            <a:avLst>
              <a:gd name="adj" fmla="val 2162"/>
            </a:avLst>
          </a:prstGeom>
          <a:solidFill>
            <a:srgbClr val="1B2A4A"/>
          </a:solidFill>
          <a:ln w="12700">
            <a:solidFill>
              <a:srgbClr val="1B2A4A"/>
            </a:solidFill>
            <a:prstDash val="solid"/>
          </a:ln>
        </p:spPr>
      </p:sp>
      <p:sp>
        <p:nvSpPr>
          <p:cNvPr id="19" name="Text 17"/>
          <p:cNvSpPr txBox="1"/>
          <p:nvPr/>
        </p:nvSpPr>
        <p:spPr>
          <a:xfrm>
            <a:off x="4773168" y="1316736"/>
            <a:ext cx="3666744" cy="292608"/>
          </a:xfrm>
          <a:prstGeom prst="rect">
            <a:avLst/>
          </a:prstGeom>
          <a:noFill/>
          <a:ln/>
        </p:spPr>
        <p:txBody>
          <a:bodyPr wrap="square" lIns="0" tIns="0" rIns="0" bIns="0" rtlCol="0" anchor="ctr"/>
          <a:lstStyle/>
          <a:p>
            <a:pPr marL="0" indent="0">
              <a:buNone/>
            </a:pPr>
            <a:r>
              <a:rPr lang="en-US" sz="900" b="1" kern="0" spc="200" dirty="0">
                <a:solidFill>
                  <a:srgbClr val="D4824A"/>
                </a:solidFill>
              </a:rPr>
              <a:t>EXAMPLE  </a:t>
            </a:r>
            <a:r>
              <a:rPr lang="en-US" sz="1200" b="1" dirty="0">
                <a:solidFill>
                  <a:srgbClr val="FFFFFF"/>
                </a:solidFill>
              </a:rPr>
              <a:t>A signature (demo 01)</a:t>
            </a:r>
            <a:endParaRPr lang="en-US" sz="900" dirty="0"/>
          </a:p>
        </p:txBody>
      </p:sp>
      <p:sp>
        <p:nvSpPr>
          <p:cNvPr id="20" name="Text 18"/>
          <p:cNvSpPr txBox="1"/>
          <p:nvPr/>
        </p:nvSpPr>
        <p:spPr>
          <a:xfrm>
            <a:off x="4773168" y="1700784"/>
            <a:ext cx="3703320" cy="2743200"/>
          </a:xfrm>
          <a:prstGeom prst="rect">
            <a:avLst/>
          </a:prstGeom>
          <a:noFill/>
          <a:ln/>
        </p:spPr>
        <p:txBody>
          <a:bodyPr wrap="square" lIns="0" tIns="0" rIns="0" bIns="0" rtlCol="0" anchor="t"/>
          <a:lstStyle/>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class QA(dspy.Signature):</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"""Answer the question."""</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question: str = dspy.InputField()</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answer: str = dspy.OutputField()</a:t>
            </a:r>
            <a:endParaRPr lang="en-US" sz="1050" dirty="0"/>
          </a:p>
          <a:p>
            <a:pPr marL="0" indent="0">
              <a:lnSpc>
                <a:spcPct val="100000"/>
              </a:lnSpc>
              <a:buNone/>
            </a:pP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qa = dspy.Predict(QA)</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result = qa(question=</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"What is the capital of Australia?")</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print(result.answer)   # Canberra</a:t>
            </a:r>
            <a:endParaRPr lang="en-US" sz="1050" dirty="0"/>
          </a:p>
          <a:p>
            <a:pPr marL="0" indent="0">
              <a:lnSpc>
                <a:spcPct val="100000"/>
              </a:lnSpc>
              <a:buNone/>
            </a:pP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question --&gt; LLM --&gt; answer</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InputField           OutputField</a:t>
            </a:r>
            <a:endParaRPr lang="en-US" sz="1050" dirty="0"/>
          </a:p>
        </p:txBody>
      </p:sp>
      <p:sp>
        <p:nvSpPr>
          <p:cNvPr id="25" name="Slide Number Placeholder 0"/>
          <p:cNvSpPr>
            <a:spLocks noGrp="1"/>
          </p:cNvSpPr>
          <p:nvPr>
            <p:ph type="sldNum" sz="quarter" idx="4294967295"/>
          </p:nvPr>
        </p:nvSpPr>
        <p:spPr>
          <a:xfrm>
            <a:off x="8229600" y="4800600"/>
            <a:ext cx="41148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A0B0C0"/>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02920" y="201168"/>
            <a:ext cx="8138160" cy="256032"/>
          </a:xfrm>
          <a:prstGeom prst="rect">
            <a:avLst/>
          </a:prstGeom>
          <a:noFill/>
          <a:ln/>
        </p:spPr>
        <p:txBody>
          <a:bodyPr wrap="square" lIns="0" tIns="0" rIns="0" bIns="0" rtlCol="0" anchor="ctr"/>
          <a:lstStyle/>
          <a:p>
            <a:pPr marL="0" indent="0">
              <a:buNone/>
            </a:pPr>
            <a:r>
              <a:rPr lang="en-US" sz="1000" b="1" kern="0" spc="300" dirty="0">
                <a:solidFill>
                  <a:srgbClr val="D4824A"/>
                </a:solidFill>
              </a:rPr>
              <a:t>DSPY FUNDAMENTALS  ·  5 OF 7</a:t>
            </a:r>
            <a:endParaRPr lang="en-US" sz="1000" dirty="0"/>
          </a:p>
        </p:txBody>
      </p:sp>
      <p:sp>
        <p:nvSpPr>
          <p:cNvPr id="3" name="Text 1"/>
          <p:cNvSpPr>
            <a:spLocks noGrp="1"/>
          </p:cNvSpPr>
          <p:nvPr>
            <p:ph type="title" idx="101" hasCustomPrompt="1"/>
          </p:nvPr>
        </p:nvSpPr>
        <p:spPr>
          <a:xfrm>
            <a:off x="502920" y="457200"/>
            <a:ext cx="8138160" cy="594360"/>
          </a:xfrm>
          <a:prstGeom prst="rect">
            <a:avLst/>
          </a:prstGeom>
          <a:noFill/>
          <a:ln/>
        </p:spPr>
        <p:txBody>
          <a:bodyPr wrap="square" lIns="0" tIns="0" rIns="0" bIns="0" rtlCol="0" anchor="ctr"/>
          <a:lstStyle/>
          <a:p>
            <a:pPr marL="0" indent="0" algn="l">
              <a:buNone/>
            </a:pPr>
            <a:r>
              <a:rPr lang="en-US" sz="2800" b="1" dirty="0">
                <a:solidFill>
                  <a:srgbClr val="1B2A4A"/>
                </a:solidFill>
              </a:rPr>
              <a:t>Module = How the Task Is Done</a:t>
            </a:r>
            <a:endParaRPr lang="en-US" sz="2800" dirty="0"/>
          </a:p>
        </p:txBody>
      </p:sp>
      <p:sp>
        <p:nvSpPr>
          <p:cNvPr id="4" name="Shape 2"/>
          <p:cNvSpPr/>
          <p:nvPr/>
        </p:nvSpPr>
        <p:spPr>
          <a:xfrm>
            <a:off x="502920" y="1280160"/>
            <a:ext cx="2468880" cy="1188720"/>
          </a:xfrm>
          <a:prstGeom prst="roundRect">
            <a:avLst>
              <a:gd name="adj" fmla="val 6154"/>
            </a:avLst>
          </a:prstGeom>
          <a:solidFill>
            <a:srgbClr val="1B2A4A"/>
          </a:solidFill>
          <a:ln w="12700">
            <a:solidFill>
              <a:srgbClr val="1B2A4A"/>
            </a:solidFill>
            <a:prstDash val="solid"/>
          </a:ln>
        </p:spPr>
      </p:sp>
      <p:sp>
        <p:nvSpPr>
          <p:cNvPr id="5" name="Text 3"/>
          <p:cNvSpPr txBox="1"/>
          <p:nvPr/>
        </p:nvSpPr>
        <p:spPr>
          <a:xfrm>
            <a:off x="612648" y="1280160"/>
            <a:ext cx="2249424" cy="1188720"/>
          </a:xfrm>
          <a:prstGeom prst="rect">
            <a:avLst/>
          </a:prstGeom>
          <a:noFill/>
          <a:ln/>
        </p:spPr>
        <p:txBody>
          <a:bodyPr wrap="square" lIns="0" tIns="0" rIns="0" bIns="0" rtlCol="0" anchor="ctr"/>
          <a:lstStyle/>
          <a:p>
            <a:pPr marL="0" indent="0" algn="ctr">
              <a:spcAft>
                <a:spcPts val="400"/>
              </a:spcAft>
              <a:buNone/>
            </a:pPr>
            <a:r>
              <a:rPr lang="en-US" sz="1400" b="1" dirty="0">
                <a:solidFill>
                  <a:srgbClr val="FFFFFF"/>
                </a:solidFill>
              </a:rPr>
              <a:t>Signature</a:t>
            </a:r>
            <a:endParaRPr lang="en-US" sz="1400" dirty="0"/>
          </a:p>
          <a:p>
            <a:pPr marL="0" indent="0" algn="ctr">
              <a:spcAft>
                <a:spcPts val="400"/>
              </a:spcAft>
              <a:buNone/>
            </a:pPr>
            <a:r>
              <a:rPr lang="en-US" sz="1150" dirty="0">
                <a:solidFill>
                  <a:srgbClr val="C8D8E8"/>
                </a:solidFill>
              </a:rPr>
              <a:t>WHAT do I want?</a:t>
            </a:r>
            <a:endParaRPr lang="en-US" sz="1400" dirty="0"/>
          </a:p>
          <a:p>
            <a:pPr marL="0" indent="0" algn="ctr">
              <a:spcAft>
                <a:spcPts val="400"/>
              </a:spcAft>
              <a:buNone/>
            </a:pPr>
            <a:r>
              <a:rPr lang="en-US" sz="1150" dirty="0">
                <a:solidFill>
                  <a:srgbClr val="C8D8E8"/>
                </a:solidFill>
              </a:rPr>
              <a:t>question → answer</a:t>
            </a:r>
            <a:endParaRPr lang="en-US" sz="1400" dirty="0"/>
          </a:p>
        </p:txBody>
      </p:sp>
      <p:sp>
        <p:nvSpPr>
          <p:cNvPr id="6" name="Text 4"/>
          <p:cNvSpPr txBox="1"/>
          <p:nvPr/>
        </p:nvSpPr>
        <p:spPr>
          <a:xfrm>
            <a:off x="2971800" y="1280160"/>
            <a:ext cx="365760" cy="1188720"/>
          </a:xfrm>
          <a:prstGeom prst="rect">
            <a:avLst/>
          </a:prstGeom>
          <a:noFill/>
          <a:ln/>
        </p:spPr>
        <p:txBody>
          <a:bodyPr wrap="square" lIns="0" tIns="0" rIns="0" bIns="0" rtlCol="0" anchor="ctr"/>
          <a:lstStyle/>
          <a:p>
            <a:pPr marL="0" indent="0" algn="ctr">
              <a:buNone/>
            </a:pPr>
            <a:r>
              <a:rPr lang="en-US" sz="2600" b="1" dirty="0">
                <a:solidFill>
                  <a:srgbClr val="D4824A"/>
                </a:solidFill>
              </a:rPr>
              <a:t>+</a:t>
            </a:r>
            <a:endParaRPr lang="en-US" sz="2600" dirty="0"/>
          </a:p>
        </p:txBody>
      </p:sp>
      <p:sp>
        <p:nvSpPr>
          <p:cNvPr id="7" name="Shape 5"/>
          <p:cNvSpPr/>
          <p:nvPr/>
        </p:nvSpPr>
        <p:spPr>
          <a:xfrm>
            <a:off x="3337560" y="1280160"/>
            <a:ext cx="2468880" cy="1188720"/>
          </a:xfrm>
          <a:prstGeom prst="roundRect">
            <a:avLst>
              <a:gd name="adj" fmla="val 6154"/>
            </a:avLst>
          </a:prstGeom>
          <a:solidFill>
            <a:srgbClr val="D4824A"/>
          </a:solidFill>
          <a:ln w="12700">
            <a:solidFill>
              <a:srgbClr val="D4824A"/>
            </a:solidFill>
            <a:prstDash val="solid"/>
          </a:ln>
        </p:spPr>
      </p:sp>
      <p:sp>
        <p:nvSpPr>
          <p:cNvPr id="8" name="Text 6"/>
          <p:cNvSpPr txBox="1"/>
          <p:nvPr/>
        </p:nvSpPr>
        <p:spPr>
          <a:xfrm>
            <a:off x="3447288" y="1280160"/>
            <a:ext cx="2249424" cy="1188720"/>
          </a:xfrm>
          <a:prstGeom prst="rect">
            <a:avLst/>
          </a:prstGeom>
          <a:noFill/>
          <a:ln/>
        </p:spPr>
        <p:txBody>
          <a:bodyPr wrap="square" lIns="0" tIns="0" rIns="0" bIns="0" rtlCol="0" anchor="ctr"/>
          <a:lstStyle/>
          <a:p>
            <a:pPr marL="0" indent="0" algn="ctr">
              <a:spcAft>
                <a:spcPts val="400"/>
              </a:spcAft>
              <a:buNone/>
            </a:pPr>
            <a:r>
              <a:rPr lang="en-US" sz="1400" b="1" dirty="0">
                <a:solidFill>
                  <a:srgbClr val="FFFFFF"/>
                </a:solidFill>
              </a:rPr>
              <a:t>Module</a:t>
            </a:r>
            <a:endParaRPr lang="en-US" sz="1400" dirty="0"/>
          </a:p>
          <a:p>
            <a:pPr marL="0" indent="0" algn="ctr">
              <a:spcAft>
                <a:spcPts val="400"/>
              </a:spcAft>
              <a:buNone/>
            </a:pPr>
            <a:r>
              <a:rPr lang="en-US" sz="1150" dirty="0">
                <a:solidFill>
                  <a:srgbClr val="FFFFFF"/>
                </a:solidFill>
              </a:rPr>
              <a:t>HOW should the LLM do it?</a:t>
            </a:r>
            <a:endParaRPr lang="en-US" sz="1400" dirty="0"/>
          </a:p>
          <a:p>
            <a:pPr marL="0" indent="0" algn="ctr">
              <a:spcAft>
                <a:spcPts val="400"/>
              </a:spcAft>
              <a:buNone/>
            </a:pPr>
            <a:r>
              <a:rPr lang="en-US" sz="1150" dirty="0">
                <a:solidFill>
                  <a:srgbClr val="FFFFFF"/>
                </a:solidFill>
              </a:rPr>
              <a:t>Predict · ChainOfThought · ReAct</a:t>
            </a:r>
            <a:endParaRPr lang="en-US" sz="1400" dirty="0"/>
          </a:p>
        </p:txBody>
      </p:sp>
      <p:sp>
        <p:nvSpPr>
          <p:cNvPr id="9" name="Shape 7"/>
          <p:cNvSpPr/>
          <p:nvPr/>
        </p:nvSpPr>
        <p:spPr>
          <a:xfrm>
            <a:off x="5852160" y="1874520"/>
            <a:ext cx="274320" cy="0"/>
          </a:xfrm>
          <a:prstGeom prst="line">
            <a:avLst/>
          </a:prstGeom>
          <a:noFill/>
          <a:ln w="25400">
            <a:solidFill>
              <a:srgbClr val="D4824A"/>
            </a:solidFill>
            <a:prstDash val="solid"/>
            <a:tailEnd type="triangle"/>
          </a:ln>
        </p:spPr>
      </p:sp>
      <p:sp>
        <p:nvSpPr>
          <p:cNvPr id="10" name="Shape 8"/>
          <p:cNvSpPr/>
          <p:nvPr/>
        </p:nvSpPr>
        <p:spPr>
          <a:xfrm>
            <a:off x="6172200" y="1280160"/>
            <a:ext cx="2468880" cy="1188720"/>
          </a:xfrm>
          <a:prstGeom prst="roundRect">
            <a:avLst>
              <a:gd name="adj" fmla="val 6154"/>
            </a:avLst>
          </a:prstGeom>
          <a:solidFill>
            <a:srgbClr val="F4F6F9"/>
          </a:solidFill>
          <a:ln w="12700">
            <a:solidFill>
              <a:srgbClr val="F4F6F9"/>
            </a:solidFill>
            <a:prstDash val="solid"/>
          </a:ln>
        </p:spPr>
      </p:sp>
      <p:sp>
        <p:nvSpPr>
          <p:cNvPr id="11" name="Text 9"/>
          <p:cNvSpPr txBox="1"/>
          <p:nvPr/>
        </p:nvSpPr>
        <p:spPr>
          <a:xfrm>
            <a:off x="6281928" y="1280160"/>
            <a:ext cx="2249424" cy="1188720"/>
          </a:xfrm>
          <a:prstGeom prst="rect">
            <a:avLst/>
          </a:prstGeom>
          <a:noFill/>
          <a:ln/>
        </p:spPr>
        <p:txBody>
          <a:bodyPr wrap="square" lIns="0" tIns="0" rIns="0" bIns="0" rtlCol="0" anchor="ctr"/>
          <a:lstStyle/>
          <a:p>
            <a:pPr marL="0" indent="0" algn="ctr">
              <a:spcAft>
                <a:spcPts val="400"/>
              </a:spcAft>
              <a:buNone/>
            </a:pPr>
            <a:r>
              <a:rPr lang="en-US" sz="1400" b="1" dirty="0">
                <a:solidFill>
                  <a:srgbClr val="1B2A4A"/>
                </a:solidFill>
              </a:rPr>
              <a:t>LLM call</a:t>
            </a:r>
            <a:endParaRPr lang="en-US" sz="1400" dirty="0"/>
          </a:p>
          <a:p>
            <a:pPr marL="0" indent="0" algn="ctr">
              <a:spcAft>
                <a:spcPts val="400"/>
              </a:spcAft>
              <a:buNone/>
            </a:pPr>
            <a:r>
              <a:rPr lang="en-US" sz="1150" dirty="0">
                <a:solidFill>
                  <a:srgbClr val="5F6F80"/>
                </a:solidFill>
              </a:rPr>
              <a:t>DSPy builds the prompt</a:t>
            </a:r>
            <a:endParaRPr lang="en-US" sz="1400" dirty="0"/>
          </a:p>
          <a:p>
            <a:pPr marL="0" indent="0" algn="ctr">
              <a:spcAft>
                <a:spcPts val="400"/>
              </a:spcAft>
              <a:buNone/>
            </a:pPr>
            <a:r>
              <a:rPr lang="en-US" sz="1150" dirty="0">
                <a:solidFill>
                  <a:srgbClr val="5F6F80"/>
                </a:solidFill>
              </a:rPr>
              <a:t>from both</a:t>
            </a:r>
            <a:endParaRPr lang="en-US" sz="1400" dirty="0"/>
          </a:p>
        </p:txBody>
      </p:sp>
      <p:sp>
        <p:nvSpPr>
          <p:cNvPr id="12" name="Text 10"/>
          <p:cNvSpPr txBox="1"/>
          <p:nvPr/>
        </p:nvSpPr>
        <p:spPr>
          <a:xfrm>
            <a:off x="502920" y="2697480"/>
            <a:ext cx="8138160" cy="256032"/>
          </a:xfrm>
          <a:prstGeom prst="rect">
            <a:avLst/>
          </a:prstGeom>
          <a:noFill/>
          <a:ln/>
        </p:spPr>
        <p:txBody>
          <a:bodyPr wrap="square" lIns="0" tIns="0" rIns="0" bIns="0" rtlCol="0" anchor="ctr"/>
          <a:lstStyle/>
          <a:p>
            <a:pPr marL="0" indent="0">
              <a:buNone/>
            </a:pPr>
            <a:r>
              <a:rPr lang="en-US" sz="1000" b="1" kern="0" spc="300" dirty="0">
                <a:solidFill>
                  <a:srgbClr val="D4824A"/>
                </a:solidFill>
              </a:rPr>
              <a:t>THINK OF IT LIKE COOKING</a:t>
            </a:r>
            <a:endParaRPr lang="en-US" sz="1000" dirty="0"/>
          </a:p>
        </p:txBody>
      </p:sp>
      <p:sp>
        <p:nvSpPr>
          <p:cNvPr id="13" name="Shape 11"/>
          <p:cNvSpPr/>
          <p:nvPr/>
        </p:nvSpPr>
        <p:spPr>
          <a:xfrm>
            <a:off x="502920" y="2999232"/>
            <a:ext cx="3977640" cy="548640"/>
          </a:xfrm>
          <a:prstGeom prst="roundRect">
            <a:avLst>
              <a:gd name="adj" fmla="val 13333"/>
            </a:avLst>
          </a:prstGeom>
          <a:solidFill>
            <a:srgbClr val="F4F6F9"/>
          </a:solidFill>
          <a:ln w="12700">
            <a:solidFill>
              <a:srgbClr val="F4F6F9"/>
            </a:solidFill>
            <a:prstDash val="solid"/>
          </a:ln>
        </p:spPr>
      </p:sp>
      <p:sp>
        <p:nvSpPr>
          <p:cNvPr id="14" name="Text 12"/>
          <p:cNvSpPr txBox="1"/>
          <p:nvPr/>
        </p:nvSpPr>
        <p:spPr>
          <a:xfrm>
            <a:off x="685800" y="2999232"/>
            <a:ext cx="3657600" cy="548640"/>
          </a:xfrm>
          <a:prstGeom prst="rect">
            <a:avLst/>
          </a:prstGeom>
          <a:noFill/>
          <a:ln/>
        </p:spPr>
        <p:txBody>
          <a:bodyPr wrap="square" lIns="0" tIns="0" rIns="0" bIns="0" rtlCol="0" anchor="ctr"/>
          <a:lstStyle/>
          <a:p>
            <a:pPr marL="0" indent="0">
              <a:buNone/>
            </a:pPr>
            <a:r>
              <a:rPr lang="en-US" sz="1500" b="1" dirty="0">
                <a:solidFill>
                  <a:srgbClr val="1B2A4A"/>
                </a:solidFill>
              </a:rPr>
              <a:t>Signature </a:t>
            </a:r>
            <a:r>
              <a:rPr lang="en-US" sz="1500" dirty="0">
                <a:solidFill>
                  <a:srgbClr val="1B2A4A"/>
                </a:solidFill>
              </a:rPr>
              <a:t>= the dish you want</a:t>
            </a:r>
            <a:endParaRPr lang="en-US" sz="1500" dirty="0"/>
          </a:p>
        </p:txBody>
      </p:sp>
      <p:sp>
        <p:nvSpPr>
          <p:cNvPr id="15" name="Shape 13"/>
          <p:cNvSpPr/>
          <p:nvPr/>
        </p:nvSpPr>
        <p:spPr>
          <a:xfrm>
            <a:off x="4663440" y="2999232"/>
            <a:ext cx="3977640" cy="548640"/>
          </a:xfrm>
          <a:prstGeom prst="roundRect">
            <a:avLst>
              <a:gd name="adj" fmla="val 13333"/>
            </a:avLst>
          </a:prstGeom>
          <a:solidFill>
            <a:srgbClr val="F4F6F9"/>
          </a:solidFill>
          <a:ln w="12700">
            <a:solidFill>
              <a:srgbClr val="F4F6F9"/>
            </a:solidFill>
            <a:prstDash val="solid"/>
          </a:ln>
        </p:spPr>
      </p:sp>
      <p:sp>
        <p:nvSpPr>
          <p:cNvPr id="16" name="Text 14"/>
          <p:cNvSpPr txBox="1"/>
          <p:nvPr/>
        </p:nvSpPr>
        <p:spPr>
          <a:xfrm>
            <a:off x="4846320" y="2999232"/>
            <a:ext cx="3657600" cy="548640"/>
          </a:xfrm>
          <a:prstGeom prst="rect">
            <a:avLst/>
          </a:prstGeom>
          <a:noFill/>
          <a:ln/>
        </p:spPr>
        <p:txBody>
          <a:bodyPr wrap="square" lIns="0" tIns="0" rIns="0" bIns="0" rtlCol="0" anchor="ctr"/>
          <a:lstStyle/>
          <a:p>
            <a:pPr marL="0" indent="0">
              <a:buNone/>
            </a:pPr>
            <a:r>
              <a:rPr lang="en-US" sz="1500" b="1" dirty="0">
                <a:solidFill>
                  <a:srgbClr val="1B2A4A"/>
                </a:solidFill>
              </a:rPr>
              <a:t>Module </a:t>
            </a:r>
            <a:r>
              <a:rPr lang="en-US" sz="1500" dirty="0">
                <a:solidFill>
                  <a:srgbClr val="1B2A4A"/>
                </a:solidFill>
              </a:rPr>
              <a:t>= the cooking method</a:t>
            </a:r>
            <a:endParaRPr lang="en-US" sz="1500" dirty="0"/>
          </a:p>
        </p:txBody>
      </p:sp>
      <p:sp>
        <p:nvSpPr>
          <p:cNvPr id="17" name="Shape 15"/>
          <p:cNvSpPr/>
          <p:nvPr/>
        </p:nvSpPr>
        <p:spPr>
          <a:xfrm>
            <a:off x="502920" y="3840480"/>
            <a:ext cx="8138160" cy="594360"/>
          </a:xfrm>
          <a:prstGeom prst="roundRect">
            <a:avLst>
              <a:gd name="adj" fmla="val 12308"/>
            </a:avLst>
          </a:prstGeom>
          <a:solidFill>
            <a:srgbClr val="FBEFE6"/>
          </a:solidFill>
          <a:ln w="12700">
            <a:solidFill>
              <a:srgbClr val="FBEFE6"/>
            </a:solidFill>
            <a:prstDash val="solid"/>
          </a:ln>
        </p:spPr>
      </p:sp>
      <p:sp>
        <p:nvSpPr>
          <p:cNvPr id="18" name="Text 16"/>
          <p:cNvSpPr txBox="1"/>
          <p:nvPr/>
        </p:nvSpPr>
        <p:spPr>
          <a:xfrm>
            <a:off x="667512" y="3840480"/>
            <a:ext cx="7808976" cy="594360"/>
          </a:xfrm>
          <a:prstGeom prst="rect">
            <a:avLst/>
          </a:prstGeom>
          <a:noFill/>
          <a:ln/>
        </p:spPr>
        <p:txBody>
          <a:bodyPr wrap="square" lIns="0" tIns="0" rIns="0" bIns="0" rtlCol="0" anchor="ctr"/>
          <a:lstStyle/>
          <a:p>
            <a:pPr marL="0" indent="0">
              <a:buNone/>
            </a:pPr>
            <a:r>
              <a:rPr lang="en-US" sz="1000" b="1" kern="0" spc="200" dirty="0">
                <a:solidFill>
                  <a:srgbClr val="D4824A"/>
                </a:solidFill>
              </a:rPr>
              <a:t>KEY POINT  </a:t>
            </a:r>
            <a:r>
              <a:rPr lang="en-US" sz="1300" dirty="0">
                <a:solidFill>
                  <a:srgbClr val="1B2A4A"/>
                </a:solidFill>
              </a:rPr>
              <a:t>Same Signature + a different Module = same task, different strategy.</a:t>
            </a:r>
            <a:endParaRPr lang="en-US" sz="1000" dirty="0"/>
          </a:p>
        </p:txBody>
      </p:sp>
      <p:sp>
        <p:nvSpPr>
          <p:cNvPr id="25" name="Slide Number Placeholder 0"/>
          <p:cNvSpPr>
            <a:spLocks noGrp="1"/>
          </p:cNvSpPr>
          <p:nvPr>
            <p:ph type="sldNum" sz="quarter" idx="4294967295"/>
          </p:nvPr>
        </p:nvSpPr>
        <p:spPr>
          <a:xfrm>
            <a:off x="8229600" y="4800600"/>
            <a:ext cx="41148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A0B0C0"/>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02920" y="201168"/>
            <a:ext cx="8138160" cy="256032"/>
          </a:xfrm>
          <a:prstGeom prst="rect">
            <a:avLst/>
          </a:prstGeom>
          <a:noFill/>
          <a:ln/>
        </p:spPr>
        <p:txBody>
          <a:bodyPr wrap="square" lIns="0" tIns="0" rIns="0" bIns="0" rtlCol="0" anchor="ctr"/>
          <a:lstStyle/>
          <a:p>
            <a:pPr marL="0" indent="0">
              <a:buNone/>
            </a:pPr>
            <a:r>
              <a:rPr lang="en-US" sz="1000" b="1" kern="0" spc="300" dirty="0">
                <a:solidFill>
                  <a:srgbClr val="D4824A"/>
                </a:solidFill>
              </a:rPr>
              <a:t>DSPY FUNDAMENTALS  ·  6 OF 7</a:t>
            </a:r>
            <a:endParaRPr lang="en-US" sz="1000" dirty="0"/>
          </a:p>
        </p:txBody>
      </p:sp>
      <p:sp>
        <p:nvSpPr>
          <p:cNvPr id="3" name="Text 1"/>
          <p:cNvSpPr>
            <a:spLocks noGrp="1"/>
          </p:cNvSpPr>
          <p:nvPr>
            <p:ph type="title" idx="101" hasCustomPrompt="1"/>
          </p:nvPr>
        </p:nvSpPr>
        <p:spPr>
          <a:xfrm>
            <a:off x="502920" y="457200"/>
            <a:ext cx="8138160" cy="594360"/>
          </a:xfrm>
          <a:prstGeom prst="rect">
            <a:avLst/>
          </a:prstGeom>
          <a:noFill/>
          <a:ln/>
        </p:spPr>
        <p:txBody>
          <a:bodyPr wrap="square" lIns="0" tIns="0" rIns="0" bIns="0" rtlCol="0" anchor="ctr"/>
          <a:lstStyle/>
          <a:p>
            <a:pPr marL="0" indent="0" algn="l">
              <a:buNone/>
            </a:pPr>
            <a:r>
              <a:rPr lang="en-US" sz="2800" b="1" dirty="0">
                <a:solidFill>
                  <a:srgbClr val="1B2A4A"/>
                </a:solidFill>
              </a:rPr>
              <a:t>Modules and Signatures</a:t>
            </a:r>
            <a:endParaRPr lang="en-US" sz="2800" dirty="0"/>
          </a:p>
        </p:txBody>
      </p:sp>
      <p:sp>
        <p:nvSpPr>
          <p:cNvPr id="4" name="Shape 2"/>
          <p:cNvSpPr/>
          <p:nvPr/>
        </p:nvSpPr>
        <p:spPr>
          <a:xfrm>
            <a:off x="502920" y="1298448"/>
            <a:ext cx="329184" cy="329184"/>
          </a:xfrm>
          <a:prstGeom prst="ellipse">
            <a:avLst/>
          </a:prstGeom>
          <a:solidFill>
            <a:srgbClr val="1B2A4A"/>
          </a:solidFill>
          <a:ln w="12700">
            <a:solidFill>
              <a:srgbClr val="1B2A4A"/>
            </a:solidFill>
            <a:prstDash val="solid"/>
          </a:ln>
        </p:spPr>
      </p:sp>
      <p:sp>
        <p:nvSpPr>
          <p:cNvPr id="5" name="Text 3"/>
          <p:cNvSpPr txBox="1"/>
          <p:nvPr/>
        </p:nvSpPr>
        <p:spPr>
          <a:xfrm>
            <a:off x="502920" y="1298448"/>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6" name="Text 4"/>
          <p:cNvSpPr txBox="1"/>
          <p:nvPr/>
        </p:nvSpPr>
        <p:spPr>
          <a:xfrm>
            <a:off x="978408" y="1243584"/>
            <a:ext cx="3364992" cy="621792"/>
          </a:xfrm>
          <a:prstGeom prst="rect">
            <a:avLst/>
          </a:prstGeom>
          <a:noFill/>
          <a:ln/>
        </p:spPr>
        <p:txBody>
          <a:bodyPr wrap="square" lIns="0" tIns="0" rIns="0" bIns="0" rtlCol="0" anchor="t"/>
          <a:lstStyle/>
          <a:p>
            <a:pPr marL="0" indent="0">
              <a:spcAft>
                <a:spcPts val="200"/>
              </a:spcAft>
              <a:buNone/>
            </a:pPr>
            <a:r>
              <a:rPr lang="en-US" sz="1500" b="1" dirty="0">
                <a:solidFill>
                  <a:srgbClr val="1B2A4A"/>
                </a:solidFill>
              </a:rPr>
              <a:t>Signature = the contract</a:t>
            </a:r>
            <a:endParaRPr lang="en-US" sz="1500" dirty="0"/>
          </a:p>
          <a:p>
            <a:pPr marL="0" indent="0">
              <a:spcAft>
                <a:spcPts val="200"/>
              </a:spcAft>
              <a:buNone/>
            </a:pPr>
            <a:r>
              <a:rPr lang="en-US" sz="1200" dirty="0">
                <a:solidFill>
                  <a:srgbClr val="5F6F80"/>
                </a:solidFill>
              </a:rPr>
              <a:t>InputField / OutputField + desc</a:t>
            </a:r>
            <a:endParaRPr lang="en-US" sz="1500" dirty="0"/>
          </a:p>
        </p:txBody>
      </p:sp>
      <p:sp>
        <p:nvSpPr>
          <p:cNvPr id="7" name="Shape 5"/>
          <p:cNvSpPr/>
          <p:nvPr/>
        </p:nvSpPr>
        <p:spPr>
          <a:xfrm>
            <a:off x="502920" y="1920240"/>
            <a:ext cx="329184" cy="329184"/>
          </a:xfrm>
          <a:prstGeom prst="ellipse">
            <a:avLst/>
          </a:prstGeom>
          <a:solidFill>
            <a:srgbClr val="1B2A4A"/>
          </a:solidFill>
          <a:ln w="12700">
            <a:solidFill>
              <a:srgbClr val="1B2A4A"/>
            </a:solidFill>
            <a:prstDash val="solid"/>
          </a:ln>
        </p:spPr>
      </p:sp>
      <p:sp>
        <p:nvSpPr>
          <p:cNvPr id="8" name="Text 6"/>
          <p:cNvSpPr txBox="1"/>
          <p:nvPr/>
        </p:nvSpPr>
        <p:spPr>
          <a:xfrm>
            <a:off x="502920" y="192024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9" name="Text 7"/>
          <p:cNvSpPr txBox="1"/>
          <p:nvPr/>
        </p:nvSpPr>
        <p:spPr>
          <a:xfrm>
            <a:off x="978408" y="1865376"/>
            <a:ext cx="3364992" cy="621792"/>
          </a:xfrm>
          <a:prstGeom prst="rect">
            <a:avLst/>
          </a:prstGeom>
          <a:noFill/>
          <a:ln/>
        </p:spPr>
        <p:txBody>
          <a:bodyPr wrap="square" lIns="0" tIns="0" rIns="0" bIns="0" rtlCol="0" anchor="t"/>
          <a:lstStyle/>
          <a:p>
            <a:pPr marL="0" indent="0">
              <a:spcAft>
                <a:spcPts val="200"/>
              </a:spcAft>
              <a:buNone/>
            </a:pPr>
            <a:r>
              <a:rPr lang="en-US" sz="1500" b="1" dirty="0">
                <a:solidFill>
                  <a:srgbClr val="1B2A4A"/>
                </a:solidFill>
              </a:rPr>
              <a:t>Docstring = the instruction</a:t>
            </a:r>
            <a:endParaRPr lang="en-US" sz="1500" dirty="0"/>
          </a:p>
          <a:p>
            <a:pPr marL="0" indent="0">
              <a:spcAft>
                <a:spcPts val="200"/>
              </a:spcAft>
              <a:buNone/>
            </a:pPr>
            <a:r>
              <a:rPr lang="en-US" sz="1200" dirty="0">
                <a:solidFill>
                  <a:srgbClr val="5F6F80"/>
                </a:solidFill>
              </a:rPr>
              <a:t>The optimizer can tune it</a:t>
            </a:r>
            <a:endParaRPr lang="en-US" sz="1500" dirty="0"/>
          </a:p>
        </p:txBody>
      </p:sp>
      <p:sp>
        <p:nvSpPr>
          <p:cNvPr id="10" name="Shape 8"/>
          <p:cNvSpPr/>
          <p:nvPr/>
        </p:nvSpPr>
        <p:spPr>
          <a:xfrm>
            <a:off x="502920" y="2542032"/>
            <a:ext cx="329184" cy="329184"/>
          </a:xfrm>
          <a:prstGeom prst="ellipse">
            <a:avLst/>
          </a:prstGeom>
          <a:solidFill>
            <a:srgbClr val="1B2A4A"/>
          </a:solidFill>
          <a:ln w="12700">
            <a:solidFill>
              <a:srgbClr val="1B2A4A"/>
            </a:solidFill>
            <a:prstDash val="solid"/>
          </a:ln>
        </p:spPr>
      </p:sp>
      <p:sp>
        <p:nvSpPr>
          <p:cNvPr id="11" name="Text 9"/>
          <p:cNvSpPr txBox="1"/>
          <p:nvPr/>
        </p:nvSpPr>
        <p:spPr>
          <a:xfrm>
            <a:off x="502920" y="254203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12" name="Text 10"/>
          <p:cNvSpPr txBox="1"/>
          <p:nvPr/>
        </p:nvSpPr>
        <p:spPr>
          <a:xfrm>
            <a:off x="978408" y="2487168"/>
            <a:ext cx="3364992" cy="621792"/>
          </a:xfrm>
          <a:prstGeom prst="rect">
            <a:avLst/>
          </a:prstGeom>
          <a:noFill/>
          <a:ln/>
        </p:spPr>
        <p:txBody>
          <a:bodyPr wrap="square" lIns="0" tIns="0" rIns="0" bIns="0" rtlCol="0" anchor="t"/>
          <a:lstStyle/>
          <a:p>
            <a:pPr marL="0" indent="0">
              <a:spcAft>
                <a:spcPts val="200"/>
              </a:spcAft>
              <a:buNone/>
            </a:pPr>
            <a:r>
              <a:rPr lang="en-US" sz="1500" b="1" dirty="0">
                <a:solidFill>
                  <a:srgbClr val="1B2A4A"/>
                </a:solidFill>
              </a:rPr>
              <a:t>Module = the strategy</a:t>
            </a:r>
            <a:endParaRPr lang="en-US" sz="1500" dirty="0"/>
          </a:p>
          <a:p>
            <a:pPr marL="0" indent="0">
              <a:spcAft>
                <a:spcPts val="200"/>
              </a:spcAft>
              <a:buNone/>
            </a:pPr>
            <a:r>
              <a:rPr lang="en-US" sz="1200" dirty="0">
                <a:solidFill>
                  <a:srgbClr val="5F6F80"/>
                </a:solidFill>
              </a:rPr>
              <a:t>Predict, ChainOfThought, ReAct</a:t>
            </a:r>
            <a:endParaRPr lang="en-US" sz="1500" dirty="0"/>
          </a:p>
        </p:txBody>
      </p:sp>
      <p:sp>
        <p:nvSpPr>
          <p:cNvPr id="13" name="Shape 11"/>
          <p:cNvSpPr/>
          <p:nvPr/>
        </p:nvSpPr>
        <p:spPr>
          <a:xfrm>
            <a:off x="502920" y="3163824"/>
            <a:ext cx="329184" cy="329184"/>
          </a:xfrm>
          <a:prstGeom prst="ellipse">
            <a:avLst/>
          </a:prstGeom>
          <a:solidFill>
            <a:srgbClr val="1B2A4A"/>
          </a:solidFill>
          <a:ln w="12700">
            <a:solidFill>
              <a:srgbClr val="1B2A4A"/>
            </a:solidFill>
            <a:prstDash val="solid"/>
          </a:ln>
        </p:spPr>
      </p:sp>
      <p:sp>
        <p:nvSpPr>
          <p:cNvPr id="14" name="Text 12"/>
          <p:cNvSpPr txBox="1"/>
          <p:nvPr/>
        </p:nvSpPr>
        <p:spPr>
          <a:xfrm>
            <a:off x="502920" y="316382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15" name="Text 13"/>
          <p:cNvSpPr txBox="1"/>
          <p:nvPr/>
        </p:nvSpPr>
        <p:spPr>
          <a:xfrm>
            <a:off x="978408" y="3108960"/>
            <a:ext cx="3364992" cy="621792"/>
          </a:xfrm>
          <a:prstGeom prst="rect">
            <a:avLst/>
          </a:prstGeom>
          <a:noFill/>
          <a:ln/>
        </p:spPr>
        <p:txBody>
          <a:bodyPr wrap="square" lIns="0" tIns="0" rIns="0" bIns="0" rtlCol="0" anchor="t"/>
          <a:lstStyle/>
          <a:p>
            <a:pPr marL="0" indent="0">
              <a:spcAft>
                <a:spcPts val="200"/>
              </a:spcAft>
              <a:buNone/>
            </a:pPr>
            <a:r>
              <a:rPr lang="en-US" sz="1500" b="1" dirty="0">
                <a:solidFill>
                  <a:srgbClr val="1B2A4A"/>
                </a:solidFill>
              </a:rPr>
              <a:t>Compose in a dspy.Module</a:t>
            </a:r>
            <a:endParaRPr lang="en-US" sz="1500" dirty="0"/>
          </a:p>
          <a:p>
            <a:pPr marL="0" indent="0">
              <a:spcAft>
                <a:spcPts val="200"/>
              </a:spcAft>
              <a:buNone/>
            </a:pPr>
            <a:r>
              <a:rPr lang="en-US" sz="1200" dirty="0">
                <a:solidFill>
                  <a:srgbClr val="5F6F80"/>
                </a:solidFill>
              </a:rPr>
              <a:t>__init__ + forward(): plain Python</a:t>
            </a:r>
            <a:endParaRPr lang="en-US" sz="1500" dirty="0"/>
          </a:p>
        </p:txBody>
      </p:sp>
      <p:sp>
        <p:nvSpPr>
          <p:cNvPr id="16" name="Shape 14"/>
          <p:cNvSpPr/>
          <p:nvPr/>
        </p:nvSpPr>
        <p:spPr>
          <a:xfrm>
            <a:off x="502920" y="3913632"/>
            <a:ext cx="3840480" cy="658368"/>
          </a:xfrm>
          <a:prstGeom prst="roundRect">
            <a:avLst>
              <a:gd name="adj" fmla="val 11111"/>
            </a:avLst>
          </a:prstGeom>
          <a:solidFill>
            <a:srgbClr val="FBEFE6"/>
          </a:solidFill>
          <a:ln w="12700">
            <a:solidFill>
              <a:srgbClr val="FBEFE6"/>
            </a:solidFill>
            <a:prstDash val="solid"/>
          </a:ln>
        </p:spPr>
      </p:sp>
      <p:sp>
        <p:nvSpPr>
          <p:cNvPr id="17" name="Text 15"/>
          <p:cNvSpPr txBox="1"/>
          <p:nvPr/>
        </p:nvSpPr>
        <p:spPr>
          <a:xfrm>
            <a:off x="667512" y="3913632"/>
            <a:ext cx="3511296" cy="658368"/>
          </a:xfrm>
          <a:prstGeom prst="rect">
            <a:avLst/>
          </a:prstGeom>
          <a:noFill/>
          <a:ln/>
        </p:spPr>
        <p:txBody>
          <a:bodyPr wrap="square" lIns="0" tIns="0" rIns="0" bIns="0" rtlCol="0" anchor="ctr"/>
          <a:lstStyle/>
          <a:p>
            <a:pPr marL="0" indent="0">
              <a:buNone/>
            </a:pPr>
            <a:r>
              <a:rPr lang="en-US" sz="1000" b="1" kern="0" spc="200" dirty="0">
                <a:solidFill>
                  <a:srgbClr val="D4824A"/>
                </a:solidFill>
              </a:rPr>
              <a:t>KEY POINT  </a:t>
            </a:r>
            <a:r>
              <a:rPr lang="en-US" sz="1300" dirty="0">
                <a:solidFill>
                  <a:srgbClr val="1B2A4A"/>
                </a:solidFill>
              </a:rPr>
              <a:t>Clear field descriptions give the optimizer more to work with.</a:t>
            </a:r>
            <a:endParaRPr lang="en-US" sz="1000" dirty="0"/>
          </a:p>
        </p:txBody>
      </p:sp>
      <p:sp>
        <p:nvSpPr>
          <p:cNvPr id="18" name="Shape 16"/>
          <p:cNvSpPr/>
          <p:nvPr/>
        </p:nvSpPr>
        <p:spPr>
          <a:xfrm>
            <a:off x="4572000" y="1188720"/>
            <a:ext cx="4069080" cy="3383280"/>
          </a:xfrm>
          <a:prstGeom prst="roundRect">
            <a:avLst>
              <a:gd name="adj" fmla="val 2162"/>
            </a:avLst>
          </a:prstGeom>
          <a:solidFill>
            <a:srgbClr val="1B2A4A"/>
          </a:solidFill>
          <a:ln w="12700">
            <a:solidFill>
              <a:srgbClr val="1B2A4A"/>
            </a:solidFill>
            <a:prstDash val="solid"/>
          </a:ln>
        </p:spPr>
      </p:sp>
      <p:sp>
        <p:nvSpPr>
          <p:cNvPr id="19" name="Text 17"/>
          <p:cNvSpPr txBox="1"/>
          <p:nvPr/>
        </p:nvSpPr>
        <p:spPr>
          <a:xfrm>
            <a:off x="4773168" y="1316736"/>
            <a:ext cx="3666744" cy="292608"/>
          </a:xfrm>
          <a:prstGeom prst="rect">
            <a:avLst/>
          </a:prstGeom>
          <a:noFill/>
          <a:ln/>
        </p:spPr>
        <p:txBody>
          <a:bodyPr wrap="square" lIns="0" tIns="0" rIns="0" bIns="0" rtlCol="0" anchor="ctr"/>
          <a:lstStyle/>
          <a:p>
            <a:pPr marL="0" indent="0">
              <a:buNone/>
            </a:pPr>
            <a:r>
              <a:rPr lang="en-US" sz="900" b="1" kern="0" spc="200" dirty="0">
                <a:solidFill>
                  <a:srgbClr val="D4824A"/>
                </a:solidFill>
              </a:rPr>
              <a:t>EXAMPLE  </a:t>
            </a:r>
            <a:r>
              <a:rPr lang="en-US" sz="1200" b="1" dirty="0">
                <a:solidFill>
                  <a:srgbClr val="FFFFFF"/>
                </a:solidFill>
              </a:rPr>
              <a:t>A complete DSPy module (demo 02)</a:t>
            </a:r>
            <a:endParaRPr lang="en-US" sz="900" dirty="0"/>
          </a:p>
        </p:txBody>
      </p:sp>
      <p:sp>
        <p:nvSpPr>
          <p:cNvPr id="20" name="Text 18"/>
          <p:cNvSpPr txBox="1"/>
          <p:nvPr/>
        </p:nvSpPr>
        <p:spPr>
          <a:xfrm>
            <a:off x="4773168" y="1700784"/>
            <a:ext cx="3703320" cy="2743200"/>
          </a:xfrm>
          <a:prstGeom prst="rect">
            <a:avLst/>
          </a:prstGeom>
          <a:noFill/>
          <a:ln/>
        </p:spPr>
        <p:txBody>
          <a:bodyPr wrap="square" lIns="0" tIns="0" rIns="0" bIns="0" rtlCol="0" anchor="t"/>
          <a:lstStyle/>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class Triage(dspy.Signature):</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"""Summarize and rate a ticket."""</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ticket: str = dspy.InputField()</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summary: str = dspy.OutputField(</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desc="one-sentence summary")</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urgency: str = dspy.OutputField(</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desc="low / medium / high")</a:t>
            </a:r>
            <a:endParaRPr lang="en-US" sz="1050" dirty="0"/>
          </a:p>
          <a:p>
            <a:pPr marL="0" indent="0">
              <a:lnSpc>
                <a:spcPct val="100000"/>
              </a:lnSpc>
              <a:buNone/>
            </a:pP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class TicketProcessor(dspy.Module):</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def __init__(self):</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self.process = dspy.ChainOfThought(</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Triage)</a:t>
            </a:r>
            <a:endParaRPr lang="en-US" sz="1050" dirty="0"/>
          </a:p>
          <a:p>
            <a:pPr marL="0" indent="0">
              <a:lnSpc>
                <a:spcPct val="100000"/>
              </a:lnSpc>
              <a:buNone/>
            </a:pP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def forward(self, ticket):</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return self.process(ticket=ticket)</a:t>
            </a:r>
            <a:endParaRPr lang="en-US" sz="1050" dirty="0"/>
          </a:p>
        </p:txBody>
      </p:sp>
      <p:sp>
        <p:nvSpPr>
          <p:cNvPr id="25" name="Slide Number Placeholder 0"/>
          <p:cNvSpPr>
            <a:spLocks noGrp="1"/>
          </p:cNvSpPr>
          <p:nvPr>
            <p:ph type="sldNum" sz="quarter" idx="4294967295"/>
          </p:nvPr>
        </p:nvSpPr>
        <p:spPr>
          <a:xfrm>
            <a:off x="8229600" y="4800600"/>
            <a:ext cx="41148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A0B0C0"/>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02920" y="201168"/>
            <a:ext cx="8138160" cy="256032"/>
          </a:xfrm>
          <a:prstGeom prst="rect">
            <a:avLst/>
          </a:prstGeom>
          <a:noFill/>
          <a:ln/>
        </p:spPr>
        <p:txBody>
          <a:bodyPr wrap="square" lIns="0" tIns="0" rIns="0" bIns="0" rtlCol="0" anchor="ctr"/>
          <a:lstStyle/>
          <a:p>
            <a:pPr marL="0" indent="0">
              <a:buNone/>
            </a:pPr>
            <a:r>
              <a:rPr lang="en-US" sz="1000" b="1" kern="0" spc="300" dirty="0">
                <a:solidFill>
                  <a:srgbClr val="D4824A"/>
                </a:solidFill>
              </a:rPr>
              <a:t>DSPY FUNDAMENTALS  ·  7 OF 7</a:t>
            </a:r>
            <a:endParaRPr lang="en-US" sz="1000" dirty="0"/>
          </a:p>
        </p:txBody>
      </p:sp>
      <p:sp>
        <p:nvSpPr>
          <p:cNvPr id="3" name="Text 1"/>
          <p:cNvSpPr>
            <a:spLocks noGrp="1"/>
          </p:cNvSpPr>
          <p:nvPr>
            <p:ph type="title" idx="101" hasCustomPrompt="1"/>
          </p:nvPr>
        </p:nvSpPr>
        <p:spPr>
          <a:xfrm>
            <a:off x="502920" y="457200"/>
            <a:ext cx="8138160" cy="594360"/>
          </a:xfrm>
          <a:prstGeom prst="rect">
            <a:avLst/>
          </a:prstGeom>
          <a:noFill/>
          <a:ln/>
        </p:spPr>
        <p:txBody>
          <a:bodyPr wrap="square" lIns="0" tIns="0" rIns="0" bIns="0" rtlCol="0" anchor="ctr"/>
          <a:lstStyle/>
          <a:p>
            <a:pPr marL="0" indent="0" algn="l">
              <a:buNone/>
            </a:pPr>
            <a:r>
              <a:rPr lang="en-US" sz="2800" b="1" dirty="0">
                <a:solidFill>
                  <a:srgbClr val="1B2A4A"/>
                </a:solidFill>
              </a:rPr>
              <a:t>Predict, ChainOfThought, and ReAct</a:t>
            </a:r>
            <a:endParaRPr lang="en-US" sz="2800" dirty="0"/>
          </a:p>
        </p:txBody>
      </p:sp>
      <p:sp>
        <p:nvSpPr>
          <p:cNvPr id="4" name="Shape 2"/>
          <p:cNvSpPr/>
          <p:nvPr/>
        </p:nvSpPr>
        <p:spPr>
          <a:xfrm>
            <a:off x="502920" y="1280160"/>
            <a:ext cx="2514600" cy="2331720"/>
          </a:xfrm>
          <a:prstGeom prst="roundRect">
            <a:avLst>
              <a:gd name="adj" fmla="val 3922"/>
            </a:avLst>
          </a:prstGeom>
          <a:solidFill>
            <a:srgbClr val="F4F6F9"/>
          </a:solidFill>
          <a:ln w="12700">
            <a:solidFill>
              <a:srgbClr val="F4F6F9"/>
            </a:solidFill>
            <a:prstDash val="solid"/>
          </a:ln>
        </p:spPr>
      </p:sp>
      <p:sp>
        <p:nvSpPr>
          <p:cNvPr id="5" name="Shape 3"/>
          <p:cNvSpPr/>
          <p:nvPr/>
        </p:nvSpPr>
        <p:spPr>
          <a:xfrm>
            <a:off x="502920" y="1280160"/>
            <a:ext cx="2514600" cy="548640"/>
          </a:xfrm>
          <a:prstGeom prst="roundRect">
            <a:avLst>
              <a:gd name="adj" fmla="val 16667"/>
            </a:avLst>
          </a:prstGeom>
          <a:solidFill>
            <a:srgbClr val="1B2A4A"/>
          </a:solidFill>
          <a:ln w="12700">
            <a:solidFill>
              <a:srgbClr val="1B2A4A"/>
            </a:solidFill>
            <a:prstDash val="solid"/>
          </a:ln>
        </p:spPr>
      </p:sp>
      <p:sp>
        <p:nvSpPr>
          <p:cNvPr id="6" name="Text 4"/>
          <p:cNvSpPr txBox="1"/>
          <p:nvPr/>
        </p:nvSpPr>
        <p:spPr>
          <a:xfrm>
            <a:off x="502920" y="1280160"/>
            <a:ext cx="251460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onsolas" pitchFamily="34" charset="0"/>
                <a:ea typeface="Consolas" pitchFamily="34" charset="-122"/>
                <a:cs typeface="Consolas" pitchFamily="34" charset="-120"/>
              </a:rPr>
              <a:t>dspy.Predict</a:t>
            </a:r>
            <a:endParaRPr lang="en-US" sz="1400" dirty="0"/>
          </a:p>
        </p:txBody>
      </p:sp>
      <p:sp>
        <p:nvSpPr>
          <p:cNvPr id="7" name="Text 5"/>
          <p:cNvSpPr txBox="1"/>
          <p:nvPr/>
        </p:nvSpPr>
        <p:spPr>
          <a:xfrm>
            <a:off x="704088" y="1965960"/>
            <a:ext cx="2112264" cy="1554480"/>
          </a:xfrm>
          <a:prstGeom prst="rect">
            <a:avLst/>
          </a:prstGeom>
          <a:noFill/>
          <a:ln/>
        </p:spPr>
        <p:txBody>
          <a:bodyPr wrap="square" lIns="0" tIns="0" rIns="0" bIns="0" rtlCol="0" anchor="t"/>
          <a:lstStyle/>
          <a:p>
            <a:pPr marL="0" indent="0">
              <a:buNone/>
            </a:pPr>
            <a:r>
              <a:rPr lang="en-US" sz="950" b="1" kern="0" spc="200" dirty="0">
                <a:solidFill>
                  <a:srgbClr val="D4824A"/>
                </a:solidFill>
              </a:rPr>
              <a:t>HOW</a:t>
            </a:r>
            <a:endParaRPr lang="en-US" sz="950" dirty="0"/>
          </a:p>
          <a:p>
            <a:pPr marL="0" indent="0">
              <a:buNone/>
            </a:pPr>
            <a:r>
              <a:rPr lang="en-US" sz="1400" dirty="0">
                <a:solidFill>
                  <a:srgbClr val="1B2A4A"/>
                </a:solidFill>
              </a:rPr>
              <a:t>One LLM call, answer directly</a:t>
            </a:r>
            <a:endParaRPr lang="en-US" sz="950" dirty="0"/>
          </a:p>
          <a:p>
            <a:pPr marL="0" indent="0">
              <a:buNone/>
            </a:pPr>
            <a:r>
              <a:rPr lang="en-US" sz="600" dirty="0">
                <a:solidFill>
                  <a:srgbClr val="000000"/>
                </a:solidFill>
              </a:rPr>
              <a:t> </a:t>
            </a:r>
            <a:endParaRPr lang="en-US" sz="950" dirty="0"/>
          </a:p>
          <a:p>
            <a:pPr marL="0" indent="0">
              <a:buNone/>
            </a:pPr>
            <a:r>
              <a:rPr lang="en-US" sz="950" b="1" kern="0" spc="200" dirty="0">
                <a:solidFill>
                  <a:srgbClr val="D4824A"/>
                </a:solidFill>
              </a:rPr>
              <a:t>BEST FOR</a:t>
            </a:r>
            <a:endParaRPr lang="en-US" sz="950" dirty="0"/>
          </a:p>
          <a:p>
            <a:pPr marL="0" indent="0">
              <a:buNone/>
            </a:pPr>
            <a:r>
              <a:rPr lang="en-US" sz="1400" dirty="0">
                <a:solidFill>
                  <a:srgbClr val="1B2A4A"/>
                </a:solidFill>
              </a:rPr>
              <a:t>Classification, extraction</a:t>
            </a:r>
            <a:endParaRPr lang="en-US" sz="950" dirty="0"/>
          </a:p>
        </p:txBody>
      </p:sp>
      <p:sp>
        <p:nvSpPr>
          <p:cNvPr id="8" name="Shape 6"/>
          <p:cNvSpPr/>
          <p:nvPr/>
        </p:nvSpPr>
        <p:spPr>
          <a:xfrm>
            <a:off x="3314700" y="1280160"/>
            <a:ext cx="2514600" cy="2331720"/>
          </a:xfrm>
          <a:prstGeom prst="roundRect">
            <a:avLst>
              <a:gd name="adj" fmla="val 3922"/>
            </a:avLst>
          </a:prstGeom>
          <a:solidFill>
            <a:srgbClr val="F4F6F9"/>
          </a:solidFill>
          <a:ln w="12700">
            <a:solidFill>
              <a:srgbClr val="F4F6F9"/>
            </a:solidFill>
            <a:prstDash val="solid"/>
          </a:ln>
        </p:spPr>
      </p:sp>
      <p:sp>
        <p:nvSpPr>
          <p:cNvPr id="9" name="Shape 7"/>
          <p:cNvSpPr/>
          <p:nvPr/>
        </p:nvSpPr>
        <p:spPr>
          <a:xfrm>
            <a:off x="3314700" y="1280160"/>
            <a:ext cx="2514600" cy="548640"/>
          </a:xfrm>
          <a:prstGeom prst="roundRect">
            <a:avLst>
              <a:gd name="adj" fmla="val 16667"/>
            </a:avLst>
          </a:prstGeom>
          <a:solidFill>
            <a:srgbClr val="D4824A"/>
          </a:solidFill>
          <a:ln w="12700">
            <a:solidFill>
              <a:srgbClr val="D4824A"/>
            </a:solidFill>
            <a:prstDash val="solid"/>
          </a:ln>
        </p:spPr>
      </p:sp>
      <p:sp>
        <p:nvSpPr>
          <p:cNvPr id="10" name="Text 8"/>
          <p:cNvSpPr txBox="1"/>
          <p:nvPr/>
        </p:nvSpPr>
        <p:spPr>
          <a:xfrm>
            <a:off x="3314700" y="1280160"/>
            <a:ext cx="251460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onsolas" pitchFamily="34" charset="0"/>
                <a:ea typeface="Consolas" pitchFamily="34" charset="-122"/>
                <a:cs typeface="Consolas" pitchFamily="34" charset="-120"/>
              </a:rPr>
              <a:t>dspy.ChainOfThought</a:t>
            </a:r>
            <a:endParaRPr lang="en-US" sz="1400" dirty="0"/>
          </a:p>
        </p:txBody>
      </p:sp>
      <p:sp>
        <p:nvSpPr>
          <p:cNvPr id="11" name="Text 9"/>
          <p:cNvSpPr txBox="1"/>
          <p:nvPr/>
        </p:nvSpPr>
        <p:spPr>
          <a:xfrm>
            <a:off x="3515868" y="1965960"/>
            <a:ext cx="2112264" cy="1554480"/>
          </a:xfrm>
          <a:prstGeom prst="rect">
            <a:avLst/>
          </a:prstGeom>
          <a:noFill/>
          <a:ln/>
        </p:spPr>
        <p:txBody>
          <a:bodyPr wrap="square" lIns="0" tIns="0" rIns="0" bIns="0" rtlCol="0" anchor="t"/>
          <a:lstStyle/>
          <a:p>
            <a:pPr marL="0" indent="0">
              <a:buNone/>
            </a:pPr>
            <a:r>
              <a:rPr lang="en-US" sz="950" b="1" kern="0" spc="200" dirty="0">
                <a:solidFill>
                  <a:srgbClr val="D4824A"/>
                </a:solidFill>
              </a:rPr>
              <a:t>HOW</a:t>
            </a:r>
            <a:endParaRPr lang="en-US" sz="950" dirty="0"/>
          </a:p>
          <a:p>
            <a:pPr marL="0" indent="0">
              <a:buNone/>
            </a:pPr>
            <a:r>
              <a:rPr lang="en-US" sz="1400" dirty="0">
                <a:solidFill>
                  <a:srgbClr val="1B2A4A"/>
                </a:solidFill>
              </a:rPr>
              <a:t>Reasons first, then answers</a:t>
            </a:r>
            <a:endParaRPr lang="en-US" sz="950" dirty="0"/>
          </a:p>
          <a:p>
            <a:pPr marL="0" indent="0">
              <a:buNone/>
            </a:pPr>
            <a:r>
              <a:rPr lang="en-US" sz="600" dirty="0">
                <a:solidFill>
                  <a:srgbClr val="000000"/>
                </a:solidFill>
              </a:rPr>
              <a:t> </a:t>
            </a:r>
            <a:endParaRPr lang="en-US" sz="950" dirty="0"/>
          </a:p>
          <a:p>
            <a:pPr marL="0" indent="0">
              <a:buNone/>
            </a:pPr>
            <a:r>
              <a:rPr lang="en-US" sz="950" b="1" kern="0" spc="200" dirty="0">
                <a:solidFill>
                  <a:srgbClr val="D4824A"/>
                </a:solidFill>
              </a:rPr>
              <a:t>BEST FOR</a:t>
            </a:r>
            <a:endParaRPr lang="en-US" sz="950" dirty="0"/>
          </a:p>
          <a:p>
            <a:pPr marL="0" indent="0">
              <a:buNone/>
            </a:pPr>
            <a:r>
              <a:rPr lang="en-US" sz="1400" dirty="0">
                <a:solidFill>
                  <a:srgbClr val="1B2A4A"/>
                </a:solidFill>
              </a:rPr>
              <a:t>Multi-step reasoning, math</a:t>
            </a:r>
            <a:endParaRPr lang="en-US" sz="950" dirty="0"/>
          </a:p>
        </p:txBody>
      </p:sp>
      <p:sp>
        <p:nvSpPr>
          <p:cNvPr id="12" name="Shape 10"/>
          <p:cNvSpPr/>
          <p:nvPr/>
        </p:nvSpPr>
        <p:spPr>
          <a:xfrm>
            <a:off x="6126480" y="1280160"/>
            <a:ext cx="2514600" cy="2331720"/>
          </a:xfrm>
          <a:prstGeom prst="roundRect">
            <a:avLst>
              <a:gd name="adj" fmla="val 3922"/>
            </a:avLst>
          </a:prstGeom>
          <a:solidFill>
            <a:srgbClr val="F4F6F9"/>
          </a:solidFill>
          <a:ln w="12700">
            <a:solidFill>
              <a:srgbClr val="F4F6F9"/>
            </a:solidFill>
            <a:prstDash val="solid"/>
          </a:ln>
        </p:spPr>
      </p:sp>
      <p:sp>
        <p:nvSpPr>
          <p:cNvPr id="13" name="Shape 11"/>
          <p:cNvSpPr/>
          <p:nvPr/>
        </p:nvSpPr>
        <p:spPr>
          <a:xfrm>
            <a:off x="6126480" y="1280160"/>
            <a:ext cx="2514600" cy="548640"/>
          </a:xfrm>
          <a:prstGeom prst="roundRect">
            <a:avLst>
              <a:gd name="adj" fmla="val 16667"/>
            </a:avLst>
          </a:prstGeom>
          <a:solidFill>
            <a:srgbClr val="1B2A4A"/>
          </a:solidFill>
          <a:ln w="12700">
            <a:solidFill>
              <a:srgbClr val="1B2A4A"/>
            </a:solidFill>
            <a:prstDash val="solid"/>
          </a:ln>
        </p:spPr>
      </p:sp>
      <p:sp>
        <p:nvSpPr>
          <p:cNvPr id="14" name="Text 12"/>
          <p:cNvSpPr txBox="1"/>
          <p:nvPr/>
        </p:nvSpPr>
        <p:spPr>
          <a:xfrm>
            <a:off x="6126480" y="1280160"/>
            <a:ext cx="251460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onsolas" pitchFamily="34" charset="0"/>
                <a:ea typeface="Consolas" pitchFamily="34" charset="-122"/>
                <a:cs typeface="Consolas" pitchFamily="34" charset="-120"/>
              </a:rPr>
              <a:t>dspy.ReAct</a:t>
            </a:r>
            <a:endParaRPr lang="en-US" sz="1400" dirty="0"/>
          </a:p>
        </p:txBody>
      </p:sp>
      <p:sp>
        <p:nvSpPr>
          <p:cNvPr id="15" name="Text 13"/>
          <p:cNvSpPr txBox="1"/>
          <p:nvPr/>
        </p:nvSpPr>
        <p:spPr>
          <a:xfrm>
            <a:off x="6327648" y="1965960"/>
            <a:ext cx="2112264" cy="1554480"/>
          </a:xfrm>
          <a:prstGeom prst="rect">
            <a:avLst/>
          </a:prstGeom>
          <a:noFill/>
          <a:ln/>
        </p:spPr>
        <p:txBody>
          <a:bodyPr wrap="square" lIns="0" tIns="0" rIns="0" bIns="0" rtlCol="0" anchor="t"/>
          <a:lstStyle/>
          <a:p>
            <a:pPr marL="0" indent="0">
              <a:buNone/>
            </a:pPr>
            <a:r>
              <a:rPr lang="en-US" sz="950" b="1" kern="0" spc="200" dirty="0">
                <a:solidFill>
                  <a:srgbClr val="D4824A"/>
                </a:solidFill>
              </a:rPr>
              <a:t>HOW</a:t>
            </a:r>
            <a:endParaRPr lang="en-US" sz="950" dirty="0"/>
          </a:p>
          <a:p>
            <a:pPr marL="0" indent="0">
              <a:buNone/>
            </a:pPr>
            <a:r>
              <a:rPr lang="en-US" sz="1400" dirty="0">
                <a:solidFill>
                  <a:srgbClr val="1B2A4A"/>
                </a:solidFill>
              </a:rPr>
              <a:t>Thought → Action → Observation loop</a:t>
            </a:r>
            <a:endParaRPr lang="en-US" sz="950" dirty="0"/>
          </a:p>
          <a:p>
            <a:pPr marL="0" indent="0">
              <a:buNone/>
            </a:pPr>
            <a:r>
              <a:rPr lang="en-US" sz="600" dirty="0">
                <a:solidFill>
                  <a:srgbClr val="000000"/>
                </a:solidFill>
              </a:rPr>
              <a:t> </a:t>
            </a:r>
            <a:endParaRPr lang="en-US" sz="950" dirty="0"/>
          </a:p>
          <a:p>
            <a:pPr marL="0" indent="0">
              <a:buNone/>
            </a:pPr>
            <a:r>
              <a:rPr lang="en-US" sz="950" b="1" kern="0" spc="200" dirty="0">
                <a:solidFill>
                  <a:srgbClr val="D4824A"/>
                </a:solidFill>
              </a:rPr>
              <a:t>BEST FOR</a:t>
            </a:r>
            <a:endParaRPr lang="en-US" sz="950" dirty="0"/>
          </a:p>
          <a:p>
            <a:pPr marL="0" indent="0">
              <a:buNone/>
            </a:pPr>
            <a:r>
              <a:rPr lang="en-US" sz="1400" dirty="0">
                <a:solidFill>
                  <a:srgbClr val="1B2A4A"/>
                </a:solidFill>
              </a:rPr>
              <a:t>Agents that use tools</a:t>
            </a:r>
            <a:endParaRPr lang="en-US" sz="950" dirty="0"/>
          </a:p>
        </p:txBody>
      </p:sp>
      <p:sp>
        <p:nvSpPr>
          <p:cNvPr id="16" name="Shape 14"/>
          <p:cNvSpPr/>
          <p:nvPr/>
        </p:nvSpPr>
        <p:spPr>
          <a:xfrm>
            <a:off x="502920" y="3840480"/>
            <a:ext cx="8138160" cy="594360"/>
          </a:xfrm>
          <a:prstGeom prst="roundRect">
            <a:avLst>
              <a:gd name="adj" fmla="val 12308"/>
            </a:avLst>
          </a:prstGeom>
          <a:solidFill>
            <a:srgbClr val="FBEFE6"/>
          </a:solidFill>
          <a:ln w="12700">
            <a:solidFill>
              <a:srgbClr val="FBEFE6"/>
            </a:solidFill>
            <a:prstDash val="solid"/>
          </a:ln>
        </p:spPr>
      </p:sp>
      <p:sp>
        <p:nvSpPr>
          <p:cNvPr id="17" name="Text 15"/>
          <p:cNvSpPr txBox="1"/>
          <p:nvPr/>
        </p:nvSpPr>
        <p:spPr>
          <a:xfrm>
            <a:off x="667512" y="3840480"/>
            <a:ext cx="7808976" cy="594360"/>
          </a:xfrm>
          <a:prstGeom prst="rect">
            <a:avLst/>
          </a:prstGeom>
          <a:noFill/>
          <a:ln/>
        </p:spPr>
        <p:txBody>
          <a:bodyPr wrap="square" lIns="0" tIns="0" rIns="0" bIns="0" rtlCol="0" anchor="ctr"/>
          <a:lstStyle/>
          <a:p>
            <a:pPr marL="0" indent="0">
              <a:buNone/>
            </a:pPr>
            <a:r>
              <a:rPr lang="en-US" sz="1000" b="1" kern="0" spc="200" dirty="0">
                <a:solidFill>
                  <a:srgbClr val="D4824A"/>
                </a:solidFill>
              </a:rPr>
              <a:t>KEY POINT  </a:t>
            </a:r>
            <a:r>
              <a:rPr lang="en-US" sz="1300" dirty="0">
                <a:solidFill>
                  <a:srgbClr val="1B2A4A"/>
                </a:solidFill>
              </a:rPr>
              <a:t>Same Signature, three strategies. Change one line to change how the model works.</a:t>
            </a:r>
            <a:endParaRPr lang="en-US" sz="1000" dirty="0"/>
          </a:p>
        </p:txBody>
      </p:sp>
      <p:sp>
        <p:nvSpPr>
          <p:cNvPr id="25" name="Slide Number Placeholder 0"/>
          <p:cNvSpPr>
            <a:spLocks noGrp="1"/>
          </p:cNvSpPr>
          <p:nvPr>
            <p:ph type="sldNum" sz="quarter" idx="4294967295"/>
          </p:nvPr>
        </p:nvSpPr>
        <p:spPr>
          <a:xfrm>
            <a:off x="8229600" y="4800600"/>
            <a:ext cx="41148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A0B0C0"/>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02920" y="201168"/>
            <a:ext cx="8138160" cy="256032"/>
          </a:xfrm>
          <a:prstGeom prst="rect">
            <a:avLst/>
          </a:prstGeom>
          <a:noFill/>
          <a:ln/>
        </p:spPr>
        <p:txBody>
          <a:bodyPr wrap="square" lIns="0" tIns="0" rIns="0" bIns="0" rtlCol="0" anchor="ctr"/>
          <a:lstStyle/>
          <a:p>
            <a:pPr marL="0" indent="0">
              <a:buNone/>
            </a:pPr>
            <a:r>
              <a:rPr lang="en-US" sz="1000" b="1" kern="0" spc="300" dirty="0">
                <a:solidFill>
                  <a:srgbClr val="D4824A"/>
                </a:solidFill>
              </a:rPr>
              <a:t>OPTIMIZERS  ·  1 OF 3</a:t>
            </a:r>
            <a:endParaRPr lang="en-US" sz="1000" dirty="0"/>
          </a:p>
        </p:txBody>
      </p:sp>
      <p:sp>
        <p:nvSpPr>
          <p:cNvPr id="3" name="Text 1"/>
          <p:cNvSpPr>
            <a:spLocks noGrp="1"/>
          </p:cNvSpPr>
          <p:nvPr>
            <p:ph type="title" idx="101" hasCustomPrompt="1"/>
          </p:nvPr>
        </p:nvSpPr>
        <p:spPr>
          <a:xfrm>
            <a:off x="502920" y="457200"/>
            <a:ext cx="8138160" cy="594360"/>
          </a:xfrm>
          <a:prstGeom prst="rect">
            <a:avLst/>
          </a:prstGeom>
          <a:noFill/>
          <a:ln/>
        </p:spPr>
        <p:txBody>
          <a:bodyPr wrap="square" lIns="0" tIns="0" rIns="0" bIns="0" rtlCol="0" anchor="ctr"/>
          <a:lstStyle/>
          <a:p>
            <a:pPr marL="0" indent="0" algn="l">
              <a:buNone/>
            </a:pPr>
            <a:r>
              <a:rPr lang="en-US" sz="2800" b="1" dirty="0">
                <a:solidFill>
                  <a:srgbClr val="1B2A4A"/>
                </a:solidFill>
              </a:rPr>
              <a:t>What Does "Optimization" Mean?</a:t>
            </a:r>
            <a:endParaRPr lang="en-US" sz="2800" dirty="0"/>
          </a:p>
        </p:txBody>
      </p:sp>
      <p:sp>
        <p:nvSpPr>
          <p:cNvPr id="4" name="Text 2"/>
          <p:cNvSpPr txBox="1"/>
          <p:nvPr/>
        </p:nvSpPr>
        <p:spPr>
          <a:xfrm>
            <a:off x="502920" y="1188720"/>
            <a:ext cx="2377440" cy="256032"/>
          </a:xfrm>
          <a:prstGeom prst="rect">
            <a:avLst/>
          </a:prstGeom>
          <a:noFill/>
          <a:ln/>
        </p:spPr>
        <p:txBody>
          <a:bodyPr wrap="square" lIns="0" tIns="0" rIns="0" bIns="0" rtlCol="0" anchor="ctr"/>
          <a:lstStyle/>
          <a:p>
            <a:pPr marL="0" indent="0">
              <a:buNone/>
            </a:pPr>
            <a:r>
              <a:rPr lang="en-US" sz="1000" b="1" kern="0" spc="300" dirty="0">
                <a:solidFill>
                  <a:srgbClr val="D4824A"/>
                </a:solidFill>
              </a:rPr>
              <a:t>YOU PROVIDE</a:t>
            </a:r>
            <a:endParaRPr lang="en-US" sz="1000" dirty="0"/>
          </a:p>
        </p:txBody>
      </p:sp>
      <p:sp>
        <p:nvSpPr>
          <p:cNvPr id="5" name="Shape 3"/>
          <p:cNvSpPr/>
          <p:nvPr/>
        </p:nvSpPr>
        <p:spPr>
          <a:xfrm>
            <a:off x="502920" y="1481328"/>
            <a:ext cx="2377440" cy="438912"/>
          </a:xfrm>
          <a:prstGeom prst="roundRect">
            <a:avLst>
              <a:gd name="adj" fmla="val 16667"/>
            </a:avLst>
          </a:prstGeom>
          <a:solidFill>
            <a:srgbClr val="F4F6F9"/>
          </a:solidFill>
          <a:ln w="12700">
            <a:solidFill>
              <a:srgbClr val="F4F6F9"/>
            </a:solidFill>
            <a:prstDash val="solid"/>
          </a:ln>
        </p:spPr>
      </p:sp>
      <p:sp>
        <p:nvSpPr>
          <p:cNvPr id="6" name="Text 4"/>
          <p:cNvSpPr txBox="1"/>
          <p:nvPr/>
        </p:nvSpPr>
        <p:spPr>
          <a:xfrm>
            <a:off x="612648" y="1481328"/>
            <a:ext cx="2157984" cy="438912"/>
          </a:xfrm>
          <a:prstGeom prst="rect">
            <a:avLst/>
          </a:prstGeom>
          <a:noFill/>
          <a:ln/>
        </p:spPr>
        <p:txBody>
          <a:bodyPr wrap="square" lIns="0" tIns="0" rIns="0" bIns="0" rtlCol="0" anchor="ctr"/>
          <a:lstStyle/>
          <a:p>
            <a:pPr marL="0" indent="0" algn="ctr">
              <a:spcAft>
                <a:spcPts val="400"/>
              </a:spcAft>
              <a:buNone/>
            </a:pPr>
            <a:r>
              <a:rPr lang="en-US" sz="1400" b="1" dirty="0">
                <a:solidFill>
                  <a:srgbClr val="1B2A4A"/>
                </a:solidFill>
              </a:rPr>
              <a:t>Your DSPy program</a:t>
            </a:r>
            <a:endParaRPr lang="en-US" sz="1400" dirty="0"/>
          </a:p>
        </p:txBody>
      </p:sp>
      <p:sp>
        <p:nvSpPr>
          <p:cNvPr id="7" name="Shape 5"/>
          <p:cNvSpPr/>
          <p:nvPr/>
        </p:nvSpPr>
        <p:spPr>
          <a:xfrm>
            <a:off x="502920" y="2011680"/>
            <a:ext cx="2377440" cy="438912"/>
          </a:xfrm>
          <a:prstGeom prst="roundRect">
            <a:avLst>
              <a:gd name="adj" fmla="val 16667"/>
            </a:avLst>
          </a:prstGeom>
          <a:solidFill>
            <a:srgbClr val="F4F6F9"/>
          </a:solidFill>
          <a:ln w="12700">
            <a:solidFill>
              <a:srgbClr val="F4F6F9"/>
            </a:solidFill>
            <a:prstDash val="solid"/>
          </a:ln>
        </p:spPr>
      </p:sp>
      <p:sp>
        <p:nvSpPr>
          <p:cNvPr id="8" name="Text 6"/>
          <p:cNvSpPr txBox="1"/>
          <p:nvPr/>
        </p:nvSpPr>
        <p:spPr>
          <a:xfrm>
            <a:off x="612648" y="2011680"/>
            <a:ext cx="2157984" cy="438912"/>
          </a:xfrm>
          <a:prstGeom prst="rect">
            <a:avLst/>
          </a:prstGeom>
          <a:noFill/>
          <a:ln/>
        </p:spPr>
        <p:txBody>
          <a:bodyPr wrap="square" lIns="0" tIns="0" rIns="0" bIns="0" rtlCol="0" anchor="ctr"/>
          <a:lstStyle/>
          <a:p>
            <a:pPr marL="0" indent="0" algn="ctr">
              <a:spcAft>
                <a:spcPts val="400"/>
              </a:spcAft>
              <a:buNone/>
            </a:pPr>
            <a:r>
              <a:rPr lang="en-US" sz="1400" b="1" dirty="0">
                <a:solidFill>
                  <a:srgbClr val="1B2A4A"/>
                </a:solidFill>
              </a:rPr>
              <a:t>~50 labeled examples</a:t>
            </a:r>
            <a:endParaRPr lang="en-US" sz="1400" dirty="0"/>
          </a:p>
        </p:txBody>
      </p:sp>
      <p:sp>
        <p:nvSpPr>
          <p:cNvPr id="9" name="Shape 7"/>
          <p:cNvSpPr/>
          <p:nvPr/>
        </p:nvSpPr>
        <p:spPr>
          <a:xfrm>
            <a:off x="502920" y="2542032"/>
            <a:ext cx="2377440" cy="438912"/>
          </a:xfrm>
          <a:prstGeom prst="roundRect">
            <a:avLst>
              <a:gd name="adj" fmla="val 16667"/>
            </a:avLst>
          </a:prstGeom>
          <a:solidFill>
            <a:srgbClr val="F4F6F9"/>
          </a:solidFill>
          <a:ln w="12700">
            <a:solidFill>
              <a:srgbClr val="F4F6F9"/>
            </a:solidFill>
            <a:prstDash val="solid"/>
          </a:ln>
        </p:spPr>
      </p:sp>
      <p:sp>
        <p:nvSpPr>
          <p:cNvPr id="10" name="Text 8"/>
          <p:cNvSpPr txBox="1"/>
          <p:nvPr/>
        </p:nvSpPr>
        <p:spPr>
          <a:xfrm>
            <a:off x="612648" y="2542032"/>
            <a:ext cx="2157984" cy="438912"/>
          </a:xfrm>
          <a:prstGeom prst="rect">
            <a:avLst/>
          </a:prstGeom>
          <a:noFill/>
          <a:ln/>
        </p:spPr>
        <p:txBody>
          <a:bodyPr wrap="square" lIns="0" tIns="0" rIns="0" bIns="0" rtlCol="0" anchor="ctr"/>
          <a:lstStyle/>
          <a:p>
            <a:pPr marL="0" indent="0" algn="ctr">
              <a:spcAft>
                <a:spcPts val="400"/>
              </a:spcAft>
              <a:buNone/>
            </a:pPr>
            <a:r>
              <a:rPr lang="en-US" sz="1400" b="1" dirty="0">
                <a:solidFill>
                  <a:srgbClr val="1B2A4A"/>
                </a:solidFill>
              </a:rPr>
              <a:t>A metric</a:t>
            </a:r>
            <a:endParaRPr lang="en-US" sz="1400" dirty="0"/>
          </a:p>
        </p:txBody>
      </p:sp>
      <p:sp>
        <p:nvSpPr>
          <p:cNvPr id="11" name="Shape 9"/>
          <p:cNvSpPr/>
          <p:nvPr/>
        </p:nvSpPr>
        <p:spPr>
          <a:xfrm>
            <a:off x="2944368" y="2011680"/>
            <a:ext cx="365760" cy="0"/>
          </a:xfrm>
          <a:prstGeom prst="line">
            <a:avLst/>
          </a:prstGeom>
          <a:noFill/>
          <a:ln w="25400">
            <a:solidFill>
              <a:srgbClr val="D4824A"/>
            </a:solidFill>
            <a:prstDash val="solid"/>
            <a:tailEnd type="triangle"/>
          </a:ln>
        </p:spPr>
      </p:sp>
      <p:sp>
        <p:nvSpPr>
          <p:cNvPr id="12" name="Shape 10"/>
          <p:cNvSpPr/>
          <p:nvPr/>
        </p:nvSpPr>
        <p:spPr>
          <a:xfrm>
            <a:off x="3383280" y="1234440"/>
            <a:ext cx="5257800" cy="457200"/>
          </a:xfrm>
          <a:prstGeom prst="roundRect">
            <a:avLst>
              <a:gd name="adj" fmla="val 16000"/>
            </a:avLst>
          </a:prstGeom>
          <a:solidFill>
            <a:srgbClr val="1B2A4A"/>
          </a:solidFill>
          <a:ln w="12700">
            <a:solidFill>
              <a:srgbClr val="1B2A4A"/>
            </a:solidFill>
            <a:prstDash val="solid"/>
          </a:ln>
        </p:spPr>
      </p:sp>
      <p:sp>
        <p:nvSpPr>
          <p:cNvPr id="13" name="Text 11"/>
          <p:cNvSpPr txBox="1"/>
          <p:nvPr/>
        </p:nvSpPr>
        <p:spPr>
          <a:xfrm>
            <a:off x="3493008" y="1234440"/>
            <a:ext cx="5038344" cy="457200"/>
          </a:xfrm>
          <a:prstGeom prst="rect">
            <a:avLst/>
          </a:prstGeom>
          <a:noFill/>
          <a:ln/>
        </p:spPr>
        <p:txBody>
          <a:bodyPr wrap="square" lIns="0" tIns="0" rIns="0" bIns="0" rtlCol="0" anchor="ctr"/>
          <a:lstStyle/>
          <a:p>
            <a:pPr marL="0" indent="0" algn="ctr">
              <a:spcAft>
                <a:spcPts val="400"/>
              </a:spcAft>
              <a:buNone/>
            </a:pPr>
            <a:r>
              <a:rPr lang="en-US" sz="1400" b="1" dirty="0">
                <a:solidFill>
                  <a:srgbClr val="FFFFFF"/>
                </a:solidFill>
              </a:rPr>
              <a:t>Optimizer tries different configurations</a:t>
            </a:r>
            <a:endParaRPr lang="en-US" sz="1400" dirty="0"/>
          </a:p>
        </p:txBody>
      </p:sp>
      <p:sp>
        <p:nvSpPr>
          <p:cNvPr id="14" name="Shape 12"/>
          <p:cNvSpPr/>
          <p:nvPr/>
        </p:nvSpPr>
        <p:spPr>
          <a:xfrm flipH="1">
            <a:off x="4183380" y="1709928"/>
            <a:ext cx="1828800" cy="256032"/>
          </a:xfrm>
          <a:prstGeom prst="line">
            <a:avLst/>
          </a:prstGeom>
          <a:noFill/>
          <a:ln w="25400">
            <a:solidFill>
              <a:srgbClr val="D4824A"/>
            </a:solidFill>
            <a:prstDash val="solid"/>
            <a:tailEnd type="triangle"/>
          </a:ln>
        </p:spPr>
      </p:sp>
      <p:sp>
        <p:nvSpPr>
          <p:cNvPr id="15" name="Shape 13"/>
          <p:cNvSpPr/>
          <p:nvPr/>
        </p:nvSpPr>
        <p:spPr>
          <a:xfrm>
            <a:off x="3383280" y="1984248"/>
            <a:ext cx="1600200" cy="777240"/>
          </a:xfrm>
          <a:prstGeom prst="roundRect">
            <a:avLst>
              <a:gd name="adj" fmla="val 9412"/>
            </a:avLst>
          </a:prstGeom>
          <a:solidFill>
            <a:srgbClr val="F4F6F9"/>
          </a:solidFill>
          <a:ln w="12700">
            <a:solidFill>
              <a:srgbClr val="F4F6F9"/>
            </a:solidFill>
            <a:prstDash val="solid"/>
          </a:ln>
        </p:spPr>
      </p:sp>
      <p:sp>
        <p:nvSpPr>
          <p:cNvPr id="16" name="Text 14"/>
          <p:cNvSpPr txBox="1"/>
          <p:nvPr/>
        </p:nvSpPr>
        <p:spPr>
          <a:xfrm>
            <a:off x="3493008" y="1984248"/>
            <a:ext cx="1380744" cy="777240"/>
          </a:xfrm>
          <a:prstGeom prst="rect">
            <a:avLst/>
          </a:prstGeom>
          <a:noFill/>
          <a:ln/>
        </p:spPr>
        <p:txBody>
          <a:bodyPr wrap="square" lIns="0" tIns="0" rIns="0" bIns="0" rtlCol="0" anchor="ctr"/>
          <a:lstStyle/>
          <a:p>
            <a:pPr marL="0" indent="0" algn="ctr">
              <a:spcAft>
                <a:spcPts val="400"/>
              </a:spcAft>
              <a:buNone/>
            </a:pPr>
            <a:r>
              <a:rPr lang="en-US" sz="1400" b="1" dirty="0">
                <a:solidFill>
                  <a:srgbClr val="1B2A4A"/>
                </a:solidFill>
              </a:rPr>
              <a:t>Try A</a:t>
            </a:r>
            <a:endParaRPr lang="en-US" sz="1400" dirty="0"/>
          </a:p>
          <a:p>
            <a:pPr marL="0" indent="0" algn="ctr">
              <a:spcAft>
                <a:spcPts val="400"/>
              </a:spcAft>
              <a:buNone/>
            </a:pPr>
            <a:r>
              <a:rPr lang="en-US" sz="1150" dirty="0">
                <a:solidFill>
                  <a:srgbClr val="5F6F80"/>
                </a:solidFill>
              </a:rPr>
              <a:t>72%</a:t>
            </a:r>
            <a:endParaRPr lang="en-US" sz="1400" dirty="0"/>
          </a:p>
        </p:txBody>
      </p:sp>
      <p:sp>
        <p:nvSpPr>
          <p:cNvPr id="17" name="Shape 15"/>
          <p:cNvSpPr/>
          <p:nvPr/>
        </p:nvSpPr>
        <p:spPr>
          <a:xfrm>
            <a:off x="6012180" y="1709928"/>
            <a:ext cx="0" cy="256032"/>
          </a:xfrm>
          <a:prstGeom prst="line">
            <a:avLst/>
          </a:prstGeom>
          <a:noFill/>
          <a:ln w="25400">
            <a:solidFill>
              <a:srgbClr val="D4824A"/>
            </a:solidFill>
            <a:prstDash val="solid"/>
            <a:tailEnd type="triangle"/>
          </a:ln>
        </p:spPr>
      </p:sp>
      <p:sp>
        <p:nvSpPr>
          <p:cNvPr id="18" name="Shape 16"/>
          <p:cNvSpPr/>
          <p:nvPr/>
        </p:nvSpPr>
        <p:spPr>
          <a:xfrm>
            <a:off x="5212080" y="1984248"/>
            <a:ext cx="1600200" cy="777240"/>
          </a:xfrm>
          <a:prstGeom prst="roundRect">
            <a:avLst>
              <a:gd name="adj" fmla="val 9412"/>
            </a:avLst>
          </a:prstGeom>
          <a:solidFill>
            <a:srgbClr val="F4F6F9"/>
          </a:solidFill>
          <a:ln w="12700">
            <a:solidFill>
              <a:srgbClr val="F4F6F9"/>
            </a:solidFill>
            <a:prstDash val="solid"/>
          </a:ln>
        </p:spPr>
      </p:sp>
      <p:sp>
        <p:nvSpPr>
          <p:cNvPr id="19" name="Text 17"/>
          <p:cNvSpPr txBox="1"/>
          <p:nvPr/>
        </p:nvSpPr>
        <p:spPr>
          <a:xfrm>
            <a:off x="5321808" y="1984248"/>
            <a:ext cx="1380744" cy="777240"/>
          </a:xfrm>
          <a:prstGeom prst="rect">
            <a:avLst/>
          </a:prstGeom>
          <a:noFill/>
          <a:ln/>
        </p:spPr>
        <p:txBody>
          <a:bodyPr wrap="square" lIns="0" tIns="0" rIns="0" bIns="0" rtlCol="0" anchor="ctr"/>
          <a:lstStyle/>
          <a:p>
            <a:pPr marL="0" indent="0" algn="ctr">
              <a:spcAft>
                <a:spcPts val="400"/>
              </a:spcAft>
              <a:buNone/>
            </a:pPr>
            <a:r>
              <a:rPr lang="en-US" sz="1400" b="1" dirty="0">
                <a:solidFill>
                  <a:srgbClr val="1B2A4A"/>
                </a:solidFill>
              </a:rPr>
              <a:t>Try B</a:t>
            </a:r>
            <a:endParaRPr lang="en-US" sz="1400" dirty="0"/>
          </a:p>
          <a:p>
            <a:pPr marL="0" indent="0" algn="ctr">
              <a:spcAft>
                <a:spcPts val="400"/>
              </a:spcAft>
              <a:buNone/>
            </a:pPr>
            <a:r>
              <a:rPr lang="en-US" sz="1150" dirty="0">
                <a:solidFill>
                  <a:srgbClr val="5F6F80"/>
                </a:solidFill>
              </a:rPr>
              <a:t>81%</a:t>
            </a:r>
            <a:endParaRPr lang="en-US" sz="1400" dirty="0"/>
          </a:p>
        </p:txBody>
      </p:sp>
      <p:sp>
        <p:nvSpPr>
          <p:cNvPr id="20" name="Shape 18"/>
          <p:cNvSpPr/>
          <p:nvPr/>
        </p:nvSpPr>
        <p:spPr>
          <a:xfrm>
            <a:off x="6012180" y="1709928"/>
            <a:ext cx="1828800" cy="256032"/>
          </a:xfrm>
          <a:prstGeom prst="line">
            <a:avLst/>
          </a:prstGeom>
          <a:noFill/>
          <a:ln w="25400">
            <a:solidFill>
              <a:srgbClr val="D4824A"/>
            </a:solidFill>
            <a:prstDash val="solid"/>
            <a:tailEnd type="triangle"/>
          </a:ln>
        </p:spPr>
      </p:sp>
      <p:sp>
        <p:nvSpPr>
          <p:cNvPr id="21" name="Shape 19"/>
          <p:cNvSpPr/>
          <p:nvPr/>
        </p:nvSpPr>
        <p:spPr>
          <a:xfrm>
            <a:off x="7040880" y="1984248"/>
            <a:ext cx="1600200" cy="777240"/>
          </a:xfrm>
          <a:prstGeom prst="roundRect">
            <a:avLst>
              <a:gd name="adj" fmla="val 9412"/>
            </a:avLst>
          </a:prstGeom>
          <a:solidFill>
            <a:srgbClr val="D4824A"/>
          </a:solidFill>
          <a:ln w="12700">
            <a:solidFill>
              <a:srgbClr val="D4824A"/>
            </a:solidFill>
            <a:prstDash val="solid"/>
          </a:ln>
        </p:spPr>
      </p:sp>
      <p:sp>
        <p:nvSpPr>
          <p:cNvPr id="22" name="Text 20"/>
          <p:cNvSpPr txBox="1"/>
          <p:nvPr/>
        </p:nvSpPr>
        <p:spPr>
          <a:xfrm>
            <a:off x="7150608" y="1984248"/>
            <a:ext cx="1380744" cy="777240"/>
          </a:xfrm>
          <a:prstGeom prst="rect">
            <a:avLst/>
          </a:prstGeom>
          <a:noFill/>
          <a:ln/>
        </p:spPr>
        <p:txBody>
          <a:bodyPr wrap="square" lIns="0" tIns="0" rIns="0" bIns="0" rtlCol="0" anchor="ctr"/>
          <a:lstStyle/>
          <a:p>
            <a:pPr marL="0" indent="0" algn="ctr">
              <a:spcAft>
                <a:spcPts val="400"/>
              </a:spcAft>
              <a:buNone/>
            </a:pPr>
            <a:r>
              <a:rPr lang="en-US" sz="1400" b="1" dirty="0">
                <a:solidFill>
                  <a:srgbClr val="FFFFFF"/>
                </a:solidFill>
              </a:rPr>
              <a:t>Try C</a:t>
            </a:r>
            <a:endParaRPr lang="en-US" sz="1400" dirty="0"/>
          </a:p>
          <a:p>
            <a:pPr marL="0" indent="0" algn="ctr">
              <a:spcAft>
                <a:spcPts val="400"/>
              </a:spcAft>
              <a:buNone/>
            </a:pPr>
            <a:r>
              <a:rPr lang="en-US" sz="1150" dirty="0">
                <a:solidFill>
                  <a:srgbClr val="FFFFFF"/>
                </a:solidFill>
              </a:rPr>
              <a:t>86%  ✓ keep</a:t>
            </a:r>
            <a:endParaRPr lang="en-US" sz="1400" dirty="0"/>
          </a:p>
        </p:txBody>
      </p:sp>
      <p:sp>
        <p:nvSpPr>
          <p:cNvPr id="23" name="Text 21"/>
          <p:cNvSpPr txBox="1"/>
          <p:nvPr/>
        </p:nvSpPr>
        <p:spPr>
          <a:xfrm>
            <a:off x="3383280" y="2807208"/>
            <a:ext cx="5257800" cy="237744"/>
          </a:xfrm>
          <a:prstGeom prst="rect">
            <a:avLst/>
          </a:prstGeom>
          <a:noFill/>
          <a:ln/>
        </p:spPr>
        <p:txBody>
          <a:bodyPr wrap="square" lIns="0" tIns="0" rIns="0" bIns="0" rtlCol="0" anchor="ctr"/>
          <a:lstStyle/>
          <a:p>
            <a:pPr marL="0" indent="0">
              <a:buNone/>
            </a:pPr>
            <a:r>
              <a:rPr lang="en-US" sz="1050" i="1" dirty="0">
                <a:solidFill>
                  <a:srgbClr val="5F6F80"/>
                </a:solidFill>
              </a:rPr>
              <a:t>Scores are illustrative. Each try is measured with your metric.</a:t>
            </a:r>
            <a:endParaRPr lang="en-US" sz="1050" dirty="0"/>
          </a:p>
        </p:txBody>
      </p:sp>
      <p:sp>
        <p:nvSpPr>
          <p:cNvPr id="24" name="Shape 22"/>
          <p:cNvSpPr/>
          <p:nvPr/>
        </p:nvSpPr>
        <p:spPr>
          <a:xfrm>
            <a:off x="502920" y="3154680"/>
            <a:ext cx="3977640" cy="502920"/>
          </a:xfrm>
          <a:prstGeom prst="roundRect">
            <a:avLst>
              <a:gd name="adj" fmla="val 14545"/>
            </a:avLst>
          </a:prstGeom>
          <a:solidFill>
            <a:srgbClr val="F4F6F9"/>
          </a:solidFill>
          <a:ln w="12700">
            <a:solidFill>
              <a:srgbClr val="F4F6F9"/>
            </a:solidFill>
            <a:prstDash val="solid"/>
          </a:ln>
        </p:spPr>
      </p:sp>
      <p:sp>
        <p:nvSpPr>
          <p:cNvPr id="25" name="Text 23"/>
          <p:cNvSpPr txBox="1"/>
          <p:nvPr/>
        </p:nvSpPr>
        <p:spPr>
          <a:xfrm>
            <a:off x="685800" y="3154680"/>
            <a:ext cx="3657600" cy="502920"/>
          </a:xfrm>
          <a:prstGeom prst="rect">
            <a:avLst/>
          </a:prstGeom>
          <a:noFill/>
          <a:ln/>
        </p:spPr>
        <p:txBody>
          <a:bodyPr wrap="square" lIns="0" tIns="0" rIns="0" bIns="0" rtlCol="0" anchor="ctr"/>
          <a:lstStyle/>
          <a:p>
            <a:pPr marL="0" indent="0">
              <a:buNone/>
            </a:pPr>
            <a:r>
              <a:rPr lang="en-US" sz="1300" b="1" dirty="0">
                <a:solidFill>
                  <a:srgbClr val="1B2A4A"/>
                </a:solidFill>
                <a:latin typeface="Consolas" pitchFamily="34" charset="0"/>
                <a:ea typeface="Consolas" pitchFamily="34" charset="-122"/>
                <a:cs typeface="Consolas" pitchFamily="34" charset="-120"/>
              </a:rPr>
              <a:t>BootstrapFewShot  </a:t>
            </a:r>
            <a:r>
              <a:rPr lang="en-US" sz="1300" dirty="0">
                <a:solidFill>
                  <a:srgbClr val="5F6F80"/>
                </a:solidFill>
              </a:rPr>
              <a:t>finds good examples</a:t>
            </a:r>
            <a:endParaRPr lang="en-US" sz="1300" dirty="0"/>
          </a:p>
        </p:txBody>
      </p:sp>
      <p:sp>
        <p:nvSpPr>
          <p:cNvPr id="26" name="Shape 24"/>
          <p:cNvSpPr/>
          <p:nvPr/>
        </p:nvSpPr>
        <p:spPr>
          <a:xfrm>
            <a:off x="4663440" y="3154680"/>
            <a:ext cx="3977640" cy="502920"/>
          </a:xfrm>
          <a:prstGeom prst="roundRect">
            <a:avLst>
              <a:gd name="adj" fmla="val 14545"/>
            </a:avLst>
          </a:prstGeom>
          <a:solidFill>
            <a:srgbClr val="F4F6F9"/>
          </a:solidFill>
          <a:ln w="12700">
            <a:solidFill>
              <a:srgbClr val="F4F6F9"/>
            </a:solidFill>
            <a:prstDash val="solid"/>
          </a:ln>
        </p:spPr>
      </p:sp>
      <p:sp>
        <p:nvSpPr>
          <p:cNvPr id="27" name="Text 25"/>
          <p:cNvSpPr txBox="1"/>
          <p:nvPr/>
        </p:nvSpPr>
        <p:spPr>
          <a:xfrm>
            <a:off x="4846320" y="3154680"/>
            <a:ext cx="3657600" cy="502920"/>
          </a:xfrm>
          <a:prstGeom prst="rect">
            <a:avLst/>
          </a:prstGeom>
          <a:noFill/>
          <a:ln/>
        </p:spPr>
        <p:txBody>
          <a:bodyPr wrap="square" lIns="0" tIns="0" rIns="0" bIns="0" rtlCol="0" anchor="ctr"/>
          <a:lstStyle/>
          <a:p>
            <a:pPr marL="0" indent="0">
              <a:buNone/>
            </a:pPr>
            <a:r>
              <a:rPr lang="en-US" sz="1300" b="1" dirty="0">
                <a:solidFill>
                  <a:srgbClr val="1B2A4A"/>
                </a:solidFill>
                <a:latin typeface="Consolas" pitchFamily="34" charset="0"/>
                <a:ea typeface="Consolas" pitchFamily="34" charset="-122"/>
                <a:cs typeface="Consolas" pitchFamily="34" charset="-120"/>
              </a:rPr>
              <a:t>MIPRO  </a:t>
            </a:r>
            <a:r>
              <a:rPr lang="en-US" sz="1300" dirty="0">
                <a:solidFill>
                  <a:srgbClr val="5F6F80"/>
                </a:solidFill>
              </a:rPr>
              <a:t>searches instructions + examples</a:t>
            </a:r>
            <a:endParaRPr lang="en-US" sz="1300" dirty="0"/>
          </a:p>
        </p:txBody>
      </p:sp>
      <p:sp>
        <p:nvSpPr>
          <p:cNvPr id="28" name="Shape 26"/>
          <p:cNvSpPr/>
          <p:nvPr/>
        </p:nvSpPr>
        <p:spPr>
          <a:xfrm>
            <a:off x="502920" y="3840480"/>
            <a:ext cx="8138160" cy="594360"/>
          </a:xfrm>
          <a:prstGeom prst="roundRect">
            <a:avLst>
              <a:gd name="adj" fmla="val 12308"/>
            </a:avLst>
          </a:prstGeom>
          <a:solidFill>
            <a:srgbClr val="FBEFE6"/>
          </a:solidFill>
          <a:ln w="12700">
            <a:solidFill>
              <a:srgbClr val="FBEFE6"/>
            </a:solidFill>
            <a:prstDash val="solid"/>
          </a:ln>
        </p:spPr>
      </p:sp>
      <p:sp>
        <p:nvSpPr>
          <p:cNvPr id="29" name="Text 27"/>
          <p:cNvSpPr txBox="1"/>
          <p:nvPr/>
        </p:nvSpPr>
        <p:spPr>
          <a:xfrm>
            <a:off x="667512" y="3840480"/>
            <a:ext cx="7808976" cy="594360"/>
          </a:xfrm>
          <a:prstGeom prst="rect">
            <a:avLst/>
          </a:prstGeom>
          <a:noFill/>
          <a:ln/>
        </p:spPr>
        <p:txBody>
          <a:bodyPr wrap="square" lIns="0" tIns="0" rIns="0" bIns="0" rtlCol="0" anchor="ctr"/>
          <a:lstStyle/>
          <a:p>
            <a:pPr marL="0" indent="0">
              <a:buNone/>
            </a:pPr>
            <a:r>
              <a:rPr lang="en-US" sz="1000" b="1" kern="0" spc="200" dirty="0">
                <a:solidFill>
                  <a:srgbClr val="D4824A"/>
                </a:solidFill>
              </a:rPr>
              <a:t>KEY POINT  </a:t>
            </a:r>
            <a:r>
              <a:rPr lang="en-US" sz="1300" dirty="0">
                <a:solidFill>
                  <a:srgbClr val="1B2A4A"/>
                </a:solidFill>
              </a:rPr>
              <a:t>Optimization = search + measure + keep the best.</a:t>
            </a:r>
            <a:endParaRPr lang="en-US" sz="1000" dirty="0"/>
          </a:p>
        </p:txBody>
      </p:sp>
      <p:sp>
        <p:nvSpPr>
          <p:cNvPr id="30" name="Slide Number Placeholder 0"/>
          <p:cNvSpPr>
            <a:spLocks noGrp="1"/>
          </p:cNvSpPr>
          <p:nvPr>
            <p:ph type="sldNum" sz="quarter" idx="4294967295"/>
          </p:nvPr>
        </p:nvSpPr>
        <p:spPr>
          <a:xfrm>
            <a:off x="8229600" y="4800600"/>
            <a:ext cx="41148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A0B0C0"/>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02920" y="201168"/>
            <a:ext cx="8138160" cy="256032"/>
          </a:xfrm>
          <a:prstGeom prst="rect">
            <a:avLst/>
          </a:prstGeom>
          <a:noFill/>
          <a:ln/>
        </p:spPr>
        <p:txBody>
          <a:bodyPr wrap="square" lIns="0" tIns="0" rIns="0" bIns="0" rtlCol="0" anchor="ctr"/>
          <a:lstStyle/>
          <a:p>
            <a:pPr marL="0" indent="0">
              <a:buNone/>
            </a:pPr>
            <a:r>
              <a:rPr lang="en-US" sz="1000" b="1" kern="0" spc="300" dirty="0">
                <a:solidFill>
                  <a:srgbClr val="D4824A"/>
                </a:solidFill>
              </a:rPr>
              <a:t>OPTIMIZERS  ·  2 OF 3</a:t>
            </a:r>
            <a:endParaRPr lang="en-US" sz="1000" dirty="0"/>
          </a:p>
        </p:txBody>
      </p:sp>
      <p:sp>
        <p:nvSpPr>
          <p:cNvPr id="3" name="Text 1"/>
          <p:cNvSpPr>
            <a:spLocks noGrp="1"/>
          </p:cNvSpPr>
          <p:nvPr>
            <p:ph type="title" idx="101" hasCustomPrompt="1"/>
          </p:nvPr>
        </p:nvSpPr>
        <p:spPr>
          <a:xfrm>
            <a:off x="502920" y="457200"/>
            <a:ext cx="8138160" cy="594360"/>
          </a:xfrm>
          <a:prstGeom prst="rect">
            <a:avLst/>
          </a:prstGeom>
          <a:noFill/>
          <a:ln/>
        </p:spPr>
        <p:txBody>
          <a:bodyPr wrap="square" lIns="0" tIns="0" rIns="0" bIns="0" rtlCol="0" anchor="ctr"/>
          <a:lstStyle/>
          <a:p>
            <a:pPr marL="0" indent="0" algn="l">
              <a:buNone/>
            </a:pPr>
            <a:r>
              <a:rPr lang="en-US" sz="2800" b="1" dirty="0">
                <a:solidFill>
                  <a:srgbClr val="1B2A4A"/>
                </a:solidFill>
              </a:rPr>
              <a:t>BootstrapFewShot</a:t>
            </a:r>
            <a:endParaRPr lang="en-US" sz="2800" dirty="0"/>
          </a:p>
        </p:txBody>
      </p:sp>
      <p:sp>
        <p:nvSpPr>
          <p:cNvPr id="4" name="Shape 2"/>
          <p:cNvSpPr/>
          <p:nvPr/>
        </p:nvSpPr>
        <p:spPr>
          <a:xfrm>
            <a:off x="502920" y="1298448"/>
            <a:ext cx="329184" cy="329184"/>
          </a:xfrm>
          <a:prstGeom prst="ellipse">
            <a:avLst/>
          </a:prstGeom>
          <a:solidFill>
            <a:srgbClr val="1B2A4A"/>
          </a:solidFill>
          <a:ln w="12700">
            <a:solidFill>
              <a:srgbClr val="1B2A4A"/>
            </a:solidFill>
            <a:prstDash val="solid"/>
          </a:ln>
        </p:spPr>
      </p:sp>
      <p:sp>
        <p:nvSpPr>
          <p:cNvPr id="5" name="Text 3"/>
          <p:cNvSpPr txBox="1"/>
          <p:nvPr/>
        </p:nvSpPr>
        <p:spPr>
          <a:xfrm>
            <a:off x="502920" y="1298448"/>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6" name="Text 4"/>
          <p:cNvSpPr txBox="1"/>
          <p:nvPr/>
        </p:nvSpPr>
        <p:spPr>
          <a:xfrm>
            <a:off x="978408" y="1243584"/>
            <a:ext cx="3364992" cy="621792"/>
          </a:xfrm>
          <a:prstGeom prst="rect">
            <a:avLst/>
          </a:prstGeom>
          <a:noFill/>
          <a:ln/>
        </p:spPr>
        <p:txBody>
          <a:bodyPr wrap="square" lIns="0" tIns="0" rIns="0" bIns="0" rtlCol="0" anchor="t"/>
          <a:lstStyle/>
          <a:p>
            <a:pPr marL="0" indent="0">
              <a:spcAft>
                <a:spcPts val="200"/>
              </a:spcAft>
              <a:buNone/>
            </a:pPr>
            <a:r>
              <a:rPr lang="en-US" sz="1500" b="1" dirty="0">
                <a:solidFill>
                  <a:srgbClr val="1B2A4A"/>
                </a:solidFill>
              </a:rPr>
              <a:t>Give it a small training set</a:t>
            </a:r>
            <a:endParaRPr lang="en-US" sz="1500" dirty="0"/>
          </a:p>
          <a:p>
            <a:pPr marL="0" indent="0">
              <a:spcAft>
                <a:spcPts val="200"/>
              </a:spcAft>
              <a:buNone/>
            </a:pPr>
            <a:r>
              <a:rPr lang="en-US" sz="1200" dirty="0">
                <a:solidFill>
                  <a:srgbClr val="5F6F80"/>
                </a:solidFill>
              </a:rPr>
              <a:t>20-200 examples</a:t>
            </a:r>
            <a:endParaRPr lang="en-US" sz="1500" dirty="0"/>
          </a:p>
        </p:txBody>
      </p:sp>
      <p:sp>
        <p:nvSpPr>
          <p:cNvPr id="7" name="Shape 5"/>
          <p:cNvSpPr/>
          <p:nvPr/>
        </p:nvSpPr>
        <p:spPr>
          <a:xfrm>
            <a:off x="502920" y="1920240"/>
            <a:ext cx="329184" cy="329184"/>
          </a:xfrm>
          <a:prstGeom prst="ellipse">
            <a:avLst/>
          </a:prstGeom>
          <a:solidFill>
            <a:srgbClr val="1B2A4A"/>
          </a:solidFill>
          <a:ln w="12700">
            <a:solidFill>
              <a:srgbClr val="1B2A4A"/>
            </a:solidFill>
            <a:prstDash val="solid"/>
          </a:ln>
        </p:spPr>
      </p:sp>
      <p:sp>
        <p:nvSpPr>
          <p:cNvPr id="8" name="Text 6"/>
          <p:cNvSpPr txBox="1"/>
          <p:nvPr/>
        </p:nvSpPr>
        <p:spPr>
          <a:xfrm>
            <a:off x="502920" y="192024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9" name="Text 7"/>
          <p:cNvSpPr txBox="1"/>
          <p:nvPr/>
        </p:nvSpPr>
        <p:spPr>
          <a:xfrm>
            <a:off x="978408" y="1865376"/>
            <a:ext cx="3364992" cy="621792"/>
          </a:xfrm>
          <a:prstGeom prst="rect">
            <a:avLst/>
          </a:prstGeom>
          <a:noFill/>
          <a:ln/>
        </p:spPr>
        <p:txBody>
          <a:bodyPr wrap="square" lIns="0" tIns="0" rIns="0" bIns="0" rtlCol="0" anchor="t"/>
          <a:lstStyle/>
          <a:p>
            <a:pPr marL="0" indent="0">
              <a:spcAft>
                <a:spcPts val="200"/>
              </a:spcAft>
              <a:buNone/>
            </a:pPr>
            <a:r>
              <a:rPr lang="en-US" sz="1500" b="1" dirty="0">
                <a:solidFill>
                  <a:srgbClr val="1B2A4A"/>
                </a:solidFill>
              </a:rPr>
              <a:t>It runs your program on them</a:t>
            </a:r>
            <a:endParaRPr lang="en-US" sz="1500" dirty="0"/>
          </a:p>
          <a:p>
            <a:pPr marL="0" indent="0">
              <a:spcAft>
                <a:spcPts val="200"/>
              </a:spcAft>
              <a:buNone/>
            </a:pPr>
            <a:r>
              <a:rPr lang="en-US" sz="1200" dirty="0">
                <a:solidFill>
                  <a:srgbClr val="5F6F80"/>
                </a:solidFill>
              </a:rPr>
              <a:t>Keeps runs that pass your metric</a:t>
            </a:r>
            <a:endParaRPr lang="en-US" sz="1500" dirty="0"/>
          </a:p>
        </p:txBody>
      </p:sp>
      <p:sp>
        <p:nvSpPr>
          <p:cNvPr id="10" name="Shape 8"/>
          <p:cNvSpPr/>
          <p:nvPr/>
        </p:nvSpPr>
        <p:spPr>
          <a:xfrm>
            <a:off x="502920" y="2542032"/>
            <a:ext cx="329184" cy="329184"/>
          </a:xfrm>
          <a:prstGeom prst="ellipse">
            <a:avLst/>
          </a:prstGeom>
          <a:solidFill>
            <a:srgbClr val="1B2A4A"/>
          </a:solidFill>
          <a:ln w="12700">
            <a:solidFill>
              <a:srgbClr val="1B2A4A"/>
            </a:solidFill>
            <a:prstDash val="solid"/>
          </a:ln>
        </p:spPr>
      </p:sp>
      <p:sp>
        <p:nvSpPr>
          <p:cNvPr id="11" name="Text 9"/>
          <p:cNvSpPr txBox="1"/>
          <p:nvPr/>
        </p:nvSpPr>
        <p:spPr>
          <a:xfrm>
            <a:off x="502920" y="254203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12" name="Text 10"/>
          <p:cNvSpPr txBox="1"/>
          <p:nvPr/>
        </p:nvSpPr>
        <p:spPr>
          <a:xfrm>
            <a:off x="978408" y="2487168"/>
            <a:ext cx="3364992" cy="621792"/>
          </a:xfrm>
          <a:prstGeom prst="rect">
            <a:avLst/>
          </a:prstGeom>
          <a:noFill/>
          <a:ln/>
        </p:spPr>
        <p:txBody>
          <a:bodyPr wrap="square" lIns="0" tIns="0" rIns="0" bIns="0" rtlCol="0" anchor="t"/>
          <a:lstStyle/>
          <a:p>
            <a:pPr marL="0" indent="0">
              <a:spcAft>
                <a:spcPts val="200"/>
              </a:spcAft>
              <a:buNone/>
            </a:pPr>
            <a:r>
              <a:rPr lang="en-US" sz="1500" b="1" dirty="0">
                <a:solidFill>
                  <a:srgbClr val="1B2A4A"/>
                </a:solidFill>
              </a:rPr>
              <a:t>Passing runs become demos</a:t>
            </a:r>
            <a:endParaRPr lang="en-US" sz="1500" dirty="0"/>
          </a:p>
          <a:p>
            <a:pPr marL="0" indent="0">
              <a:spcAft>
                <a:spcPts val="200"/>
              </a:spcAft>
              <a:buNone/>
            </a:pPr>
            <a:r>
              <a:rPr lang="en-US" sz="1200" dirty="0">
                <a:solidFill>
                  <a:srgbClr val="5F6F80"/>
                </a:solidFill>
              </a:rPr>
              <a:t>Few-shot examples, picked for you</a:t>
            </a:r>
            <a:endParaRPr lang="en-US" sz="1500" dirty="0"/>
          </a:p>
        </p:txBody>
      </p:sp>
      <p:sp>
        <p:nvSpPr>
          <p:cNvPr id="13" name="Shape 11"/>
          <p:cNvSpPr/>
          <p:nvPr/>
        </p:nvSpPr>
        <p:spPr>
          <a:xfrm>
            <a:off x="502920" y="3163824"/>
            <a:ext cx="329184" cy="329184"/>
          </a:xfrm>
          <a:prstGeom prst="ellipse">
            <a:avLst/>
          </a:prstGeom>
          <a:solidFill>
            <a:srgbClr val="1B2A4A"/>
          </a:solidFill>
          <a:ln w="12700">
            <a:solidFill>
              <a:srgbClr val="1B2A4A"/>
            </a:solidFill>
            <a:prstDash val="solid"/>
          </a:ln>
        </p:spPr>
      </p:sp>
      <p:sp>
        <p:nvSpPr>
          <p:cNvPr id="14" name="Text 12"/>
          <p:cNvSpPr txBox="1"/>
          <p:nvPr/>
        </p:nvSpPr>
        <p:spPr>
          <a:xfrm>
            <a:off x="502920" y="316382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15" name="Text 13"/>
          <p:cNvSpPr txBox="1"/>
          <p:nvPr/>
        </p:nvSpPr>
        <p:spPr>
          <a:xfrm>
            <a:off x="978408" y="3108960"/>
            <a:ext cx="3364992" cy="621792"/>
          </a:xfrm>
          <a:prstGeom prst="rect">
            <a:avLst/>
          </a:prstGeom>
          <a:noFill/>
          <a:ln/>
        </p:spPr>
        <p:txBody>
          <a:bodyPr wrap="square" lIns="0" tIns="0" rIns="0" bIns="0" rtlCol="0" anchor="t"/>
          <a:lstStyle/>
          <a:p>
            <a:pPr marL="0" indent="0">
              <a:spcAft>
                <a:spcPts val="200"/>
              </a:spcAft>
              <a:buNone/>
            </a:pPr>
            <a:r>
              <a:rPr lang="en-US" sz="1500" b="1" dirty="0">
                <a:solidFill>
                  <a:srgbClr val="1B2A4A"/>
                </a:solidFill>
              </a:rPr>
              <a:t>compile(), then save()</a:t>
            </a:r>
            <a:endParaRPr lang="en-US" sz="1500" dirty="0"/>
          </a:p>
          <a:p>
            <a:pPr marL="0" indent="0">
              <a:spcAft>
                <a:spcPts val="200"/>
              </a:spcAft>
              <a:buNone/>
            </a:pPr>
            <a:r>
              <a:rPr lang="en-US" sz="1200" dirty="0">
                <a:solidFill>
                  <a:srgbClr val="5F6F80"/>
                </a:solidFill>
              </a:rPr>
              <a:t>Reload later without recompiling</a:t>
            </a:r>
            <a:endParaRPr lang="en-US" sz="1500" dirty="0"/>
          </a:p>
        </p:txBody>
      </p:sp>
      <p:sp>
        <p:nvSpPr>
          <p:cNvPr id="16" name="Shape 14"/>
          <p:cNvSpPr/>
          <p:nvPr/>
        </p:nvSpPr>
        <p:spPr>
          <a:xfrm>
            <a:off x="502920" y="3913632"/>
            <a:ext cx="3840480" cy="658368"/>
          </a:xfrm>
          <a:prstGeom prst="roundRect">
            <a:avLst>
              <a:gd name="adj" fmla="val 11111"/>
            </a:avLst>
          </a:prstGeom>
          <a:solidFill>
            <a:srgbClr val="FBEFE6"/>
          </a:solidFill>
          <a:ln w="12700">
            <a:solidFill>
              <a:srgbClr val="FBEFE6"/>
            </a:solidFill>
            <a:prstDash val="solid"/>
          </a:ln>
        </p:spPr>
      </p:sp>
      <p:sp>
        <p:nvSpPr>
          <p:cNvPr id="17" name="Text 15"/>
          <p:cNvSpPr txBox="1"/>
          <p:nvPr/>
        </p:nvSpPr>
        <p:spPr>
          <a:xfrm>
            <a:off x="667512" y="3913632"/>
            <a:ext cx="3511296" cy="658368"/>
          </a:xfrm>
          <a:prstGeom prst="rect">
            <a:avLst/>
          </a:prstGeom>
          <a:noFill/>
          <a:ln/>
        </p:spPr>
        <p:txBody>
          <a:bodyPr wrap="square" lIns="0" tIns="0" rIns="0" bIns="0" rtlCol="0" anchor="ctr"/>
          <a:lstStyle/>
          <a:p>
            <a:pPr marL="0" indent="0">
              <a:buNone/>
            </a:pPr>
            <a:r>
              <a:rPr lang="en-US" sz="1000" b="1" kern="0" spc="200" dirty="0">
                <a:solidFill>
                  <a:srgbClr val="D4824A"/>
                </a:solidFill>
              </a:rPr>
              <a:t>KEY POINT  </a:t>
            </a:r>
            <a:r>
              <a:rPr lang="en-US" sz="1300" dirty="0">
                <a:solidFill>
                  <a:srgbClr val="1B2A4A"/>
                </a:solidFill>
              </a:rPr>
              <a:t>Start here: it's the fastest and cheapest optimizer.</a:t>
            </a:r>
            <a:endParaRPr lang="en-US" sz="1000" dirty="0"/>
          </a:p>
        </p:txBody>
      </p:sp>
      <p:sp>
        <p:nvSpPr>
          <p:cNvPr id="18" name="Shape 16"/>
          <p:cNvSpPr/>
          <p:nvPr/>
        </p:nvSpPr>
        <p:spPr>
          <a:xfrm>
            <a:off x="4572000" y="1188720"/>
            <a:ext cx="4069080" cy="3383280"/>
          </a:xfrm>
          <a:prstGeom prst="roundRect">
            <a:avLst>
              <a:gd name="adj" fmla="val 2162"/>
            </a:avLst>
          </a:prstGeom>
          <a:solidFill>
            <a:srgbClr val="1B2A4A"/>
          </a:solidFill>
          <a:ln w="12700">
            <a:solidFill>
              <a:srgbClr val="1B2A4A"/>
            </a:solidFill>
            <a:prstDash val="solid"/>
          </a:ln>
        </p:spPr>
      </p:sp>
      <p:sp>
        <p:nvSpPr>
          <p:cNvPr id="19" name="Text 17"/>
          <p:cNvSpPr txBox="1"/>
          <p:nvPr/>
        </p:nvSpPr>
        <p:spPr>
          <a:xfrm>
            <a:off x="4773168" y="1316736"/>
            <a:ext cx="3666744" cy="292608"/>
          </a:xfrm>
          <a:prstGeom prst="rect">
            <a:avLst/>
          </a:prstGeom>
          <a:noFill/>
          <a:ln/>
        </p:spPr>
        <p:txBody>
          <a:bodyPr wrap="square" lIns="0" tIns="0" rIns="0" bIns="0" rtlCol="0" anchor="ctr"/>
          <a:lstStyle/>
          <a:p>
            <a:pPr marL="0" indent="0">
              <a:buNone/>
            </a:pPr>
            <a:r>
              <a:rPr lang="en-US" sz="900" b="1" kern="0" spc="200" dirty="0">
                <a:solidFill>
                  <a:srgbClr val="D4824A"/>
                </a:solidFill>
              </a:rPr>
              <a:t>EXAMPLE  </a:t>
            </a:r>
            <a:r>
              <a:rPr lang="en-US" sz="1200" b="1" dirty="0">
                <a:solidFill>
                  <a:srgbClr val="FFFFFF"/>
                </a:solidFill>
              </a:rPr>
              <a:t>Running BootstrapFewShot (demo 04)</a:t>
            </a:r>
            <a:endParaRPr lang="en-US" sz="900" dirty="0"/>
          </a:p>
        </p:txBody>
      </p:sp>
      <p:sp>
        <p:nvSpPr>
          <p:cNvPr id="20" name="Text 18"/>
          <p:cNvSpPr txBox="1"/>
          <p:nvPr/>
        </p:nvSpPr>
        <p:spPr>
          <a:xfrm>
            <a:off x="4773168" y="1700784"/>
            <a:ext cx="3703320" cy="2743200"/>
          </a:xfrm>
          <a:prstGeom prst="rect">
            <a:avLst/>
          </a:prstGeom>
          <a:noFill/>
          <a:ln/>
        </p:spPr>
        <p:txBody>
          <a:bodyPr wrap="square" lIns="0" tIns="0" rIns="0" bIns="0" rtlCol="0" anchor="t"/>
          <a:lstStyle/>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def accuracy(example, pred, trace=None):</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return pred.label == example.label</a:t>
            </a:r>
            <a:endParaRPr lang="en-US" sz="1050" dirty="0"/>
          </a:p>
          <a:p>
            <a:pPr marL="0" indent="0">
              <a:lnSpc>
                <a:spcPct val="100000"/>
              </a:lnSpc>
              <a:buNone/>
            </a:pP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optimizer = BootstrapFewShot(</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metric=accuracy,</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max_bootstrapped_demos=4,</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max_labeled_demos=8)</a:t>
            </a:r>
            <a:endParaRPr lang="en-US" sz="1050" dirty="0"/>
          </a:p>
          <a:p>
            <a:pPr marL="0" indent="0">
              <a:lnSpc>
                <a:spcPct val="100000"/>
              </a:lnSpc>
              <a:buNone/>
            </a:pP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trained = optimizer.compile(</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student=MyModule(),</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trainset=train_data)</a:t>
            </a:r>
            <a:endParaRPr lang="en-US" sz="1050" dirty="0"/>
          </a:p>
          <a:p>
            <a:pPr marL="0" indent="0">
              <a:lnSpc>
                <a:spcPct val="100000"/>
              </a:lnSpc>
              <a:buNone/>
            </a:pP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trained.save("classifier_v1.json")</a:t>
            </a:r>
            <a:endParaRPr lang="en-US" sz="1050" dirty="0"/>
          </a:p>
        </p:txBody>
      </p:sp>
      <p:sp>
        <p:nvSpPr>
          <p:cNvPr id="25" name="Slide Number Placeholder 0"/>
          <p:cNvSpPr>
            <a:spLocks noGrp="1"/>
          </p:cNvSpPr>
          <p:nvPr>
            <p:ph type="sldNum" sz="quarter" idx="4294967295"/>
          </p:nvPr>
        </p:nvSpPr>
        <p:spPr>
          <a:xfrm>
            <a:off x="8229600" y="4800600"/>
            <a:ext cx="41148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A0B0C0"/>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02920" y="201168"/>
            <a:ext cx="8138160" cy="256032"/>
          </a:xfrm>
          <a:prstGeom prst="rect">
            <a:avLst/>
          </a:prstGeom>
          <a:noFill/>
          <a:ln/>
        </p:spPr>
        <p:txBody>
          <a:bodyPr wrap="square" lIns="0" tIns="0" rIns="0" bIns="0" rtlCol="0" anchor="ctr"/>
          <a:lstStyle/>
          <a:p>
            <a:pPr marL="0" indent="0">
              <a:buNone/>
            </a:pPr>
            <a:r>
              <a:rPr lang="en-US" sz="1000" b="1" kern="0" spc="300" dirty="0">
                <a:solidFill>
                  <a:srgbClr val="D4824A"/>
                </a:solidFill>
              </a:rPr>
              <a:t>OPTIMIZERS  ·  3 OF 3</a:t>
            </a:r>
            <a:endParaRPr lang="en-US" sz="1000" dirty="0"/>
          </a:p>
        </p:txBody>
      </p:sp>
      <p:sp>
        <p:nvSpPr>
          <p:cNvPr id="3" name="Text 1"/>
          <p:cNvSpPr>
            <a:spLocks noGrp="1"/>
          </p:cNvSpPr>
          <p:nvPr>
            <p:ph type="title" idx="101" hasCustomPrompt="1"/>
          </p:nvPr>
        </p:nvSpPr>
        <p:spPr>
          <a:xfrm>
            <a:off x="502920" y="457200"/>
            <a:ext cx="8138160" cy="594360"/>
          </a:xfrm>
          <a:prstGeom prst="rect">
            <a:avLst/>
          </a:prstGeom>
          <a:noFill/>
          <a:ln/>
        </p:spPr>
        <p:txBody>
          <a:bodyPr wrap="square" lIns="0" tIns="0" rIns="0" bIns="0" rtlCol="0" anchor="ctr"/>
          <a:lstStyle/>
          <a:p>
            <a:r>
              <a:rPr lang="en-US" sz="2800" b="1" dirty="0">
                <a:solidFill>
                  <a:srgbClr val="1B2A4A"/>
                </a:solidFill>
              </a:rPr>
              <a:t>MIPRO: Instructions + Examples (</a:t>
            </a:r>
            <a:r>
              <a:rPr lang="en-GB" dirty="0" err="1"/>
              <a:t>Multiprompt</a:t>
            </a:r>
            <a:r>
              <a:rPr lang="en-GB" dirty="0"/>
              <a:t> Instruction </a:t>
            </a:r>
            <a:r>
              <a:rPr lang="en-GB" dirty="0" err="1"/>
              <a:t>PRoposal</a:t>
            </a:r>
            <a:r>
              <a:rPr lang="en-GB" dirty="0"/>
              <a:t> Optimizer )</a:t>
            </a:r>
            <a:endParaRPr lang="en-US" sz="2800" dirty="0"/>
          </a:p>
        </p:txBody>
      </p:sp>
      <p:sp>
        <p:nvSpPr>
          <p:cNvPr id="4" name="Shape 2"/>
          <p:cNvSpPr/>
          <p:nvPr/>
        </p:nvSpPr>
        <p:spPr>
          <a:xfrm>
            <a:off x="502920" y="1298448"/>
            <a:ext cx="329184" cy="329184"/>
          </a:xfrm>
          <a:prstGeom prst="ellipse">
            <a:avLst/>
          </a:prstGeom>
          <a:solidFill>
            <a:srgbClr val="1B2A4A"/>
          </a:solidFill>
          <a:ln w="12700">
            <a:solidFill>
              <a:srgbClr val="1B2A4A"/>
            </a:solidFill>
            <a:prstDash val="solid"/>
          </a:ln>
        </p:spPr>
      </p:sp>
      <p:sp>
        <p:nvSpPr>
          <p:cNvPr id="5" name="Text 3"/>
          <p:cNvSpPr txBox="1"/>
          <p:nvPr/>
        </p:nvSpPr>
        <p:spPr>
          <a:xfrm>
            <a:off x="502920" y="1298448"/>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6" name="Text 4"/>
          <p:cNvSpPr txBox="1"/>
          <p:nvPr/>
        </p:nvSpPr>
        <p:spPr>
          <a:xfrm>
            <a:off x="978408" y="1243584"/>
            <a:ext cx="3364992" cy="621792"/>
          </a:xfrm>
          <a:prstGeom prst="rect">
            <a:avLst/>
          </a:prstGeom>
          <a:noFill/>
          <a:ln/>
        </p:spPr>
        <p:txBody>
          <a:bodyPr wrap="square" lIns="0" tIns="0" rIns="0" bIns="0" rtlCol="0" anchor="t"/>
          <a:lstStyle/>
          <a:p>
            <a:pPr marL="0" indent="0">
              <a:spcAft>
                <a:spcPts val="200"/>
              </a:spcAft>
              <a:buNone/>
            </a:pPr>
            <a:r>
              <a:rPr lang="en-US" sz="1500" b="1" dirty="0">
                <a:solidFill>
                  <a:srgbClr val="1B2A4A"/>
                </a:solidFill>
              </a:rPr>
              <a:t>Also rewrites the instruction</a:t>
            </a:r>
            <a:endParaRPr lang="en-US" sz="1500" dirty="0"/>
          </a:p>
          <a:p>
            <a:pPr marL="0" indent="0">
              <a:spcAft>
                <a:spcPts val="200"/>
              </a:spcAft>
              <a:buNone/>
            </a:pPr>
            <a:r>
              <a:rPr lang="en-US" sz="1200" dirty="0">
                <a:solidFill>
                  <a:srgbClr val="5F6F80"/>
                </a:solidFill>
              </a:rPr>
              <a:t>Tries many phrasings, keeps the best</a:t>
            </a:r>
            <a:endParaRPr lang="en-US" sz="1500" dirty="0"/>
          </a:p>
        </p:txBody>
      </p:sp>
      <p:sp>
        <p:nvSpPr>
          <p:cNvPr id="7" name="Shape 5"/>
          <p:cNvSpPr/>
          <p:nvPr/>
        </p:nvSpPr>
        <p:spPr>
          <a:xfrm>
            <a:off x="502920" y="1920240"/>
            <a:ext cx="329184" cy="329184"/>
          </a:xfrm>
          <a:prstGeom prst="ellipse">
            <a:avLst/>
          </a:prstGeom>
          <a:solidFill>
            <a:srgbClr val="1B2A4A"/>
          </a:solidFill>
          <a:ln w="12700">
            <a:solidFill>
              <a:srgbClr val="1B2A4A"/>
            </a:solidFill>
            <a:prstDash val="solid"/>
          </a:ln>
        </p:spPr>
      </p:sp>
      <p:sp>
        <p:nvSpPr>
          <p:cNvPr id="8" name="Text 6"/>
          <p:cNvSpPr txBox="1"/>
          <p:nvPr/>
        </p:nvSpPr>
        <p:spPr>
          <a:xfrm>
            <a:off x="502920" y="192024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9" name="Text 7"/>
          <p:cNvSpPr txBox="1"/>
          <p:nvPr/>
        </p:nvSpPr>
        <p:spPr>
          <a:xfrm>
            <a:off x="978408" y="1865376"/>
            <a:ext cx="3364992" cy="621792"/>
          </a:xfrm>
          <a:prstGeom prst="rect">
            <a:avLst/>
          </a:prstGeom>
          <a:noFill/>
          <a:ln/>
        </p:spPr>
        <p:txBody>
          <a:bodyPr wrap="square" lIns="0" tIns="0" rIns="0" bIns="0" rtlCol="0" anchor="t"/>
          <a:lstStyle/>
          <a:p>
            <a:pPr marL="0" indent="0">
              <a:spcAft>
                <a:spcPts val="200"/>
              </a:spcAft>
              <a:buNone/>
            </a:pPr>
            <a:r>
              <a:rPr lang="en-US" sz="1500" b="1" dirty="0">
                <a:solidFill>
                  <a:srgbClr val="1B2A4A"/>
                </a:solidFill>
              </a:rPr>
              <a:t>Smart search, not random</a:t>
            </a:r>
            <a:endParaRPr lang="en-US" sz="1500" dirty="0"/>
          </a:p>
          <a:p>
            <a:pPr marL="0" indent="0">
              <a:spcAft>
                <a:spcPts val="200"/>
              </a:spcAft>
              <a:buNone/>
            </a:pPr>
            <a:r>
              <a:rPr lang="en-US" sz="1200" dirty="0">
                <a:solidFill>
                  <a:srgbClr val="5F6F80"/>
                </a:solidFill>
              </a:rPr>
              <a:t>Bayesian search means fewer calls</a:t>
            </a:r>
            <a:endParaRPr lang="en-US" sz="1500" dirty="0"/>
          </a:p>
        </p:txBody>
      </p:sp>
      <p:sp>
        <p:nvSpPr>
          <p:cNvPr id="10" name="Shape 8"/>
          <p:cNvSpPr/>
          <p:nvPr/>
        </p:nvSpPr>
        <p:spPr>
          <a:xfrm>
            <a:off x="502920" y="2542032"/>
            <a:ext cx="329184" cy="329184"/>
          </a:xfrm>
          <a:prstGeom prst="ellipse">
            <a:avLst/>
          </a:prstGeom>
          <a:solidFill>
            <a:srgbClr val="1B2A4A"/>
          </a:solidFill>
          <a:ln w="12700">
            <a:solidFill>
              <a:srgbClr val="1B2A4A"/>
            </a:solidFill>
            <a:prstDash val="solid"/>
          </a:ln>
        </p:spPr>
      </p:sp>
      <p:sp>
        <p:nvSpPr>
          <p:cNvPr id="11" name="Text 9"/>
          <p:cNvSpPr txBox="1"/>
          <p:nvPr/>
        </p:nvSpPr>
        <p:spPr>
          <a:xfrm>
            <a:off x="502920" y="254203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12" name="Text 10"/>
          <p:cNvSpPr txBox="1"/>
          <p:nvPr/>
        </p:nvSpPr>
        <p:spPr>
          <a:xfrm>
            <a:off x="978408" y="2487168"/>
            <a:ext cx="3364992" cy="621792"/>
          </a:xfrm>
          <a:prstGeom prst="rect">
            <a:avLst/>
          </a:prstGeom>
          <a:noFill/>
          <a:ln/>
        </p:spPr>
        <p:txBody>
          <a:bodyPr wrap="square" lIns="0" tIns="0" rIns="0" bIns="0" rtlCol="0" anchor="t"/>
          <a:lstStyle/>
          <a:p>
            <a:pPr marL="0" indent="0">
              <a:spcAft>
                <a:spcPts val="200"/>
              </a:spcAft>
              <a:buNone/>
            </a:pPr>
            <a:r>
              <a:rPr lang="en-US" sz="1500" b="1" dirty="0">
                <a:solidFill>
                  <a:srgbClr val="1B2A4A"/>
                </a:solidFill>
              </a:rPr>
              <a:t>Needs a validation set</a:t>
            </a:r>
            <a:endParaRPr lang="en-US" sz="1500" dirty="0"/>
          </a:p>
          <a:p>
            <a:pPr marL="0" indent="0">
              <a:spcAft>
                <a:spcPts val="200"/>
              </a:spcAft>
              <a:buNone/>
            </a:pPr>
            <a:r>
              <a:rPr lang="en-US" sz="1200" dirty="0">
                <a:solidFill>
                  <a:srgbClr val="5F6F80"/>
                </a:solidFill>
              </a:rPr>
              <a:t>Hold out 15-20% of your data</a:t>
            </a:r>
            <a:endParaRPr lang="en-US" sz="1500" dirty="0"/>
          </a:p>
        </p:txBody>
      </p:sp>
      <p:sp>
        <p:nvSpPr>
          <p:cNvPr id="13" name="Shape 11"/>
          <p:cNvSpPr/>
          <p:nvPr/>
        </p:nvSpPr>
        <p:spPr>
          <a:xfrm>
            <a:off x="502920" y="3163824"/>
            <a:ext cx="329184" cy="329184"/>
          </a:xfrm>
          <a:prstGeom prst="ellipse">
            <a:avLst/>
          </a:prstGeom>
          <a:solidFill>
            <a:srgbClr val="1B2A4A"/>
          </a:solidFill>
          <a:ln w="12700">
            <a:solidFill>
              <a:srgbClr val="1B2A4A"/>
            </a:solidFill>
            <a:prstDash val="solid"/>
          </a:ln>
        </p:spPr>
      </p:sp>
      <p:sp>
        <p:nvSpPr>
          <p:cNvPr id="14" name="Text 12"/>
          <p:cNvSpPr txBox="1"/>
          <p:nvPr/>
        </p:nvSpPr>
        <p:spPr>
          <a:xfrm>
            <a:off x="502920" y="316382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15" name="Text 13"/>
          <p:cNvSpPr txBox="1"/>
          <p:nvPr/>
        </p:nvSpPr>
        <p:spPr>
          <a:xfrm>
            <a:off x="978408" y="3108960"/>
            <a:ext cx="3364992" cy="621792"/>
          </a:xfrm>
          <a:prstGeom prst="rect">
            <a:avLst/>
          </a:prstGeom>
          <a:noFill/>
          <a:ln/>
        </p:spPr>
        <p:txBody>
          <a:bodyPr wrap="square" lIns="0" tIns="0" rIns="0" bIns="0" rtlCol="0" anchor="t"/>
          <a:lstStyle/>
          <a:p>
            <a:pPr marL="0" indent="0">
              <a:spcAft>
                <a:spcPts val="200"/>
              </a:spcAft>
              <a:buNone/>
            </a:pPr>
            <a:r>
              <a:rPr lang="en-US" sz="1500" b="1" dirty="0">
                <a:solidFill>
                  <a:srgbClr val="1B2A4A"/>
                </a:solidFill>
              </a:rPr>
              <a:t>Costs more LLM calls</a:t>
            </a:r>
            <a:endParaRPr lang="en-US" sz="1500" dirty="0"/>
          </a:p>
          <a:p>
            <a:pPr marL="0" indent="0">
              <a:spcAft>
                <a:spcPts val="200"/>
              </a:spcAft>
              <a:buNone/>
            </a:pPr>
            <a:r>
              <a:rPr lang="en-US" sz="1200" dirty="0">
                <a:solidFill>
                  <a:srgbClr val="5F6F80"/>
                </a:solidFill>
              </a:rPr>
              <a:t>Tens to hundreds per run</a:t>
            </a:r>
            <a:endParaRPr lang="en-US" sz="1500" dirty="0"/>
          </a:p>
        </p:txBody>
      </p:sp>
      <p:sp>
        <p:nvSpPr>
          <p:cNvPr id="16" name="Shape 14"/>
          <p:cNvSpPr/>
          <p:nvPr/>
        </p:nvSpPr>
        <p:spPr>
          <a:xfrm>
            <a:off x="502920" y="3913632"/>
            <a:ext cx="3840480" cy="658368"/>
          </a:xfrm>
          <a:prstGeom prst="roundRect">
            <a:avLst>
              <a:gd name="adj" fmla="val 11111"/>
            </a:avLst>
          </a:prstGeom>
          <a:solidFill>
            <a:srgbClr val="FBEFE6"/>
          </a:solidFill>
          <a:ln w="12700">
            <a:solidFill>
              <a:srgbClr val="FBEFE6"/>
            </a:solidFill>
            <a:prstDash val="solid"/>
          </a:ln>
        </p:spPr>
      </p:sp>
      <p:sp>
        <p:nvSpPr>
          <p:cNvPr id="17" name="Text 15"/>
          <p:cNvSpPr txBox="1"/>
          <p:nvPr/>
        </p:nvSpPr>
        <p:spPr>
          <a:xfrm>
            <a:off x="667512" y="3913632"/>
            <a:ext cx="3511296" cy="658368"/>
          </a:xfrm>
          <a:prstGeom prst="rect">
            <a:avLst/>
          </a:prstGeom>
          <a:noFill/>
          <a:ln/>
        </p:spPr>
        <p:txBody>
          <a:bodyPr wrap="square" lIns="0" tIns="0" rIns="0" bIns="0" rtlCol="0" anchor="ctr"/>
          <a:lstStyle/>
          <a:p>
            <a:pPr marL="0" indent="0">
              <a:buNone/>
            </a:pPr>
            <a:r>
              <a:rPr lang="en-US" sz="1000" b="1" kern="0" spc="200" dirty="0">
                <a:solidFill>
                  <a:srgbClr val="D4824A"/>
                </a:solidFill>
              </a:rPr>
              <a:t>KEY POINT  </a:t>
            </a:r>
            <a:r>
              <a:rPr lang="en-US" sz="1300" dirty="0">
                <a:solidFill>
                  <a:srgbClr val="1B2A4A"/>
                </a:solidFill>
              </a:rPr>
              <a:t>Move to MIPRO once BootstrapFewShot stops improving.</a:t>
            </a:r>
            <a:endParaRPr lang="en-US" sz="1000" dirty="0"/>
          </a:p>
        </p:txBody>
      </p:sp>
      <p:sp>
        <p:nvSpPr>
          <p:cNvPr id="18" name="Shape 16"/>
          <p:cNvSpPr/>
          <p:nvPr/>
        </p:nvSpPr>
        <p:spPr>
          <a:xfrm>
            <a:off x="4572000" y="1188720"/>
            <a:ext cx="4069080" cy="3383280"/>
          </a:xfrm>
          <a:prstGeom prst="roundRect">
            <a:avLst>
              <a:gd name="adj" fmla="val 2162"/>
            </a:avLst>
          </a:prstGeom>
          <a:solidFill>
            <a:srgbClr val="1B2A4A"/>
          </a:solidFill>
          <a:ln w="12700">
            <a:solidFill>
              <a:srgbClr val="1B2A4A"/>
            </a:solidFill>
            <a:prstDash val="solid"/>
          </a:ln>
        </p:spPr>
      </p:sp>
      <p:sp>
        <p:nvSpPr>
          <p:cNvPr id="19" name="Text 17"/>
          <p:cNvSpPr txBox="1"/>
          <p:nvPr/>
        </p:nvSpPr>
        <p:spPr>
          <a:xfrm>
            <a:off x="4773168" y="1316736"/>
            <a:ext cx="3666744" cy="292608"/>
          </a:xfrm>
          <a:prstGeom prst="rect">
            <a:avLst/>
          </a:prstGeom>
          <a:noFill/>
          <a:ln/>
        </p:spPr>
        <p:txBody>
          <a:bodyPr wrap="square" lIns="0" tIns="0" rIns="0" bIns="0" rtlCol="0" anchor="ctr"/>
          <a:lstStyle/>
          <a:p>
            <a:pPr marL="0" indent="0">
              <a:buNone/>
            </a:pPr>
            <a:r>
              <a:rPr lang="en-US" sz="900" b="1" kern="0" spc="200" dirty="0">
                <a:solidFill>
                  <a:srgbClr val="D4824A"/>
                </a:solidFill>
              </a:rPr>
              <a:t>EXAMPLE  </a:t>
            </a:r>
            <a:r>
              <a:rPr lang="en-US" sz="1200" b="1" dirty="0">
                <a:solidFill>
                  <a:srgbClr val="FFFFFF"/>
                </a:solidFill>
              </a:rPr>
              <a:t>Running MIPRO (demo 05)</a:t>
            </a:r>
            <a:endParaRPr lang="en-US" sz="900" dirty="0"/>
          </a:p>
        </p:txBody>
      </p:sp>
      <p:sp>
        <p:nvSpPr>
          <p:cNvPr id="20" name="Text 18"/>
          <p:cNvSpPr txBox="1"/>
          <p:nvPr/>
        </p:nvSpPr>
        <p:spPr>
          <a:xfrm>
            <a:off x="4773168" y="1700784"/>
            <a:ext cx="3703320" cy="2743200"/>
          </a:xfrm>
          <a:prstGeom prst="rect">
            <a:avLst/>
          </a:prstGeom>
          <a:noFill/>
          <a:ln/>
        </p:spPr>
        <p:txBody>
          <a:bodyPr wrap="square" lIns="0" tIns="0" rIns="0" bIns="0" rtlCol="0" anchor="t"/>
          <a:lstStyle/>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from dspy.teleprompt import MIPROv2</a:t>
            </a:r>
            <a:endParaRPr lang="en-US" sz="1050" dirty="0"/>
          </a:p>
          <a:p>
            <a:pPr marL="0" indent="0">
              <a:lnSpc>
                <a:spcPct val="100000"/>
              </a:lnSpc>
              <a:buNone/>
            </a:pP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optimizer = MIPROv2(</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metric=accuracy,</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auto="light")  # light / medium / heavy</a:t>
            </a:r>
            <a:endParaRPr lang="en-US" sz="1050" dirty="0"/>
          </a:p>
          <a:p>
            <a:pPr marL="0" indent="0">
              <a:lnSpc>
                <a:spcPct val="100000"/>
              </a:lnSpc>
              <a:buNone/>
            </a:pP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trained = optimizer.compile(</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student=MyModule(),</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trainset=train_data,</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valset=val_data)</a:t>
            </a:r>
            <a:endParaRPr lang="en-US" sz="1050" dirty="0"/>
          </a:p>
          <a:p>
            <a:pPr marL="0" indent="0">
              <a:lnSpc>
                <a:spcPct val="100000"/>
              </a:lnSpc>
              <a:buNone/>
            </a:pP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Optimizes BOTH:</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1. the instruction text</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2. the few-shot examples</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trained.save("classifier_mipro.json")</a:t>
            </a:r>
            <a:endParaRPr lang="en-US" sz="1050" dirty="0"/>
          </a:p>
        </p:txBody>
      </p:sp>
      <p:sp>
        <p:nvSpPr>
          <p:cNvPr id="25" name="Slide Number Placeholder 0"/>
          <p:cNvSpPr>
            <a:spLocks noGrp="1"/>
          </p:cNvSpPr>
          <p:nvPr>
            <p:ph type="sldNum" sz="quarter" idx="4294967295"/>
          </p:nvPr>
        </p:nvSpPr>
        <p:spPr>
          <a:xfrm>
            <a:off x="8229600" y="4800600"/>
            <a:ext cx="41148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A0B0C0"/>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02920" y="201168"/>
            <a:ext cx="8138160" cy="256032"/>
          </a:xfrm>
          <a:prstGeom prst="rect">
            <a:avLst/>
          </a:prstGeom>
          <a:noFill/>
          <a:ln/>
        </p:spPr>
        <p:txBody>
          <a:bodyPr wrap="square" lIns="0" tIns="0" rIns="0" bIns="0" rtlCol="0" anchor="ctr"/>
          <a:lstStyle/>
          <a:p>
            <a:pPr marL="0" indent="0">
              <a:buNone/>
            </a:pPr>
            <a:r>
              <a:rPr lang="en-US" sz="1000" b="1" kern="0" spc="300" dirty="0">
                <a:solidFill>
                  <a:srgbClr val="D4824A"/>
                </a:solidFill>
              </a:rPr>
              <a:t>COMPILATION &amp; EVALUATION  ·  1 OF 4</a:t>
            </a:r>
            <a:endParaRPr lang="en-US" sz="1000" dirty="0"/>
          </a:p>
        </p:txBody>
      </p:sp>
      <p:sp>
        <p:nvSpPr>
          <p:cNvPr id="3" name="Text 1"/>
          <p:cNvSpPr>
            <a:spLocks noGrp="1"/>
          </p:cNvSpPr>
          <p:nvPr>
            <p:ph type="title" idx="101" hasCustomPrompt="1"/>
          </p:nvPr>
        </p:nvSpPr>
        <p:spPr>
          <a:xfrm>
            <a:off x="502920" y="457200"/>
            <a:ext cx="8138160" cy="594360"/>
          </a:xfrm>
          <a:prstGeom prst="rect">
            <a:avLst/>
          </a:prstGeom>
          <a:noFill/>
          <a:ln/>
        </p:spPr>
        <p:txBody>
          <a:bodyPr wrap="square" lIns="0" tIns="0" rIns="0" bIns="0" rtlCol="0" anchor="ctr"/>
          <a:lstStyle/>
          <a:p>
            <a:pPr marL="0" indent="0" algn="l">
              <a:buNone/>
            </a:pPr>
            <a:r>
              <a:rPr lang="en-US" sz="2800" b="1" dirty="0">
                <a:solidFill>
                  <a:srgbClr val="1B2A4A"/>
                </a:solidFill>
              </a:rPr>
              <a:t>The Complete DSPy Workflow</a:t>
            </a:r>
            <a:endParaRPr lang="en-US" sz="2800" dirty="0"/>
          </a:p>
        </p:txBody>
      </p:sp>
      <p:sp>
        <p:nvSpPr>
          <p:cNvPr id="4" name="Text 2"/>
          <p:cNvSpPr txBox="1"/>
          <p:nvPr/>
        </p:nvSpPr>
        <p:spPr>
          <a:xfrm>
            <a:off x="502920" y="1188720"/>
            <a:ext cx="8138160" cy="237744"/>
          </a:xfrm>
          <a:prstGeom prst="rect">
            <a:avLst/>
          </a:prstGeom>
          <a:noFill/>
          <a:ln/>
        </p:spPr>
        <p:txBody>
          <a:bodyPr wrap="square" lIns="0" tIns="0" rIns="0" bIns="0" rtlCol="0" anchor="ctr"/>
          <a:lstStyle/>
          <a:p>
            <a:pPr marL="0" indent="0">
              <a:buNone/>
            </a:pPr>
            <a:r>
              <a:rPr lang="en-US" sz="1000" b="1" kern="0" spc="300" dirty="0">
                <a:solidFill>
                  <a:srgbClr val="D4824A"/>
                </a:solidFill>
              </a:rPr>
              <a:t>BUILD IT</a:t>
            </a:r>
            <a:endParaRPr lang="en-US" sz="1000" dirty="0"/>
          </a:p>
        </p:txBody>
      </p:sp>
      <p:sp>
        <p:nvSpPr>
          <p:cNvPr id="5" name="Shape 3"/>
          <p:cNvSpPr/>
          <p:nvPr/>
        </p:nvSpPr>
        <p:spPr>
          <a:xfrm>
            <a:off x="502920" y="1463040"/>
            <a:ext cx="1463040" cy="502920"/>
          </a:xfrm>
          <a:prstGeom prst="roundRect">
            <a:avLst>
              <a:gd name="adj" fmla="val 14545"/>
            </a:avLst>
          </a:prstGeom>
          <a:solidFill>
            <a:srgbClr val="1B2A4A"/>
          </a:solidFill>
          <a:ln w="12700">
            <a:solidFill>
              <a:srgbClr val="1B2A4A"/>
            </a:solidFill>
            <a:prstDash val="solid"/>
          </a:ln>
        </p:spPr>
      </p:sp>
      <p:sp>
        <p:nvSpPr>
          <p:cNvPr id="6" name="Text 4"/>
          <p:cNvSpPr txBox="1"/>
          <p:nvPr/>
        </p:nvSpPr>
        <p:spPr>
          <a:xfrm>
            <a:off x="612648" y="1463040"/>
            <a:ext cx="1243584" cy="502920"/>
          </a:xfrm>
          <a:prstGeom prst="rect">
            <a:avLst/>
          </a:prstGeom>
          <a:noFill/>
          <a:ln/>
        </p:spPr>
        <p:txBody>
          <a:bodyPr wrap="square" lIns="0" tIns="0" rIns="0" bIns="0" rtlCol="0" anchor="ctr"/>
          <a:lstStyle/>
          <a:p>
            <a:pPr marL="0" indent="0" algn="ctr">
              <a:spcAft>
                <a:spcPts val="400"/>
              </a:spcAft>
              <a:buNone/>
            </a:pPr>
            <a:r>
              <a:rPr lang="en-US" sz="1400" b="1" dirty="0">
                <a:solidFill>
                  <a:srgbClr val="FFFFFF"/>
                </a:solidFill>
              </a:rPr>
              <a:t>1  Define task</a:t>
            </a:r>
            <a:endParaRPr lang="en-US" sz="1400" dirty="0"/>
          </a:p>
        </p:txBody>
      </p:sp>
      <p:sp>
        <p:nvSpPr>
          <p:cNvPr id="7" name="Shape 5"/>
          <p:cNvSpPr/>
          <p:nvPr/>
        </p:nvSpPr>
        <p:spPr>
          <a:xfrm>
            <a:off x="1984248" y="1714500"/>
            <a:ext cx="169164" cy="0"/>
          </a:xfrm>
          <a:prstGeom prst="line">
            <a:avLst/>
          </a:prstGeom>
          <a:noFill/>
          <a:ln w="25400">
            <a:solidFill>
              <a:srgbClr val="D4824A"/>
            </a:solidFill>
            <a:prstDash val="solid"/>
            <a:tailEnd type="triangle"/>
          </a:ln>
        </p:spPr>
      </p:sp>
      <p:sp>
        <p:nvSpPr>
          <p:cNvPr id="8" name="Shape 6"/>
          <p:cNvSpPr/>
          <p:nvPr/>
        </p:nvSpPr>
        <p:spPr>
          <a:xfrm>
            <a:off x="2171700" y="1463040"/>
            <a:ext cx="1463040" cy="502920"/>
          </a:xfrm>
          <a:prstGeom prst="roundRect">
            <a:avLst>
              <a:gd name="adj" fmla="val 14545"/>
            </a:avLst>
          </a:prstGeom>
          <a:solidFill>
            <a:srgbClr val="1B2A4A"/>
          </a:solidFill>
          <a:ln w="12700">
            <a:solidFill>
              <a:srgbClr val="1B2A4A"/>
            </a:solidFill>
            <a:prstDash val="solid"/>
          </a:ln>
        </p:spPr>
      </p:sp>
      <p:sp>
        <p:nvSpPr>
          <p:cNvPr id="9" name="Text 7"/>
          <p:cNvSpPr txBox="1"/>
          <p:nvPr/>
        </p:nvSpPr>
        <p:spPr>
          <a:xfrm>
            <a:off x="2281428" y="1463040"/>
            <a:ext cx="1243584" cy="502920"/>
          </a:xfrm>
          <a:prstGeom prst="rect">
            <a:avLst/>
          </a:prstGeom>
          <a:noFill/>
          <a:ln/>
        </p:spPr>
        <p:txBody>
          <a:bodyPr wrap="square" lIns="0" tIns="0" rIns="0" bIns="0" rtlCol="0" anchor="ctr"/>
          <a:lstStyle/>
          <a:p>
            <a:pPr marL="0" indent="0" algn="ctr">
              <a:spcAft>
                <a:spcPts val="400"/>
              </a:spcAft>
              <a:buNone/>
            </a:pPr>
            <a:r>
              <a:rPr lang="en-US" sz="1400" b="1" dirty="0">
                <a:solidFill>
                  <a:srgbClr val="FFFFFF"/>
                </a:solidFill>
              </a:rPr>
              <a:t>2  Signature</a:t>
            </a:r>
            <a:endParaRPr lang="en-US" sz="1400" dirty="0"/>
          </a:p>
        </p:txBody>
      </p:sp>
      <p:sp>
        <p:nvSpPr>
          <p:cNvPr id="10" name="Shape 8"/>
          <p:cNvSpPr/>
          <p:nvPr/>
        </p:nvSpPr>
        <p:spPr>
          <a:xfrm>
            <a:off x="3653028" y="1714500"/>
            <a:ext cx="169164" cy="0"/>
          </a:xfrm>
          <a:prstGeom prst="line">
            <a:avLst/>
          </a:prstGeom>
          <a:noFill/>
          <a:ln w="25400">
            <a:solidFill>
              <a:srgbClr val="D4824A"/>
            </a:solidFill>
            <a:prstDash val="solid"/>
            <a:tailEnd type="triangle"/>
          </a:ln>
        </p:spPr>
      </p:sp>
      <p:sp>
        <p:nvSpPr>
          <p:cNvPr id="11" name="Shape 9"/>
          <p:cNvSpPr/>
          <p:nvPr/>
        </p:nvSpPr>
        <p:spPr>
          <a:xfrm>
            <a:off x="3840480" y="1463040"/>
            <a:ext cx="1463040" cy="502920"/>
          </a:xfrm>
          <a:prstGeom prst="roundRect">
            <a:avLst>
              <a:gd name="adj" fmla="val 14545"/>
            </a:avLst>
          </a:prstGeom>
          <a:solidFill>
            <a:srgbClr val="1B2A4A"/>
          </a:solidFill>
          <a:ln w="12700">
            <a:solidFill>
              <a:srgbClr val="1B2A4A"/>
            </a:solidFill>
            <a:prstDash val="solid"/>
          </a:ln>
        </p:spPr>
      </p:sp>
      <p:sp>
        <p:nvSpPr>
          <p:cNvPr id="12" name="Text 10"/>
          <p:cNvSpPr txBox="1"/>
          <p:nvPr/>
        </p:nvSpPr>
        <p:spPr>
          <a:xfrm>
            <a:off x="3950208" y="1463040"/>
            <a:ext cx="1243584" cy="502920"/>
          </a:xfrm>
          <a:prstGeom prst="rect">
            <a:avLst/>
          </a:prstGeom>
          <a:noFill/>
          <a:ln/>
        </p:spPr>
        <p:txBody>
          <a:bodyPr wrap="square" lIns="0" tIns="0" rIns="0" bIns="0" rtlCol="0" anchor="ctr"/>
          <a:lstStyle/>
          <a:p>
            <a:pPr marL="0" indent="0" algn="ctr">
              <a:spcAft>
                <a:spcPts val="400"/>
              </a:spcAft>
              <a:buNone/>
            </a:pPr>
            <a:r>
              <a:rPr lang="en-US" sz="1400" b="1" dirty="0">
                <a:solidFill>
                  <a:srgbClr val="FFFFFF"/>
                </a:solidFill>
              </a:rPr>
              <a:t>3  Module</a:t>
            </a:r>
            <a:endParaRPr lang="en-US" sz="1400" dirty="0"/>
          </a:p>
        </p:txBody>
      </p:sp>
      <p:sp>
        <p:nvSpPr>
          <p:cNvPr id="13" name="Shape 11"/>
          <p:cNvSpPr/>
          <p:nvPr/>
        </p:nvSpPr>
        <p:spPr>
          <a:xfrm>
            <a:off x="5321808" y="1714500"/>
            <a:ext cx="169164" cy="0"/>
          </a:xfrm>
          <a:prstGeom prst="line">
            <a:avLst/>
          </a:prstGeom>
          <a:noFill/>
          <a:ln w="25400">
            <a:solidFill>
              <a:srgbClr val="D4824A"/>
            </a:solidFill>
            <a:prstDash val="solid"/>
            <a:tailEnd type="triangle"/>
          </a:ln>
        </p:spPr>
      </p:sp>
      <p:sp>
        <p:nvSpPr>
          <p:cNvPr id="14" name="Shape 12"/>
          <p:cNvSpPr/>
          <p:nvPr/>
        </p:nvSpPr>
        <p:spPr>
          <a:xfrm>
            <a:off x="5509260" y="1463040"/>
            <a:ext cx="1463040" cy="502920"/>
          </a:xfrm>
          <a:prstGeom prst="roundRect">
            <a:avLst>
              <a:gd name="adj" fmla="val 14545"/>
            </a:avLst>
          </a:prstGeom>
          <a:solidFill>
            <a:srgbClr val="1B2A4A"/>
          </a:solidFill>
          <a:ln w="12700">
            <a:solidFill>
              <a:srgbClr val="1B2A4A"/>
            </a:solidFill>
            <a:prstDash val="solid"/>
          </a:ln>
        </p:spPr>
      </p:sp>
      <p:sp>
        <p:nvSpPr>
          <p:cNvPr id="15" name="Text 13"/>
          <p:cNvSpPr txBox="1"/>
          <p:nvPr/>
        </p:nvSpPr>
        <p:spPr>
          <a:xfrm>
            <a:off x="5618988" y="1463040"/>
            <a:ext cx="1243584" cy="502920"/>
          </a:xfrm>
          <a:prstGeom prst="rect">
            <a:avLst/>
          </a:prstGeom>
          <a:noFill/>
          <a:ln/>
        </p:spPr>
        <p:txBody>
          <a:bodyPr wrap="square" lIns="0" tIns="0" rIns="0" bIns="0" rtlCol="0" anchor="ctr"/>
          <a:lstStyle/>
          <a:p>
            <a:pPr marL="0" indent="0" algn="ctr">
              <a:spcAft>
                <a:spcPts val="400"/>
              </a:spcAft>
              <a:buNone/>
            </a:pPr>
            <a:r>
              <a:rPr lang="en-US" sz="1400" b="1" dirty="0">
                <a:solidFill>
                  <a:srgbClr val="FFFFFF"/>
                </a:solidFill>
              </a:rPr>
              <a:t>4  Examples</a:t>
            </a:r>
            <a:endParaRPr lang="en-US" sz="1400" dirty="0"/>
          </a:p>
        </p:txBody>
      </p:sp>
      <p:sp>
        <p:nvSpPr>
          <p:cNvPr id="16" name="Shape 14"/>
          <p:cNvSpPr/>
          <p:nvPr/>
        </p:nvSpPr>
        <p:spPr>
          <a:xfrm>
            <a:off x="6990588" y="1714500"/>
            <a:ext cx="169164" cy="0"/>
          </a:xfrm>
          <a:prstGeom prst="line">
            <a:avLst/>
          </a:prstGeom>
          <a:noFill/>
          <a:ln w="25400">
            <a:solidFill>
              <a:srgbClr val="D4824A"/>
            </a:solidFill>
            <a:prstDash val="solid"/>
            <a:tailEnd type="triangle"/>
          </a:ln>
        </p:spPr>
      </p:sp>
      <p:sp>
        <p:nvSpPr>
          <p:cNvPr id="17" name="Shape 15"/>
          <p:cNvSpPr/>
          <p:nvPr/>
        </p:nvSpPr>
        <p:spPr>
          <a:xfrm>
            <a:off x="7178040" y="1463040"/>
            <a:ext cx="1463040" cy="502920"/>
          </a:xfrm>
          <a:prstGeom prst="roundRect">
            <a:avLst>
              <a:gd name="adj" fmla="val 14545"/>
            </a:avLst>
          </a:prstGeom>
          <a:solidFill>
            <a:srgbClr val="1B2A4A"/>
          </a:solidFill>
          <a:ln w="12700">
            <a:solidFill>
              <a:srgbClr val="1B2A4A"/>
            </a:solidFill>
            <a:prstDash val="solid"/>
          </a:ln>
        </p:spPr>
      </p:sp>
      <p:sp>
        <p:nvSpPr>
          <p:cNvPr id="18" name="Text 16"/>
          <p:cNvSpPr txBox="1"/>
          <p:nvPr/>
        </p:nvSpPr>
        <p:spPr>
          <a:xfrm>
            <a:off x="7287768" y="1463040"/>
            <a:ext cx="1243584" cy="502920"/>
          </a:xfrm>
          <a:prstGeom prst="rect">
            <a:avLst/>
          </a:prstGeom>
          <a:noFill/>
          <a:ln/>
        </p:spPr>
        <p:txBody>
          <a:bodyPr wrap="square" lIns="0" tIns="0" rIns="0" bIns="0" rtlCol="0" anchor="ctr"/>
          <a:lstStyle/>
          <a:p>
            <a:pPr marL="0" indent="0" algn="ctr">
              <a:spcAft>
                <a:spcPts val="400"/>
              </a:spcAft>
              <a:buNone/>
            </a:pPr>
            <a:r>
              <a:rPr lang="en-US" sz="1400" b="1" dirty="0">
                <a:solidFill>
                  <a:srgbClr val="FFFFFF"/>
                </a:solidFill>
              </a:rPr>
              <a:t>5  Metric</a:t>
            </a:r>
            <a:endParaRPr lang="en-US" sz="1400" dirty="0"/>
          </a:p>
        </p:txBody>
      </p:sp>
      <p:sp>
        <p:nvSpPr>
          <p:cNvPr id="19" name="Text 17"/>
          <p:cNvSpPr txBox="1"/>
          <p:nvPr/>
        </p:nvSpPr>
        <p:spPr>
          <a:xfrm>
            <a:off x="502920" y="2103120"/>
            <a:ext cx="8138160" cy="237744"/>
          </a:xfrm>
          <a:prstGeom prst="rect">
            <a:avLst/>
          </a:prstGeom>
          <a:noFill/>
          <a:ln/>
        </p:spPr>
        <p:txBody>
          <a:bodyPr wrap="square" lIns="0" tIns="0" rIns="0" bIns="0" rtlCol="0" anchor="ctr"/>
          <a:lstStyle/>
          <a:p>
            <a:pPr marL="0" indent="0">
              <a:buNone/>
            </a:pPr>
            <a:r>
              <a:rPr lang="en-US" sz="1000" b="1" kern="0" spc="300" dirty="0">
                <a:solidFill>
                  <a:srgbClr val="D4824A"/>
                </a:solidFill>
              </a:rPr>
              <a:t>IMPROVE IT AND SHIP IT</a:t>
            </a:r>
            <a:endParaRPr lang="en-US" sz="1000" dirty="0"/>
          </a:p>
        </p:txBody>
      </p:sp>
      <p:sp>
        <p:nvSpPr>
          <p:cNvPr id="20" name="Shape 18"/>
          <p:cNvSpPr/>
          <p:nvPr/>
        </p:nvSpPr>
        <p:spPr>
          <a:xfrm>
            <a:off x="502920" y="2377440"/>
            <a:ext cx="1463040" cy="502920"/>
          </a:xfrm>
          <a:prstGeom prst="roundRect">
            <a:avLst>
              <a:gd name="adj" fmla="val 14545"/>
            </a:avLst>
          </a:prstGeom>
          <a:solidFill>
            <a:srgbClr val="1B2A4A"/>
          </a:solidFill>
          <a:ln w="12700">
            <a:solidFill>
              <a:srgbClr val="1B2A4A"/>
            </a:solidFill>
            <a:prstDash val="solid"/>
          </a:ln>
        </p:spPr>
      </p:sp>
      <p:sp>
        <p:nvSpPr>
          <p:cNvPr id="21" name="Text 19"/>
          <p:cNvSpPr txBox="1"/>
          <p:nvPr/>
        </p:nvSpPr>
        <p:spPr>
          <a:xfrm>
            <a:off x="612648" y="2377440"/>
            <a:ext cx="1243584" cy="502920"/>
          </a:xfrm>
          <a:prstGeom prst="rect">
            <a:avLst/>
          </a:prstGeom>
          <a:noFill/>
          <a:ln/>
        </p:spPr>
        <p:txBody>
          <a:bodyPr wrap="square" lIns="0" tIns="0" rIns="0" bIns="0" rtlCol="0" anchor="ctr"/>
          <a:lstStyle/>
          <a:p>
            <a:pPr marL="0" indent="0" algn="ctr">
              <a:spcAft>
                <a:spcPts val="400"/>
              </a:spcAft>
              <a:buNone/>
            </a:pPr>
            <a:r>
              <a:rPr lang="en-US" sz="1400" b="1" dirty="0">
                <a:solidFill>
                  <a:srgbClr val="FFFFFF"/>
                </a:solidFill>
              </a:rPr>
              <a:t>6  Baseline</a:t>
            </a:r>
            <a:endParaRPr lang="en-US" sz="1400" dirty="0"/>
          </a:p>
        </p:txBody>
      </p:sp>
      <p:sp>
        <p:nvSpPr>
          <p:cNvPr id="22" name="Shape 20"/>
          <p:cNvSpPr/>
          <p:nvPr/>
        </p:nvSpPr>
        <p:spPr>
          <a:xfrm>
            <a:off x="1984248" y="2628900"/>
            <a:ext cx="169164" cy="0"/>
          </a:xfrm>
          <a:prstGeom prst="line">
            <a:avLst/>
          </a:prstGeom>
          <a:noFill/>
          <a:ln w="25400">
            <a:solidFill>
              <a:srgbClr val="D4824A"/>
            </a:solidFill>
            <a:prstDash val="solid"/>
            <a:tailEnd type="triangle"/>
          </a:ln>
        </p:spPr>
      </p:sp>
      <p:sp>
        <p:nvSpPr>
          <p:cNvPr id="23" name="Shape 21"/>
          <p:cNvSpPr/>
          <p:nvPr/>
        </p:nvSpPr>
        <p:spPr>
          <a:xfrm>
            <a:off x="2171700" y="2377440"/>
            <a:ext cx="1463040" cy="502920"/>
          </a:xfrm>
          <a:prstGeom prst="roundRect">
            <a:avLst>
              <a:gd name="adj" fmla="val 14545"/>
            </a:avLst>
          </a:prstGeom>
          <a:solidFill>
            <a:srgbClr val="1B2A4A"/>
          </a:solidFill>
          <a:ln w="12700">
            <a:solidFill>
              <a:srgbClr val="1B2A4A"/>
            </a:solidFill>
            <a:prstDash val="solid"/>
          </a:ln>
        </p:spPr>
      </p:sp>
      <p:sp>
        <p:nvSpPr>
          <p:cNvPr id="24" name="Text 22"/>
          <p:cNvSpPr txBox="1"/>
          <p:nvPr/>
        </p:nvSpPr>
        <p:spPr>
          <a:xfrm>
            <a:off x="2281428" y="2377440"/>
            <a:ext cx="1243584" cy="502920"/>
          </a:xfrm>
          <a:prstGeom prst="rect">
            <a:avLst/>
          </a:prstGeom>
          <a:noFill/>
          <a:ln/>
        </p:spPr>
        <p:txBody>
          <a:bodyPr wrap="square" lIns="0" tIns="0" rIns="0" bIns="0" rtlCol="0" anchor="ctr"/>
          <a:lstStyle/>
          <a:p>
            <a:pPr marL="0" indent="0" algn="ctr">
              <a:spcAft>
                <a:spcPts val="400"/>
              </a:spcAft>
              <a:buNone/>
            </a:pPr>
            <a:r>
              <a:rPr lang="en-US" sz="1400" b="1" dirty="0">
                <a:solidFill>
                  <a:srgbClr val="FFFFFF"/>
                </a:solidFill>
              </a:rPr>
              <a:t>7  Optimize</a:t>
            </a:r>
            <a:endParaRPr lang="en-US" sz="1400" dirty="0"/>
          </a:p>
        </p:txBody>
      </p:sp>
      <p:sp>
        <p:nvSpPr>
          <p:cNvPr id="25" name="Shape 23"/>
          <p:cNvSpPr/>
          <p:nvPr/>
        </p:nvSpPr>
        <p:spPr>
          <a:xfrm>
            <a:off x="3653028" y="2628900"/>
            <a:ext cx="169164" cy="0"/>
          </a:xfrm>
          <a:prstGeom prst="line">
            <a:avLst/>
          </a:prstGeom>
          <a:noFill/>
          <a:ln w="25400">
            <a:solidFill>
              <a:srgbClr val="D4824A"/>
            </a:solidFill>
            <a:prstDash val="solid"/>
            <a:tailEnd type="triangle"/>
          </a:ln>
        </p:spPr>
      </p:sp>
      <p:sp>
        <p:nvSpPr>
          <p:cNvPr id="26" name="Shape 24"/>
          <p:cNvSpPr/>
          <p:nvPr/>
        </p:nvSpPr>
        <p:spPr>
          <a:xfrm>
            <a:off x="3840480" y="2377440"/>
            <a:ext cx="1463040" cy="502920"/>
          </a:xfrm>
          <a:prstGeom prst="roundRect">
            <a:avLst>
              <a:gd name="adj" fmla="val 14545"/>
            </a:avLst>
          </a:prstGeom>
          <a:solidFill>
            <a:srgbClr val="1B2A4A"/>
          </a:solidFill>
          <a:ln w="12700">
            <a:solidFill>
              <a:srgbClr val="1B2A4A"/>
            </a:solidFill>
            <a:prstDash val="solid"/>
          </a:ln>
        </p:spPr>
      </p:sp>
      <p:sp>
        <p:nvSpPr>
          <p:cNvPr id="27" name="Text 25"/>
          <p:cNvSpPr txBox="1"/>
          <p:nvPr/>
        </p:nvSpPr>
        <p:spPr>
          <a:xfrm>
            <a:off x="3950208" y="2377440"/>
            <a:ext cx="1243584" cy="502920"/>
          </a:xfrm>
          <a:prstGeom prst="rect">
            <a:avLst/>
          </a:prstGeom>
          <a:noFill/>
          <a:ln/>
        </p:spPr>
        <p:txBody>
          <a:bodyPr wrap="square" lIns="0" tIns="0" rIns="0" bIns="0" rtlCol="0" anchor="ctr"/>
          <a:lstStyle/>
          <a:p>
            <a:pPr marL="0" indent="0" algn="ctr">
              <a:spcAft>
                <a:spcPts val="400"/>
              </a:spcAft>
              <a:buNone/>
            </a:pPr>
            <a:r>
              <a:rPr lang="en-US" sz="1400" b="1" dirty="0">
                <a:solidFill>
                  <a:srgbClr val="FFFFFF"/>
                </a:solidFill>
              </a:rPr>
              <a:t>8  Evaluate</a:t>
            </a:r>
            <a:endParaRPr lang="en-US" sz="1400" dirty="0"/>
          </a:p>
        </p:txBody>
      </p:sp>
      <p:sp>
        <p:nvSpPr>
          <p:cNvPr id="28" name="Shape 26"/>
          <p:cNvSpPr/>
          <p:nvPr/>
        </p:nvSpPr>
        <p:spPr>
          <a:xfrm>
            <a:off x="5321808" y="2628900"/>
            <a:ext cx="169164" cy="0"/>
          </a:xfrm>
          <a:prstGeom prst="line">
            <a:avLst/>
          </a:prstGeom>
          <a:noFill/>
          <a:ln w="25400">
            <a:solidFill>
              <a:srgbClr val="D4824A"/>
            </a:solidFill>
            <a:prstDash val="solid"/>
            <a:tailEnd type="triangle"/>
          </a:ln>
        </p:spPr>
      </p:sp>
      <p:sp>
        <p:nvSpPr>
          <p:cNvPr id="29" name="Shape 27"/>
          <p:cNvSpPr/>
          <p:nvPr/>
        </p:nvSpPr>
        <p:spPr>
          <a:xfrm>
            <a:off x="5509260" y="2377440"/>
            <a:ext cx="1463040" cy="502920"/>
          </a:xfrm>
          <a:prstGeom prst="roundRect">
            <a:avLst>
              <a:gd name="adj" fmla="val 14545"/>
            </a:avLst>
          </a:prstGeom>
          <a:solidFill>
            <a:srgbClr val="D4824A"/>
          </a:solidFill>
          <a:ln w="12700">
            <a:solidFill>
              <a:srgbClr val="D4824A"/>
            </a:solidFill>
            <a:prstDash val="solid"/>
          </a:ln>
        </p:spPr>
      </p:sp>
      <p:sp>
        <p:nvSpPr>
          <p:cNvPr id="30" name="Text 28"/>
          <p:cNvSpPr txBox="1"/>
          <p:nvPr/>
        </p:nvSpPr>
        <p:spPr>
          <a:xfrm>
            <a:off x="5618988" y="2377440"/>
            <a:ext cx="1243584" cy="502920"/>
          </a:xfrm>
          <a:prstGeom prst="rect">
            <a:avLst/>
          </a:prstGeom>
          <a:noFill/>
          <a:ln/>
        </p:spPr>
        <p:txBody>
          <a:bodyPr wrap="square" lIns="0" tIns="0" rIns="0" bIns="0" rtlCol="0" anchor="ctr"/>
          <a:lstStyle/>
          <a:p>
            <a:pPr marL="0" indent="0" algn="ctr">
              <a:spcAft>
                <a:spcPts val="400"/>
              </a:spcAft>
              <a:buNone/>
            </a:pPr>
            <a:r>
              <a:rPr lang="en-US" sz="1400" b="1" dirty="0">
                <a:solidFill>
                  <a:srgbClr val="FFFFFF"/>
                </a:solidFill>
              </a:rPr>
              <a:t>9  Save</a:t>
            </a:r>
            <a:endParaRPr lang="en-US" sz="1400" dirty="0"/>
          </a:p>
        </p:txBody>
      </p:sp>
      <p:sp>
        <p:nvSpPr>
          <p:cNvPr id="31" name="Shape 29"/>
          <p:cNvSpPr/>
          <p:nvPr/>
        </p:nvSpPr>
        <p:spPr>
          <a:xfrm>
            <a:off x="6990588" y="2628900"/>
            <a:ext cx="169164" cy="0"/>
          </a:xfrm>
          <a:prstGeom prst="line">
            <a:avLst/>
          </a:prstGeom>
          <a:noFill/>
          <a:ln w="25400">
            <a:solidFill>
              <a:srgbClr val="D4824A"/>
            </a:solidFill>
            <a:prstDash val="solid"/>
            <a:tailEnd type="triangle"/>
          </a:ln>
        </p:spPr>
      </p:sp>
      <p:sp>
        <p:nvSpPr>
          <p:cNvPr id="32" name="Shape 30"/>
          <p:cNvSpPr/>
          <p:nvPr/>
        </p:nvSpPr>
        <p:spPr>
          <a:xfrm>
            <a:off x="7178040" y="2377440"/>
            <a:ext cx="1463040" cy="502920"/>
          </a:xfrm>
          <a:prstGeom prst="roundRect">
            <a:avLst>
              <a:gd name="adj" fmla="val 14545"/>
            </a:avLst>
          </a:prstGeom>
          <a:solidFill>
            <a:srgbClr val="D4824A"/>
          </a:solidFill>
          <a:ln w="12700">
            <a:solidFill>
              <a:srgbClr val="D4824A"/>
            </a:solidFill>
            <a:prstDash val="solid"/>
          </a:ln>
        </p:spPr>
      </p:sp>
      <p:sp>
        <p:nvSpPr>
          <p:cNvPr id="33" name="Text 31"/>
          <p:cNvSpPr txBox="1"/>
          <p:nvPr/>
        </p:nvSpPr>
        <p:spPr>
          <a:xfrm>
            <a:off x="7287768" y="2377440"/>
            <a:ext cx="1243584" cy="502920"/>
          </a:xfrm>
          <a:prstGeom prst="rect">
            <a:avLst/>
          </a:prstGeom>
          <a:noFill/>
          <a:ln/>
        </p:spPr>
        <p:txBody>
          <a:bodyPr wrap="square" lIns="0" tIns="0" rIns="0" bIns="0" rtlCol="0" anchor="ctr"/>
          <a:lstStyle/>
          <a:p>
            <a:pPr marL="0" indent="0" algn="ctr">
              <a:spcAft>
                <a:spcPts val="400"/>
              </a:spcAft>
              <a:buNone/>
            </a:pPr>
            <a:r>
              <a:rPr lang="en-US" sz="1400" b="1" dirty="0">
                <a:solidFill>
                  <a:srgbClr val="FFFFFF"/>
                </a:solidFill>
              </a:rPr>
              <a:t>10  Deploy</a:t>
            </a:r>
            <a:endParaRPr lang="en-US" sz="1400" dirty="0"/>
          </a:p>
        </p:txBody>
      </p:sp>
      <p:sp>
        <p:nvSpPr>
          <p:cNvPr id="34" name="Shape 32"/>
          <p:cNvSpPr/>
          <p:nvPr/>
        </p:nvSpPr>
        <p:spPr>
          <a:xfrm>
            <a:off x="502920" y="3063240"/>
            <a:ext cx="3977640" cy="594360"/>
          </a:xfrm>
          <a:prstGeom prst="roundRect">
            <a:avLst>
              <a:gd name="adj" fmla="val 12308"/>
            </a:avLst>
          </a:prstGeom>
          <a:solidFill>
            <a:srgbClr val="F4F6F9"/>
          </a:solidFill>
          <a:ln w="12700">
            <a:solidFill>
              <a:srgbClr val="F4F6F9"/>
            </a:solidFill>
            <a:prstDash val="solid"/>
          </a:ln>
        </p:spPr>
      </p:sp>
      <p:sp>
        <p:nvSpPr>
          <p:cNvPr id="35" name="Text 33"/>
          <p:cNvSpPr txBox="1"/>
          <p:nvPr/>
        </p:nvSpPr>
        <p:spPr>
          <a:xfrm>
            <a:off x="685800" y="3063240"/>
            <a:ext cx="3657600" cy="594360"/>
          </a:xfrm>
          <a:prstGeom prst="rect">
            <a:avLst/>
          </a:prstGeom>
          <a:noFill/>
          <a:ln/>
        </p:spPr>
        <p:txBody>
          <a:bodyPr wrap="square" lIns="0" tIns="0" rIns="0" bIns="0" rtlCol="0" anchor="ctr"/>
          <a:lstStyle/>
          <a:p>
            <a:pPr marL="0" indent="0">
              <a:buNone/>
            </a:pPr>
            <a:r>
              <a:rPr lang="en-US" sz="1000" b="1" kern="0" spc="200" dirty="0">
                <a:solidFill>
                  <a:srgbClr val="D4824A"/>
                </a:solidFill>
              </a:rPr>
              <a:t>DEVELOPMENT</a:t>
            </a:r>
            <a:endParaRPr lang="en-US" sz="1000" dirty="0"/>
          </a:p>
          <a:p>
            <a:pPr marL="0" indent="0">
              <a:buNone/>
            </a:pPr>
            <a:r>
              <a:rPr lang="en-US" sz="1400" b="1" dirty="0">
                <a:solidFill>
                  <a:srgbClr val="1B2A4A"/>
                </a:solidFill>
              </a:rPr>
              <a:t>Define → Build → Measure → Optimize</a:t>
            </a:r>
            <a:endParaRPr lang="en-US" sz="1000" dirty="0"/>
          </a:p>
        </p:txBody>
      </p:sp>
      <p:sp>
        <p:nvSpPr>
          <p:cNvPr id="36" name="Shape 34"/>
          <p:cNvSpPr/>
          <p:nvPr/>
        </p:nvSpPr>
        <p:spPr>
          <a:xfrm>
            <a:off x="4663440" y="3063240"/>
            <a:ext cx="3977640" cy="594360"/>
          </a:xfrm>
          <a:prstGeom prst="roundRect">
            <a:avLst>
              <a:gd name="adj" fmla="val 12308"/>
            </a:avLst>
          </a:prstGeom>
          <a:solidFill>
            <a:srgbClr val="FBEFE6"/>
          </a:solidFill>
          <a:ln w="12700">
            <a:solidFill>
              <a:srgbClr val="FBEFE6"/>
            </a:solidFill>
            <a:prstDash val="solid"/>
          </a:ln>
        </p:spPr>
      </p:sp>
      <p:sp>
        <p:nvSpPr>
          <p:cNvPr id="37" name="Text 35"/>
          <p:cNvSpPr txBox="1"/>
          <p:nvPr/>
        </p:nvSpPr>
        <p:spPr>
          <a:xfrm>
            <a:off x="4846320" y="3063240"/>
            <a:ext cx="3657600" cy="594360"/>
          </a:xfrm>
          <a:prstGeom prst="rect">
            <a:avLst/>
          </a:prstGeom>
          <a:noFill/>
          <a:ln/>
        </p:spPr>
        <p:txBody>
          <a:bodyPr wrap="square" lIns="0" tIns="0" rIns="0" bIns="0" rtlCol="0" anchor="ctr"/>
          <a:lstStyle/>
          <a:p>
            <a:pPr marL="0" indent="0">
              <a:buNone/>
            </a:pPr>
            <a:r>
              <a:rPr lang="en-US" sz="1000" b="1" kern="0" spc="200" dirty="0">
                <a:solidFill>
                  <a:srgbClr val="D4824A"/>
                </a:solidFill>
              </a:rPr>
              <a:t>PRODUCTION</a:t>
            </a:r>
            <a:endParaRPr lang="en-US" sz="1000" dirty="0"/>
          </a:p>
          <a:p>
            <a:pPr marL="0" indent="0">
              <a:buNone/>
            </a:pPr>
            <a:r>
              <a:rPr lang="en-US" sz="1400" b="1" dirty="0">
                <a:solidFill>
                  <a:srgbClr val="1B2A4A"/>
                </a:solidFill>
              </a:rPr>
              <a:t>Save → Load → Run → Monitor</a:t>
            </a:r>
            <a:endParaRPr lang="en-US" sz="1000" dirty="0"/>
          </a:p>
        </p:txBody>
      </p:sp>
      <p:sp>
        <p:nvSpPr>
          <p:cNvPr id="38" name="Shape 36"/>
          <p:cNvSpPr/>
          <p:nvPr/>
        </p:nvSpPr>
        <p:spPr>
          <a:xfrm>
            <a:off x="502920" y="3840480"/>
            <a:ext cx="8138160" cy="594360"/>
          </a:xfrm>
          <a:prstGeom prst="roundRect">
            <a:avLst>
              <a:gd name="adj" fmla="val 12308"/>
            </a:avLst>
          </a:prstGeom>
          <a:solidFill>
            <a:srgbClr val="FBEFE6"/>
          </a:solidFill>
          <a:ln w="12700">
            <a:solidFill>
              <a:srgbClr val="FBEFE6"/>
            </a:solidFill>
            <a:prstDash val="solid"/>
          </a:ln>
        </p:spPr>
      </p:sp>
      <p:sp>
        <p:nvSpPr>
          <p:cNvPr id="39" name="Text 37"/>
          <p:cNvSpPr txBox="1"/>
          <p:nvPr/>
        </p:nvSpPr>
        <p:spPr>
          <a:xfrm>
            <a:off x="667512" y="3840480"/>
            <a:ext cx="7808976" cy="594360"/>
          </a:xfrm>
          <a:prstGeom prst="rect">
            <a:avLst/>
          </a:prstGeom>
          <a:noFill/>
          <a:ln/>
        </p:spPr>
        <p:txBody>
          <a:bodyPr wrap="square" lIns="0" tIns="0" rIns="0" bIns="0" rtlCol="0" anchor="ctr"/>
          <a:lstStyle/>
          <a:p>
            <a:pPr marL="0" indent="0">
              <a:buNone/>
            </a:pPr>
            <a:r>
              <a:rPr lang="en-US" sz="1000" b="1" kern="0" spc="200" dirty="0">
                <a:solidFill>
                  <a:srgbClr val="D4824A"/>
                </a:solidFill>
              </a:rPr>
              <a:t>KEY POINT  </a:t>
            </a:r>
            <a:r>
              <a:rPr lang="en-US" sz="1300" dirty="0">
                <a:solidFill>
                  <a:srgbClr val="1B2A4A"/>
                </a:solidFill>
              </a:rPr>
              <a:t>Every DSPy project follows this path. The next slides zoom into steps 6-10.</a:t>
            </a:r>
            <a:endParaRPr lang="en-US" sz="1000" dirty="0"/>
          </a:p>
        </p:txBody>
      </p:sp>
      <p:sp>
        <p:nvSpPr>
          <p:cNvPr id="40" name="Slide Number Placeholder 0"/>
          <p:cNvSpPr>
            <a:spLocks noGrp="1"/>
          </p:cNvSpPr>
          <p:nvPr>
            <p:ph type="sldNum" sz="quarter" idx="4294967295"/>
          </p:nvPr>
        </p:nvSpPr>
        <p:spPr>
          <a:xfrm>
            <a:off x="8229600" y="4800600"/>
            <a:ext cx="41148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A0B0C0"/>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02920" y="201168"/>
            <a:ext cx="8138160" cy="256032"/>
          </a:xfrm>
          <a:prstGeom prst="rect">
            <a:avLst/>
          </a:prstGeom>
          <a:noFill/>
          <a:ln/>
        </p:spPr>
        <p:txBody>
          <a:bodyPr wrap="square" lIns="0" tIns="0" rIns="0" bIns="0" rtlCol="0" anchor="ctr"/>
          <a:lstStyle/>
          <a:p>
            <a:pPr marL="0" indent="0">
              <a:buNone/>
            </a:pPr>
            <a:r>
              <a:rPr lang="en-US" sz="1000" b="1" kern="0" spc="300" dirty="0">
                <a:solidFill>
                  <a:srgbClr val="D4824A"/>
                </a:solidFill>
              </a:rPr>
              <a:t>COMPILATION &amp; EVALUATION  ·  2 OF 4</a:t>
            </a:r>
            <a:endParaRPr lang="en-US" sz="1000" dirty="0"/>
          </a:p>
        </p:txBody>
      </p:sp>
      <p:sp>
        <p:nvSpPr>
          <p:cNvPr id="3" name="Text 1"/>
          <p:cNvSpPr>
            <a:spLocks noGrp="1"/>
          </p:cNvSpPr>
          <p:nvPr>
            <p:ph type="title" idx="101" hasCustomPrompt="1"/>
          </p:nvPr>
        </p:nvSpPr>
        <p:spPr>
          <a:xfrm>
            <a:off x="502920" y="457200"/>
            <a:ext cx="8138160" cy="594360"/>
          </a:xfrm>
          <a:prstGeom prst="rect">
            <a:avLst/>
          </a:prstGeom>
          <a:noFill/>
          <a:ln/>
        </p:spPr>
        <p:txBody>
          <a:bodyPr wrap="square" lIns="0" tIns="0" rIns="0" bIns="0" rtlCol="0" anchor="ctr"/>
          <a:lstStyle/>
          <a:p>
            <a:pPr marL="0" indent="0" algn="l">
              <a:buNone/>
            </a:pPr>
            <a:r>
              <a:rPr lang="en-US" sz="2800" b="1" dirty="0">
                <a:solidFill>
                  <a:srgbClr val="1B2A4A"/>
                </a:solidFill>
              </a:rPr>
              <a:t>Compiling DSPy Programs</a:t>
            </a:r>
            <a:endParaRPr lang="en-US" sz="2800" dirty="0"/>
          </a:p>
        </p:txBody>
      </p:sp>
      <p:sp>
        <p:nvSpPr>
          <p:cNvPr id="4" name="Shape 2"/>
          <p:cNvSpPr/>
          <p:nvPr/>
        </p:nvSpPr>
        <p:spPr>
          <a:xfrm>
            <a:off x="502920" y="1298448"/>
            <a:ext cx="329184" cy="329184"/>
          </a:xfrm>
          <a:prstGeom prst="ellipse">
            <a:avLst/>
          </a:prstGeom>
          <a:solidFill>
            <a:srgbClr val="1B2A4A"/>
          </a:solidFill>
          <a:ln w="12700">
            <a:solidFill>
              <a:srgbClr val="1B2A4A"/>
            </a:solidFill>
            <a:prstDash val="solid"/>
          </a:ln>
        </p:spPr>
      </p:sp>
      <p:sp>
        <p:nvSpPr>
          <p:cNvPr id="5" name="Text 3"/>
          <p:cNvSpPr txBox="1"/>
          <p:nvPr/>
        </p:nvSpPr>
        <p:spPr>
          <a:xfrm>
            <a:off x="502920" y="1298448"/>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6" name="Text 4"/>
          <p:cNvSpPr txBox="1"/>
          <p:nvPr/>
        </p:nvSpPr>
        <p:spPr>
          <a:xfrm>
            <a:off x="978408" y="1243584"/>
            <a:ext cx="3364992" cy="621792"/>
          </a:xfrm>
          <a:prstGeom prst="rect">
            <a:avLst/>
          </a:prstGeom>
          <a:noFill/>
          <a:ln/>
        </p:spPr>
        <p:txBody>
          <a:bodyPr wrap="square" lIns="0" tIns="0" rIns="0" bIns="0" rtlCol="0" anchor="t"/>
          <a:lstStyle/>
          <a:p>
            <a:pPr marL="0" indent="0">
              <a:spcAft>
                <a:spcPts val="200"/>
              </a:spcAft>
              <a:buNone/>
            </a:pPr>
            <a:r>
              <a:rPr lang="en-US" sz="1500" b="1" dirty="0">
                <a:solidFill>
                  <a:srgbClr val="1B2A4A"/>
                </a:solidFill>
              </a:rPr>
              <a:t>The optimizer picks the best setup</a:t>
            </a:r>
            <a:endParaRPr lang="en-US" sz="1500" dirty="0"/>
          </a:p>
          <a:p>
            <a:pPr marL="0" indent="0">
              <a:spcAft>
                <a:spcPts val="200"/>
              </a:spcAft>
              <a:buNone/>
            </a:pPr>
            <a:r>
              <a:rPr lang="en-US" sz="1200" dirty="0">
                <a:solidFill>
                  <a:srgbClr val="5F6F80"/>
                </a:solidFill>
              </a:rPr>
              <a:t>Scored with your metric</a:t>
            </a:r>
            <a:endParaRPr lang="en-US" sz="1500" dirty="0"/>
          </a:p>
        </p:txBody>
      </p:sp>
      <p:sp>
        <p:nvSpPr>
          <p:cNvPr id="7" name="Shape 5"/>
          <p:cNvSpPr/>
          <p:nvPr/>
        </p:nvSpPr>
        <p:spPr>
          <a:xfrm>
            <a:off x="502920" y="1920240"/>
            <a:ext cx="329184" cy="329184"/>
          </a:xfrm>
          <a:prstGeom prst="ellipse">
            <a:avLst/>
          </a:prstGeom>
          <a:solidFill>
            <a:srgbClr val="1B2A4A"/>
          </a:solidFill>
          <a:ln w="12700">
            <a:solidFill>
              <a:srgbClr val="1B2A4A"/>
            </a:solidFill>
            <a:prstDash val="solid"/>
          </a:ln>
        </p:spPr>
      </p:sp>
      <p:sp>
        <p:nvSpPr>
          <p:cNvPr id="8" name="Text 6"/>
          <p:cNvSpPr txBox="1"/>
          <p:nvPr/>
        </p:nvSpPr>
        <p:spPr>
          <a:xfrm>
            <a:off x="502920" y="192024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9" name="Text 7"/>
          <p:cNvSpPr txBox="1"/>
          <p:nvPr/>
        </p:nvSpPr>
        <p:spPr>
          <a:xfrm>
            <a:off x="978408" y="1865376"/>
            <a:ext cx="3364992" cy="621792"/>
          </a:xfrm>
          <a:prstGeom prst="rect">
            <a:avLst/>
          </a:prstGeom>
          <a:noFill/>
          <a:ln/>
        </p:spPr>
        <p:txBody>
          <a:bodyPr wrap="square" lIns="0" tIns="0" rIns="0" bIns="0" rtlCol="0" anchor="t"/>
          <a:lstStyle/>
          <a:p>
            <a:pPr marL="0" indent="0">
              <a:spcAft>
                <a:spcPts val="200"/>
              </a:spcAft>
              <a:buNone/>
            </a:pPr>
            <a:r>
              <a:rPr lang="en-US" sz="1500" b="1" dirty="0">
                <a:solidFill>
                  <a:srgbClr val="1B2A4A"/>
                </a:solidFill>
              </a:rPr>
              <a:t>You get a new program back</a:t>
            </a:r>
            <a:endParaRPr lang="en-US" sz="1500" dirty="0"/>
          </a:p>
          <a:p>
            <a:pPr marL="0" indent="0">
              <a:spcAft>
                <a:spcPts val="200"/>
              </a:spcAft>
              <a:buNone/>
            </a:pPr>
            <a:r>
              <a:rPr lang="en-US" sz="1200" dirty="0">
                <a:solidFill>
                  <a:srgbClr val="5F6F80"/>
                </a:solidFill>
              </a:rPr>
              <a:t>The original is unchanged</a:t>
            </a:r>
            <a:endParaRPr lang="en-US" sz="1500" dirty="0"/>
          </a:p>
        </p:txBody>
      </p:sp>
      <p:sp>
        <p:nvSpPr>
          <p:cNvPr id="10" name="Shape 8"/>
          <p:cNvSpPr/>
          <p:nvPr/>
        </p:nvSpPr>
        <p:spPr>
          <a:xfrm>
            <a:off x="502920" y="2542032"/>
            <a:ext cx="329184" cy="329184"/>
          </a:xfrm>
          <a:prstGeom prst="ellipse">
            <a:avLst/>
          </a:prstGeom>
          <a:solidFill>
            <a:srgbClr val="1B2A4A"/>
          </a:solidFill>
          <a:ln w="12700">
            <a:solidFill>
              <a:srgbClr val="1B2A4A"/>
            </a:solidFill>
            <a:prstDash val="solid"/>
          </a:ln>
        </p:spPr>
      </p:sp>
      <p:sp>
        <p:nvSpPr>
          <p:cNvPr id="11" name="Text 9"/>
          <p:cNvSpPr txBox="1"/>
          <p:nvPr/>
        </p:nvSpPr>
        <p:spPr>
          <a:xfrm>
            <a:off x="502920" y="254203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12" name="Text 10"/>
          <p:cNvSpPr txBox="1"/>
          <p:nvPr/>
        </p:nvSpPr>
        <p:spPr>
          <a:xfrm>
            <a:off x="978408" y="2487168"/>
            <a:ext cx="3364992" cy="621792"/>
          </a:xfrm>
          <a:prstGeom prst="rect">
            <a:avLst/>
          </a:prstGeom>
          <a:noFill/>
          <a:ln/>
        </p:spPr>
        <p:txBody>
          <a:bodyPr wrap="square" lIns="0" tIns="0" rIns="0" bIns="0" rtlCol="0" anchor="t"/>
          <a:lstStyle/>
          <a:p>
            <a:pPr marL="0" indent="0">
              <a:spcAft>
                <a:spcPts val="200"/>
              </a:spcAft>
              <a:buNone/>
            </a:pPr>
            <a:r>
              <a:rPr lang="en-US" sz="1500" b="1" dirty="0">
                <a:solidFill>
                  <a:srgbClr val="1B2A4A"/>
                </a:solidFill>
              </a:rPr>
              <a:t>Chosen demos are frozen inside</a:t>
            </a:r>
            <a:endParaRPr lang="en-US" sz="1500" dirty="0"/>
          </a:p>
          <a:p>
            <a:pPr marL="0" indent="0">
              <a:spcAft>
                <a:spcPts val="200"/>
              </a:spcAft>
              <a:buNone/>
            </a:pPr>
            <a:r>
              <a:rPr lang="en-US" sz="1200" dirty="0">
                <a:solidFill>
                  <a:srgbClr val="5F6F80"/>
                </a:solidFill>
              </a:rPr>
              <a:t>Inspect .demos to audit them</a:t>
            </a:r>
            <a:endParaRPr lang="en-US" sz="1500" dirty="0"/>
          </a:p>
        </p:txBody>
      </p:sp>
      <p:sp>
        <p:nvSpPr>
          <p:cNvPr id="13" name="Shape 11"/>
          <p:cNvSpPr/>
          <p:nvPr/>
        </p:nvSpPr>
        <p:spPr>
          <a:xfrm>
            <a:off x="502920" y="3163824"/>
            <a:ext cx="329184" cy="329184"/>
          </a:xfrm>
          <a:prstGeom prst="ellipse">
            <a:avLst/>
          </a:prstGeom>
          <a:solidFill>
            <a:srgbClr val="1B2A4A"/>
          </a:solidFill>
          <a:ln w="12700">
            <a:solidFill>
              <a:srgbClr val="1B2A4A"/>
            </a:solidFill>
            <a:prstDash val="solid"/>
          </a:ln>
        </p:spPr>
      </p:sp>
      <p:sp>
        <p:nvSpPr>
          <p:cNvPr id="14" name="Text 12"/>
          <p:cNvSpPr txBox="1"/>
          <p:nvPr/>
        </p:nvSpPr>
        <p:spPr>
          <a:xfrm>
            <a:off x="502920" y="316382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15" name="Text 13"/>
          <p:cNvSpPr txBox="1"/>
          <p:nvPr/>
        </p:nvSpPr>
        <p:spPr>
          <a:xfrm>
            <a:off x="978408" y="3108960"/>
            <a:ext cx="3364992" cy="621792"/>
          </a:xfrm>
          <a:prstGeom prst="rect">
            <a:avLst/>
          </a:prstGeom>
          <a:noFill/>
          <a:ln/>
        </p:spPr>
        <p:txBody>
          <a:bodyPr wrap="square" lIns="0" tIns="0" rIns="0" bIns="0" rtlCol="0" anchor="t"/>
          <a:lstStyle/>
          <a:p>
            <a:pPr marL="0" indent="0">
              <a:spcAft>
                <a:spcPts val="200"/>
              </a:spcAft>
              <a:buNone/>
            </a:pPr>
            <a:r>
              <a:rPr lang="en-US" sz="1500" b="1" dirty="0">
                <a:solidFill>
                  <a:srgbClr val="1B2A4A"/>
                </a:solidFill>
              </a:rPr>
              <a:t>Save once, load anywhere</a:t>
            </a:r>
            <a:endParaRPr lang="en-US" sz="1500" dirty="0"/>
          </a:p>
          <a:p>
            <a:pPr marL="0" indent="0">
              <a:spcAft>
                <a:spcPts val="200"/>
              </a:spcAft>
              <a:buNone/>
            </a:pPr>
            <a:r>
              <a:rPr lang="en-US" sz="1200" dirty="0">
                <a:solidFill>
                  <a:srgbClr val="5F6F80"/>
                </a:solidFill>
              </a:rPr>
              <a:t>No optimizer calls at runtime</a:t>
            </a:r>
            <a:endParaRPr lang="en-US" sz="1500" dirty="0"/>
          </a:p>
        </p:txBody>
      </p:sp>
      <p:sp>
        <p:nvSpPr>
          <p:cNvPr id="16" name="Shape 14"/>
          <p:cNvSpPr/>
          <p:nvPr/>
        </p:nvSpPr>
        <p:spPr>
          <a:xfrm>
            <a:off x="502920" y="3913632"/>
            <a:ext cx="3840480" cy="658368"/>
          </a:xfrm>
          <a:prstGeom prst="roundRect">
            <a:avLst>
              <a:gd name="adj" fmla="val 11111"/>
            </a:avLst>
          </a:prstGeom>
          <a:solidFill>
            <a:srgbClr val="FBEFE6"/>
          </a:solidFill>
          <a:ln w="12700">
            <a:solidFill>
              <a:srgbClr val="FBEFE6"/>
            </a:solidFill>
            <a:prstDash val="solid"/>
          </a:ln>
        </p:spPr>
      </p:sp>
      <p:sp>
        <p:nvSpPr>
          <p:cNvPr id="17" name="Text 15"/>
          <p:cNvSpPr txBox="1"/>
          <p:nvPr/>
        </p:nvSpPr>
        <p:spPr>
          <a:xfrm>
            <a:off x="667512" y="3913632"/>
            <a:ext cx="3511296" cy="658368"/>
          </a:xfrm>
          <a:prstGeom prst="rect">
            <a:avLst/>
          </a:prstGeom>
          <a:noFill/>
          <a:ln/>
        </p:spPr>
        <p:txBody>
          <a:bodyPr wrap="square" lIns="0" tIns="0" rIns="0" bIns="0" rtlCol="0" anchor="ctr"/>
          <a:lstStyle/>
          <a:p>
            <a:pPr marL="0" indent="0">
              <a:buNone/>
            </a:pPr>
            <a:r>
              <a:rPr lang="en-US" sz="1000" b="1" kern="0" spc="200" dirty="0">
                <a:solidFill>
                  <a:srgbClr val="D4824A"/>
                </a:solidFill>
              </a:rPr>
              <a:t>KEY POINT  </a:t>
            </a:r>
            <a:r>
              <a:rPr lang="en-US" sz="1300" dirty="0">
                <a:solidFill>
                  <a:srgbClr val="1B2A4A"/>
                </a:solidFill>
              </a:rPr>
              <a:t>Treat compiled JSON like a model checkpoint: version it and test it.</a:t>
            </a:r>
            <a:endParaRPr lang="en-US" sz="1000" dirty="0"/>
          </a:p>
        </p:txBody>
      </p:sp>
      <p:sp>
        <p:nvSpPr>
          <p:cNvPr id="18" name="Shape 16"/>
          <p:cNvSpPr/>
          <p:nvPr/>
        </p:nvSpPr>
        <p:spPr>
          <a:xfrm>
            <a:off x="4572000" y="1188720"/>
            <a:ext cx="4069080" cy="3383280"/>
          </a:xfrm>
          <a:prstGeom prst="roundRect">
            <a:avLst>
              <a:gd name="adj" fmla="val 2162"/>
            </a:avLst>
          </a:prstGeom>
          <a:solidFill>
            <a:srgbClr val="1B2A4A"/>
          </a:solidFill>
          <a:ln w="12700">
            <a:solidFill>
              <a:srgbClr val="1B2A4A"/>
            </a:solidFill>
            <a:prstDash val="solid"/>
          </a:ln>
        </p:spPr>
      </p:sp>
      <p:sp>
        <p:nvSpPr>
          <p:cNvPr id="19" name="Text 17"/>
          <p:cNvSpPr txBox="1"/>
          <p:nvPr/>
        </p:nvSpPr>
        <p:spPr>
          <a:xfrm>
            <a:off x="4773168" y="1316736"/>
            <a:ext cx="3666744" cy="292608"/>
          </a:xfrm>
          <a:prstGeom prst="rect">
            <a:avLst/>
          </a:prstGeom>
          <a:noFill/>
          <a:ln/>
        </p:spPr>
        <p:txBody>
          <a:bodyPr wrap="square" lIns="0" tIns="0" rIns="0" bIns="0" rtlCol="0" anchor="ctr"/>
          <a:lstStyle/>
          <a:p>
            <a:pPr marL="0" indent="0">
              <a:buNone/>
            </a:pPr>
            <a:r>
              <a:rPr lang="en-US" sz="900" b="1" kern="0" spc="200" dirty="0">
                <a:solidFill>
                  <a:srgbClr val="D4824A"/>
                </a:solidFill>
              </a:rPr>
              <a:t>EXAMPLE  </a:t>
            </a:r>
            <a:r>
              <a:rPr lang="en-US" sz="1200" b="1" dirty="0">
                <a:solidFill>
                  <a:srgbClr val="FFFFFF"/>
                </a:solidFill>
              </a:rPr>
              <a:t>Compile, inspect, reload (demo 06)</a:t>
            </a:r>
            <a:endParaRPr lang="en-US" sz="900" dirty="0"/>
          </a:p>
        </p:txBody>
      </p:sp>
      <p:sp>
        <p:nvSpPr>
          <p:cNvPr id="20" name="Text 18"/>
          <p:cNvSpPr txBox="1"/>
          <p:nvPr/>
        </p:nvSpPr>
        <p:spPr>
          <a:xfrm>
            <a:off x="4773168" y="1700784"/>
            <a:ext cx="3703320" cy="2743200"/>
          </a:xfrm>
          <a:prstGeom prst="rect">
            <a:avLst/>
          </a:prstGeom>
          <a:noFill/>
          <a:ln/>
        </p:spPr>
        <p:txBody>
          <a:bodyPr wrap="square" lIns="0" tIns="0" rIns="0" bIns="0" rtlCol="0" anchor="t"/>
          <a:lstStyle/>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compiled = optimizer.compile(</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student=TicketProcessor(),</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trainset=train_data)</a:t>
            </a:r>
            <a:endParaRPr lang="en-US" sz="1050" dirty="0"/>
          </a:p>
          <a:p>
            <a:pPr marL="0" indent="0">
              <a:lnSpc>
                <a:spcPct val="100000"/>
              </a:lnSpc>
              <a:buNone/>
            </a:pP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See which examples were chosen</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for demo in compiled.process.demos:</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print(demo["ticket"], "-&gt;",</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demo["urgency"])</a:t>
            </a:r>
            <a:endParaRPr lang="en-US" sz="1050" dirty="0"/>
          </a:p>
          <a:p>
            <a:pPr marL="0" indent="0">
              <a:lnSpc>
                <a:spcPct val="100000"/>
              </a:lnSpc>
              <a:buNone/>
            </a:pP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compiled.save("ticket_v1.json")</a:t>
            </a:r>
            <a:endParaRPr lang="en-US" sz="1050" dirty="0"/>
          </a:p>
          <a:p>
            <a:pPr marL="0" indent="0">
              <a:lnSpc>
                <a:spcPct val="100000"/>
              </a:lnSpc>
              <a:buNone/>
            </a:pP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Later, in production</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prod = TicketProcessor()</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prod.load("ticket_v1.json")</a:t>
            </a:r>
            <a:endParaRPr lang="en-US" sz="1050" dirty="0"/>
          </a:p>
        </p:txBody>
      </p:sp>
      <p:sp>
        <p:nvSpPr>
          <p:cNvPr id="25" name="Slide Number Placeholder 0"/>
          <p:cNvSpPr>
            <a:spLocks noGrp="1"/>
          </p:cNvSpPr>
          <p:nvPr>
            <p:ph type="sldNum" sz="quarter" idx="4294967295"/>
          </p:nvPr>
        </p:nvSpPr>
        <p:spPr>
          <a:xfrm>
            <a:off x="8229600" y="4800600"/>
            <a:ext cx="41148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A0B0C0"/>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02920" y="201168"/>
            <a:ext cx="8138160" cy="256032"/>
          </a:xfrm>
          <a:prstGeom prst="rect">
            <a:avLst/>
          </a:prstGeom>
          <a:noFill/>
          <a:ln/>
        </p:spPr>
        <p:txBody>
          <a:bodyPr wrap="square" lIns="0" tIns="0" rIns="0" bIns="0" rtlCol="0" anchor="ctr"/>
          <a:lstStyle/>
          <a:p>
            <a:pPr marL="0" indent="0">
              <a:buNone/>
            </a:pPr>
            <a:r>
              <a:rPr lang="en-US" sz="1000" b="1" kern="0" spc="300" dirty="0">
                <a:solidFill>
                  <a:srgbClr val="D4824A"/>
                </a:solidFill>
              </a:rPr>
              <a:t>COMPILATION &amp; EVALUATION  ·  3 OF 4</a:t>
            </a:r>
            <a:endParaRPr lang="en-US" sz="1000" dirty="0"/>
          </a:p>
        </p:txBody>
      </p:sp>
      <p:sp>
        <p:nvSpPr>
          <p:cNvPr id="3" name="Text 1"/>
          <p:cNvSpPr>
            <a:spLocks noGrp="1"/>
          </p:cNvSpPr>
          <p:nvPr>
            <p:ph type="title" idx="101" hasCustomPrompt="1"/>
          </p:nvPr>
        </p:nvSpPr>
        <p:spPr>
          <a:xfrm>
            <a:off x="502920" y="457200"/>
            <a:ext cx="8138160" cy="594360"/>
          </a:xfrm>
          <a:prstGeom prst="rect">
            <a:avLst/>
          </a:prstGeom>
          <a:noFill/>
          <a:ln/>
        </p:spPr>
        <p:txBody>
          <a:bodyPr wrap="square" lIns="0" tIns="0" rIns="0" bIns="0" rtlCol="0" anchor="ctr"/>
          <a:lstStyle/>
          <a:p>
            <a:pPr marL="0" indent="0" algn="l">
              <a:buNone/>
            </a:pPr>
            <a:r>
              <a:rPr lang="en-US" sz="2800" b="1" dirty="0">
                <a:solidFill>
                  <a:srgbClr val="1B2A4A"/>
                </a:solidFill>
              </a:rPr>
              <a:t>Metric Functions and Evaluation</a:t>
            </a:r>
            <a:endParaRPr lang="en-US" sz="2800" dirty="0"/>
          </a:p>
        </p:txBody>
      </p:sp>
      <p:sp>
        <p:nvSpPr>
          <p:cNvPr id="4" name="Shape 2"/>
          <p:cNvSpPr/>
          <p:nvPr/>
        </p:nvSpPr>
        <p:spPr>
          <a:xfrm>
            <a:off x="502920" y="1298448"/>
            <a:ext cx="329184" cy="329184"/>
          </a:xfrm>
          <a:prstGeom prst="ellipse">
            <a:avLst/>
          </a:prstGeom>
          <a:solidFill>
            <a:srgbClr val="1B2A4A"/>
          </a:solidFill>
          <a:ln w="12700">
            <a:solidFill>
              <a:srgbClr val="1B2A4A"/>
            </a:solidFill>
            <a:prstDash val="solid"/>
          </a:ln>
        </p:spPr>
      </p:sp>
      <p:sp>
        <p:nvSpPr>
          <p:cNvPr id="5" name="Text 3"/>
          <p:cNvSpPr txBox="1"/>
          <p:nvPr/>
        </p:nvSpPr>
        <p:spPr>
          <a:xfrm>
            <a:off x="502920" y="1298448"/>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6" name="Text 4"/>
          <p:cNvSpPr txBox="1"/>
          <p:nvPr/>
        </p:nvSpPr>
        <p:spPr>
          <a:xfrm>
            <a:off x="978408" y="1243584"/>
            <a:ext cx="3364992" cy="621792"/>
          </a:xfrm>
          <a:prstGeom prst="rect">
            <a:avLst/>
          </a:prstGeom>
          <a:noFill/>
          <a:ln/>
        </p:spPr>
        <p:txBody>
          <a:bodyPr wrap="square" lIns="0" tIns="0" rIns="0" bIns="0" rtlCol="0" anchor="t"/>
          <a:lstStyle/>
          <a:p>
            <a:pPr marL="0" indent="0">
              <a:spcAft>
                <a:spcPts val="200"/>
              </a:spcAft>
              <a:buNone/>
            </a:pPr>
            <a:r>
              <a:rPr lang="en-US" sz="1500" b="1" dirty="0">
                <a:solidFill>
                  <a:srgbClr val="1B2A4A"/>
                </a:solidFill>
              </a:rPr>
              <a:t>A metric is a Python function</a:t>
            </a:r>
            <a:endParaRPr lang="en-US" sz="1500" dirty="0"/>
          </a:p>
          <a:p>
            <a:pPr marL="0" indent="0">
              <a:spcAft>
                <a:spcPts val="200"/>
              </a:spcAft>
              <a:buNone/>
            </a:pPr>
            <a:r>
              <a:rPr lang="en-US" sz="1200" dirty="0">
                <a:solidFill>
                  <a:srgbClr val="5F6F80"/>
                </a:solidFill>
              </a:rPr>
              <a:t>(example, pred, trace) → bool or 0-1</a:t>
            </a:r>
            <a:endParaRPr lang="en-US" sz="1500" dirty="0"/>
          </a:p>
        </p:txBody>
      </p:sp>
      <p:sp>
        <p:nvSpPr>
          <p:cNvPr id="7" name="Shape 5"/>
          <p:cNvSpPr/>
          <p:nvPr/>
        </p:nvSpPr>
        <p:spPr>
          <a:xfrm>
            <a:off x="502920" y="1920240"/>
            <a:ext cx="329184" cy="329184"/>
          </a:xfrm>
          <a:prstGeom prst="ellipse">
            <a:avLst/>
          </a:prstGeom>
          <a:solidFill>
            <a:srgbClr val="1B2A4A"/>
          </a:solidFill>
          <a:ln w="12700">
            <a:solidFill>
              <a:srgbClr val="1B2A4A"/>
            </a:solidFill>
            <a:prstDash val="solid"/>
          </a:ln>
        </p:spPr>
      </p:sp>
      <p:sp>
        <p:nvSpPr>
          <p:cNvPr id="8" name="Text 6"/>
          <p:cNvSpPr txBox="1"/>
          <p:nvPr/>
        </p:nvSpPr>
        <p:spPr>
          <a:xfrm>
            <a:off x="502920" y="192024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9" name="Text 7"/>
          <p:cNvSpPr txBox="1"/>
          <p:nvPr/>
        </p:nvSpPr>
        <p:spPr>
          <a:xfrm>
            <a:off x="978408" y="1865376"/>
            <a:ext cx="3364992" cy="621792"/>
          </a:xfrm>
          <a:prstGeom prst="rect">
            <a:avLst/>
          </a:prstGeom>
          <a:noFill/>
          <a:ln/>
        </p:spPr>
        <p:txBody>
          <a:bodyPr wrap="square" lIns="0" tIns="0" rIns="0" bIns="0" rtlCol="0" anchor="t"/>
          <a:lstStyle/>
          <a:p>
            <a:pPr marL="0" indent="0">
              <a:spcAft>
                <a:spcPts val="200"/>
              </a:spcAft>
              <a:buNone/>
            </a:pPr>
            <a:r>
              <a:rPr lang="en-US" sz="1500" b="1" dirty="0">
                <a:solidFill>
                  <a:srgbClr val="1B2A4A"/>
                </a:solidFill>
              </a:rPr>
              <a:t>Match it to the task</a:t>
            </a:r>
            <a:endParaRPr lang="en-US" sz="1500" dirty="0"/>
          </a:p>
          <a:p>
            <a:pPr marL="0" indent="0">
              <a:spcAft>
                <a:spcPts val="200"/>
              </a:spcAft>
              <a:buNone/>
            </a:pPr>
            <a:r>
              <a:rPr lang="en-US" sz="1200" dirty="0">
                <a:solidFill>
                  <a:srgbClr val="5F6F80"/>
                </a:solidFill>
              </a:rPr>
              <a:t>Exact match, F1, or an LLM judge</a:t>
            </a:r>
            <a:endParaRPr lang="en-US" sz="1500" dirty="0"/>
          </a:p>
        </p:txBody>
      </p:sp>
      <p:sp>
        <p:nvSpPr>
          <p:cNvPr id="10" name="Shape 8"/>
          <p:cNvSpPr/>
          <p:nvPr/>
        </p:nvSpPr>
        <p:spPr>
          <a:xfrm>
            <a:off x="502920" y="2542032"/>
            <a:ext cx="329184" cy="329184"/>
          </a:xfrm>
          <a:prstGeom prst="ellipse">
            <a:avLst/>
          </a:prstGeom>
          <a:solidFill>
            <a:srgbClr val="1B2A4A"/>
          </a:solidFill>
          <a:ln w="12700">
            <a:solidFill>
              <a:srgbClr val="1B2A4A"/>
            </a:solidFill>
            <a:prstDash val="solid"/>
          </a:ln>
        </p:spPr>
      </p:sp>
      <p:sp>
        <p:nvSpPr>
          <p:cNvPr id="11" name="Text 9"/>
          <p:cNvSpPr txBox="1"/>
          <p:nvPr/>
        </p:nvSpPr>
        <p:spPr>
          <a:xfrm>
            <a:off x="502920" y="254203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12" name="Text 10"/>
          <p:cNvSpPr txBox="1"/>
          <p:nvPr/>
        </p:nvSpPr>
        <p:spPr>
          <a:xfrm>
            <a:off x="978408" y="2487168"/>
            <a:ext cx="3364992" cy="621792"/>
          </a:xfrm>
          <a:prstGeom prst="rect">
            <a:avLst/>
          </a:prstGeom>
          <a:noFill/>
          <a:ln/>
        </p:spPr>
        <p:txBody>
          <a:bodyPr wrap="square" lIns="0" tIns="0" rIns="0" bIns="0" rtlCol="0" anchor="t"/>
          <a:lstStyle/>
          <a:p>
            <a:pPr marL="0" indent="0">
              <a:spcAft>
                <a:spcPts val="200"/>
              </a:spcAft>
              <a:buNone/>
            </a:pPr>
            <a:r>
              <a:rPr lang="en-US" sz="1500" b="1" dirty="0">
                <a:solidFill>
                  <a:srgbClr val="1B2A4A"/>
                </a:solidFill>
              </a:rPr>
              <a:t>dspy.Evaluate scores a program</a:t>
            </a:r>
            <a:endParaRPr lang="en-US" sz="1500" dirty="0"/>
          </a:p>
          <a:p>
            <a:pPr marL="0" indent="0">
              <a:spcAft>
                <a:spcPts val="200"/>
              </a:spcAft>
              <a:buNone/>
            </a:pPr>
            <a:r>
              <a:rPr lang="en-US" sz="1200" dirty="0">
                <a:solidFill>
                  <a:srgbClr val="5F6F80"/>
                </a:solidFill>
              </a:rPr>
              <a:t>Over a held-out dataset</a:t>
            </a:r>
            <a:endParaRPr lang="en-US" sz="1500" dirty="0"/>
          </a:p>
        </p:txBody>
      </p:sp>
      <p:sp>
        <p:nvSpPr>
          <p:cNvPr id="13" name="Shape 11"/>
          <p:cNvSpPr/>
          <p:nvPr/>
        </p:nvSpPr>
        <p:spPr>
          <a:xfrm>
            <a:off x="502920" y="3163824"/>
            <a:ext cx="329184" cy="329184"/>
          </a:xfrm>
          <a:prstGeom prst="ellipse">
            <a:avLst/>
          </a:prstGeom>
          <a:solidFill>
            <a:srgbClr val="1B2A4A"/>
          </a:solidFill>
          <a:ln w="12700">
            <a:solidFill>
              <a:srgbClr val="1B2A4A"/>
            </a:solidFill>
            <a:prstDash val="solid"/>
          </a:ln>
        </p:spPr>
      </p:sp>
      <p:sp>
        <p:nvSpPr>
          <p:cNvPr id="14" name="Text 12"/>
          <p:cNvSpPr txBox="1"/>
          <p:nvPr/>
        </p:nvSpPr>
        <p:spPr>
          <a:xfrm>
            <a:off x="502920" y="316382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15" name="Text 13"/>
          <p:cNvSpPr txBox="1"/>
          <p:nvPr/>
        </p:nvSpPr>
        <p:spPr>
          <a:xfrm>
            <a:off x="978408" y="3108960"/>
            <a:ext cx="3364992" cy="621792"/>
          </a:xfrm>
          <a:prstGeom prst="rect">
            <a:avLst/>
          </a:prstGeom>
          <a:noFill/>
          <a:ln/>
        </p:spPr>
        <p:txBody>
          <a:bodyPr wrap="square" lIns="0" tIns="0" rIns="0" bIns="0" rtlCol="0" anchor="t"/>
          <a:lstStyle/>
          <a:p>
            <a:pPr marL="0" indent="0">
              <a:spcAft>
                <a:spcPts val="200"/>
              </a:spcAft>
              <a:buNone/>
            </a:pPr>
            <a:r>
              <a:rPr lang="en-US" sz="1500" b="1" dirty="0">
                <a:solidFill>
                  <a:srgbClr val="1B2A4A"/>
                </a:solidFill>
              </a:rPr>
              <a:t>Split train / val / test</a:t>
            </a:r>
            <a:endParaRPr lang="en-US" sz="1500" dirty="0"/>
          </a:p>
          <a:p>
            <a:pPr marL="0" indent="0">
              <a:spcAft>
                <a:spcPts val="200"/>
              </a:spcAft>
              <a:buNone/>
            </a:pPr>
            <a:r>
              <a:rPr lang="en-US" sz="1200" dirty="0">
                <a:solidFill>
                  <a:srgbClr val="5F6F80"/>
                </a:solidFill>
              </a:rPr>
              <a:t>Use test only at the very end</a:t>
            </a:r>
            <a:endParaRPr lang="en-US" sz="1500" dirty="0"/>
          </a:p>
        </p:txBody>
      </p:sp>
      <p:sp>
        <p:nvSpPr>
          <p:cNvPr id="16" name="Shape 14"/>
          <p:cNvSpPr/>
          <p:nvPr/>
        </p:nvSpPr>
        <p:spPr>
          <a:xfrm>
            <a:off x="502920" y="3913632"/>
            <a:ext cx="3840480" cy="658368"/>
          </a:xfrm>
          <a:prstGeom prst="roundRect">
            <a:avLst>
              <a:gd name="adj" fmla="val 11111"/>
            </a:avLst>
          </a:prstGeom>
          <a:solidFill>
            <a:srgbClr val="FBEFE6"/>
          </a:solidFill>
          <a:ln w="12700">
            <a:solidFill>
              <a:srgbClr val="FBEFE6"/>
            </a:solidFill>
            <a:prstDash val="solid"/>
          </a:ln>
        </p:spPr>
      </p:sp>
      <p:sp>
        <p:nvSpPr>
          <p:cNvPr id="17" name="Text 15"/>
          <p:cNvSpPr txBox="1"/>
          <p:nvPr/>
        </p:nvSpPr>
        <p:spPr>
          <a:xfrm>
            <a:off x="667512" y="3913632"/>
            <a:ext cx="3511296" cy="658368"/>
          </a:xfrm>
          <a:prstGeom prst="rect">
            <a:avLst/>
          </a:prstGeom>
          <a:noFill/>
          <a:ln/>
        </p:spPr>
        <p:txBody>
          <a:bodyPr wrap="square" lIns="0" tIns="0" rIns="0" bIns="0" rtlCol="0" anchor="ctr"/>
          <a:lstStyle/>
          <a:p>
            <a:pPr marL="0" indent="0">
              <a:buNone/>
            </a:pPr>
            <a:r>
              <a:rPr lang="en-US" sz="1000" b="1" kern="0" spc="200" dirty="0">
                <a:solidFill>
                  <a:srgbClr val="D4824A"/>
                </a:solidFill>
              </a:rPr>
              <a:t>KEY POINT  </a:t>
            </a:r>
            <a:r>
              <a:rPr lang="en-US" sz="1300" dirty="0">
                <a:solidFill>
                  <a:srgbClr val="1B2A4A"/>
                </a:solidFill>
              </a:rPr>
              <a:t>Measure before and after compiling to confirm the optimizer helped.</a:t>
            </a:r>
            <a:endParaRPr lang="en-US" sz="1000" dirty="0"/>
          </a:p>
        </p:txBody>
      </p:sp>
      <p:sp>
        <p:nvSpPr>
          <p:cNvPr id="18" name="Shape 16"/>
          <p:cNvSpPr/>
          <p:nvPr/>
        </p:nvSpPr>
        <p:spPr>
          <a:xfrm>
            <a:off x="4572000" y="1188720"/>
            <a:ext cx="4069080" cy="3383280"/>
          </a:xfrm>
          <a:prstGeom prst="roundRect">
            <a:avLst>
              <a:gd name="adj" fmla="val 2162"/>
            </a:avLst>
          </a:prstGeom>
          <a:solidFill>
            <a:srgbClr val="1B2A4A"/>
          </a:solidFill>
          <a:ln w="12700">
            <a:solidFill>
              <a:srgbClr val="1B2A4A"/>
            </a:solidFill>
            <a:prstDash val="solid"/>
          </a:ln>
        </p:spPr>
      </p:sp>
      <p:sp>
        <p:nvSpPr>
          <p:cNvPr id="19" name="Text 17"/>
          <p:cNvSpPr txBox="1"/>
          <p:nvPr/>
        </p:nvSpPr>
        <p:spPr>
          <a:xfrm>
            <a:off x="4773168" y="1316736"/>
            <a:ext cx="3666744" cy="292608"/>
          </a:xfrm>
          <a:prstGeom prst="rect">
            <a:avLst/>
          </a:prstGeom>
          <a:noFill/>
          <a:ln/>
        </p:spPr>
        <p:txBody>
          <a:bodyPr wrap="square" lIns="0" tIns="0" rIns="0" bIns="0" rtlCol="0" anchor="ctr"/>
          <a:lstStyle/>
          <a:p>
            <a:pPr marL="0" indent="0">
              <a:buNone/>
            </a:pPr>
            <a:r>
              <a:rPr lang="en-US" sz="900" b="1" kern="0" spc="200" dirty="0">
                <a:solidFill>
                  <a:srgbClr val="D4824A"/>
                </a:solidFill>
              </a:rPr>
              <a:t>EXAMPLE  </a:t>
            </a:r>
            <a:r>
              <a:rPr lang="en-US" sz="1200" b="1" dirty="0">
                <a:solidFill>
                  <a:srgbClr val="FFFFFF"/>
                </a:solidFill>
              </a:rPr>
              <a:t>Metric + Evaluate (demo 07)</a:t>
            </a:r>
            <a:endParaRPr lang="en-US" sz="900" dirty="0"/>
          </a:p>
        </p:txBody>
      </p:sp>
      <p:sp>
        <p:nvSpPr>
          <p:cNvPr id="20" name="Text 18"/>
          <p:cNvSpPr txBox="1"/>
          <p:nvPr/>
        </p:nvSpPr>
        <p:spPr>
          <a:xfrm>
            <a:off x="4773168" y="1700784"/>
            <a:ext cx="3703320" cy="2743200"/>
          </a:xfrm>
          <a:prstGeom prst="rect">
            <a:avLst/>
          </a:prstGeom>
          <a:noFill/>
          <a:ln/>
        </p:spPr>
        <p:txBody>
          <a:bodyPr wrap="square" lIns="0" tIns="0" rIns="0" bIns="0" rtlCol="0" anchor="t"/>
          <a:lstStyle/>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from dspy.evaluate import Evaluate</a:t>
            </a:r>
            <a:endParaRPr lang="en-US" sz="1050" dirty="0"/>
          </a:p>
          <a:p>
            <a:pPr marL="0" indent="0">
              <a:lnSpc>
                <a:spcPct val="100000"/>
              </a:lnSpc>
              <a:buNone/>
            </a:pP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def label_match(example, pred, trace=None):</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return (pred.label.lower()</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 example.label.lower())</a:t>
            </a:r>
            <a:endParaRPr lang="en-US" sz="1050" dirty="0"/>
          </a:p>
          <a:p>
            <a:pPr marL="0" indent="0">
              <a:lnSpc>
                <a:spcPct val="100000"/>
              </a:lnSpc>
              <a:buNone/>
            </a:pP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evaluator = Evaluate(</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devset=test_data,</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metric=label_match,</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num_threads=4,</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display_progress=True)</a:t>
            </a:r>
            <a:endParaRPr lang="en-US" sz="1050" dirty="0"/>
          </a:p>
          <a:p>
            <a:pPr marL="0" indent="0">
              <a:lnSpc>
                <a:spcPct val="100000"/>
              </a:lnSpc>
              <a:buNone/>
            </a:pP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score = evaluator(compiled_program)</a:t>
            </a:r>
            <a:endParaRPr lang="en-US" sz="1050" dirty="0"/>
          </a:p>
        </p:txBody>
      </p:sp>
      <p:sp>
        <p:nvSpPr>
          <p:cNvPr id="25" name="Slide Number Placeholder 0"/>
          <p:cNvSpPr>
            <a:spLocks noGrp="1"/>
          </p:cNvSpPr>
          <p:nvPr>
            <p:ph type="sldNum" sz="quarter" idx="4294967295"/>
          </p:nvPr>
        </p:nvSpPr>
        <p:spPr>
          <a:xfrm>
            <a:off x="8229600" y="4800600"/>
            <a:ext cx="41148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A0B0C0"/>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02920" y="201168"/>
            <a:ext cx="8138160" cy="256032"/>
          </a:xfrm>
          <a:prstGeom prst="rect">
            <a:avLst/>
          </a:prstGeom>
          <a:noFill/>
          <a:ln/>
        </p:spPr>
        <p:txBody>
          <a:bodyPr wrap="square" lIns="0" tIns="0" rIns="0" bIns="0" rtlCol="0" anchor="ctr"/>
          <a:lstStyle/>
          <a:p>
            <a:pPr marL="0" indent="0">
              <a:buNone/>
            </a:pPr>
            <a:r>
              <a:rPr lang="en-US" sz="1000" b="1" kern="0" spc="300" dirty="0">
                <a:solidFill>
                  <a:srgbClr val="D4824A"/>
                </a:solidFill>
              </a:rPr>
              <a:t>COMPILATION &amp; EVALUATION  ·  4 OF 4</a:t>
            </a:r>
            <a:endParaRPr lang="en-US" sz="1000" dirty="0"/>
          </a:p>
        </p:txBody>
      </p:sp>
      <p:sp>
        <p:nvSpPr>
          <p:cNvPr id="3" name="Text 1"/>
          <p:cNvSpPr>
            <a:spLocks noGrp="1"/>
          </p:cNvSpPr>
          <p:nvPr>
            <p:ph type="title" idx="101" hasCustomPrompt="1"/>
          </p:nvPr>
        </p:nvSpPr>
        <p:spPr>
          <a:xfrm>
            <a:off x="502920" y="457200"/>
            <a:ext cx="8138160" cy="594360"/>
          </a:xfrm>
          <a:prstGeom prst="rect">
            <a:avLst/>
          </a:prstGeom>
          <a:noFill/>
          <a:ln/>
        </p:spPr>
        <p:txBody>
          <a:bodyPr wrap="square" lIns="0" tIns="0" rIns="0" bIns="0" rtlCol="0" anchor="ctr"/>
          <a:lstStyle/>
          <a:p>
            <a:pPr marL="0" indent="0" algn="l">
              <a:buNone/>
            </a:pPr>
            <a:r>
              <a:rPr lang="en-US" sz="2800" b="1" dirty="0">
                <a:solidFill>
                  <a:srgbClr val="1B2A4A"/>
                </a:solidFill>
              </a:rPr>
              <a:t>Validating DSPy Programs</a:t>
            </a:r>
            <a:endParaRPr lang="en-US" sz="2800" dirty="0"/>
          </a:p>
        </p:txBody>
      </p:sp>
      <p:sp>
        <p:nvSpPr>
          <p:cNvPr id="4" name="Shape 2"/>
          <p:cNvSpPr/>
          <p:nvPr/>
        </p:nvSpPr>
        <p:spPr>
          <a:xfrm>
            <a:off x="502920" y="1298448"/>
            <a:ext cx="329184" cy="329184"/>
          </a:xfrm>
          <a:prstGeom prst="ellipse">
            <a:avLst/>
          </a:prstGeom>
          <a:solidFill>
            <a:srgbClr val="1B2A4A"/>
          </a:solidFill>
          <a:ln w="12700">
            <a:solidFill>
              <a:srgbClr val="1B2A4A"/>
            </a:solidFill>
            <a:prstDash val="solid"/>
          </a:ln>
        </p:spPr>
      </p:sp>
      <p:sp>
        <p:nvSpPr>
          <p:cNvPr id="5" name="Text 3"/>
          <p:cNvSpPr txBox="1"/>
          <p:nvPr/>
        </p:nvSpPr>
        <p:spPr>
          <a:xfrm>
            <a:off x="502920" y="1298448"/>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6" name="Text 4"/>
          <p:cNvSpPr txBox="1"/>
          <p:nvPr/>
        </p:nvSpPr>
        <p:spPr>
          <a:xfrm>
            <a:off x="978408" y="1243584"/>
            <a:ext cx="3364992" cy="621792"/>
          </a:xfrm>
          <a:prstGeom prst="rect">
            <a:avLst/>
          </a:prstGeom>
          <a:noFill/>
          <a:ln/>
        </p:spPr>
        <p:txBody>
          <a:bodyPr wrap="square" lIns="0" tIns="0" rIns="0" bIns="0" rtlCol="0" anchor="t"/>
          <a:lstStyle/>
          <a:p>
            <a:pPr marL="0" indent="0">
              <a:spcAft>
                <a:spcPts val="200"/>
              </a:spcAft>
              <a:buNone/>
            </a:pPr>
            <a:r>
              <a:rPr lang="en-US" sz="1500" b="1" dirty="0">
                <a:solidFill>
                  <a:srgbClr val="1B2A4A"/>
                </a:solidFill>
              </a:rPr>
              <a:t>Test on held-out data only</a:t>
            </a:r>
            <a:endParaRPr lang="en-US" sz="1500" dirty="0"/>
          </a:p>
          <a:p>
            <a:pPr marL="0" indent="0">
              <a:spcAft>
                <a:spcPts val="200"/>
              </a:spcAft>
              <a:buNone/>
            </a:pPr>
            <a:r>
              <a:rPr lang="en-US" sz="1200" dirty="0">
                <a:solidFill>
                  <a:srgbClr val="5F6F80"/>
                </a:solidFill>
              </a:rPr>
              <a:t>The optimizer has seen train/val</a:t>
            </a:r>
            <a:endParaRPr lang="en-US" sz="1500" dirty="0"/>
          </a:p>
        </p:txBody>
      </p:sp>
      <p:sp>
        <p:nvSpPr>
          <p:cNvPr id="7" name="Shape 5"/>
          <p:cNvSpPr/>
          <p:nvPr/>
        </p:nvSpPr>
        <p:spPr>
          <a:xfrm>
            <a:off x="502920" y="1920240"/>
            <a:ext cx="329184" cy="329184"/>
          </a:xfrm>
          <a:prstGeom prst="ellipse">
            <a:avLst/>
          </a:prstGeom>
          <a:solidFill>
            <a:srgbClr val="1B2A4A"/>
          </a:solidFill>
          <a:ln w="12700">
            <a:solidFill>
              <a:srgbClr val="1B2A4A"/>
            </a:solidFill>
            <a:prstDash val="solid"/>
          </a:ln>
        </p:spPr>
      </p:sp>
      <p:sp>
        <p:nvSpPr>
          <p:cNvPr id="8" name="Text 6"/>
          <p:cNvSpPr txBox="1"/>
          <p:nvPr/>
        </p:nvSpPr>
        <p:spPr>
          <a:xfrm>
            <a:off x="502920" y="192024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9" name="Text 7"/>
          <p:cNvSpPr txBox="1"/>
          <p:nvPr/>
        </p:nvSpPr>
        <p:spPr>
          <a:xfrm>
            <a:off x="978408" y="1865376"/>
            <a:ext cx="3364992" cy="621792"/>
          </a:xfrm>
          <a:prstGeom prst="rect">
            <a:avLst/>
          </a:prstGeom>
          <a:noFill/>
          <a:ln/>
        </p:spPr>
        <p:txBody>
          <a:bodyPr wrap="square" lIns="0" tIns="0" rIns="0" bIns="0" rtlCol="0" anchor="t"/>
          <a:lstStyle/>
          <a:p>
            <a:pPr marL="0" indent="0">
              <a:spcAft>
                <a:spcPts val="200"/>
              </a:spcAft>
              <a:buNone/>
            </a:pPr>
            <a:r>
              <a:rPr lang="en-US" sz="1500" b="1" dirty="0">
                <a:solidFill>
                  <a:srgbClr val="1B2A4A"/>
                </a:solidFill>
              </a:rPr>
              <a:t>Compare against a baseline</a:t>
            </a:r>
            <a:endParaRPr lang="en-US" sz="1500" dirty="0"/>
          </a:p>
          <a:p>
            <a:pPr marL="0" indent="0">
              <a:spcAft>
                <a:spcPts val="200"/>
              </a:spcAft>
              <a:buNone/>
            </a:pPr>
            <a:r>
              <a:rPr lang="en-US" sz="1200" dirty="0">
                <a:solidFill>
                  <a:srgbClr val="5F6F80"/>
                </a:solidFill>
              </a:rPr>
              <a:t>Is the compiled version really better?</a:t>
            </a:r>
            <a:endParaRPr lang="en-US" sz="1500" dirty="0"/>
          </a:p>
        </p:txBody>
      </p:sp>
      <p:sp>
        <p:nvSpPr>
          <p:cNvPr id="10" name="Shape 8"/>
          <p:cNvSpPr/>
          <p:nvPr/>
        </p:nvSpPr>
        <p:spPr>
          <a:xfrm>
            <a:off x="502920" y="2542032"/>
            <a:ext cx="329184" cy="329184"/>
          </a:xfrm>
          <a:prstGeom prst="ellipse">
            <a:avLst/>
          </a:prstGeom>
          <a:solidFill>
            <a:srgbClr val="1B2A4A"/>
          </a:solidFill>
          <a:ln w="12700">
            <a:solidFill>
              <a:srgbClr val="1B2A4A"/>
            </a:solidFill>
            <a:prstDash val="solid"/>
          </a:ln>
        </p:spPr>
      </p:sp>
      <p:sp>
        <p:nvSpPr>
          <p:cNvPr id="11" name="Text 9"/>
          <p:cNvSpPr txBox="1"/>
          <p:nvPr/>
        </p:nvSpPr>
        <p:spPr>
          <a:xfrm>
            <a:off x="502920" y="254203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12" name="Text 10"/>
          <p:cNvSpPr txBox="1"/>
          <p:nvPr/>
        </p:nvSpPr>
        <p:spPr>
          <a:xfrm>
            <a:off x="978408" y="2487168"/>
            <a:ext cx="3364992" cy="621792"/>
          </a:xfrm>
          <a:prstGeom prst="rect">
            <a:avLst/>
          </a:prstGeom>
          <a:noFill/>
          <a:ln/>
        </p:spPr>
        <p:txBody>
          <a:bodyPr wrap="square" lIns="0" tIns="0" rIns="0" bIns="0" rtlCol="0" anchor="t"/>
          <a:lstStyle/>
          <a:p>
            <a:pPr marL="0" indent="0">
              <a:spcAft>
                <a:spcPts val="200"/>
              </a:spcAft>
              <a:buNone/>
            </a:pPr>
            <a:r>
              <a:rPr lang="en-US" sz="1500" b="1" dirty="0">
                <a:solidFill>
                  <a:srgbClr val="1B2A4A"/>
                </a:solidFill>
              </a:rPr>
              <a:t>Check consistency</a:t>
            </a:r>
            <a:endParaRPr lang="en-US" sz="1500" dirty="0"/>
          </a:p>
          <a:p>
            <a:pPr marL="0" indent="0">
              <a:spcAft>
                <a:spcPts val="200"/>
              </a:spcAft>
              <a:buNone/>
            </a:pPr>
            <a:r>
              <a:rPr lang="en-US" sz="1200" dirty="0">
                <a:solidFill>
                  <a:srgbClr val="5F6F80"/>
                </a:solidFill>
              </a:rPr>
              <a:t>Same input twice, same answer?</a:t>
            </a:r>
            <a:endParaRPr lang="en-US" sz="1500" dirty="0"/>
          </a:p>
        </p:txBody>
      </p:sp>
      <p:sp>
        <p:nvSpPr>
          <p:cNvPr id="13" name="Shape 11"/>
          <p:cNvSpPr/>
          <p:nvPr/>
        </p:nvSpPr>
        <p:spPr>
          <a:xfrm>
            <a:off x="502920" y="3163824"/>
            <a:ext cx="329184" cy="329184"/>
          </a:xfrm>
          <a:prstGeom prst="ellipse">
            <a:avLst/>
          </a:prstGeom>
          <a:solidFill>
            <a:srgbClr val="1B2A4A"/>
          </a:solidFill>
          <a:ln w="12700">
            <a:solidFill>
              <a:srgbClr val="1B2A4A"/>
            </a:solidFill>
            <a:prstDash val="solid"/>
          </a:ln>
        </p:spPr>
      </p:sp>
      <p:sp>
        <p:nvSpPr>
          <p:cNvPr id="14" name="Text 12"/>
          <p:cNvSpPr txBox="1"/>
          <p:nvPr/>
        </p:nvSpPr>
        <p:spPr>
          <a:xfrm>
            <a:off x="502920" y="316382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15" name="Text 13"/>
          <p:cNvSpPr txBox="1"/>
          <p:nvPr/>
        </p:nvSpPr>
        <p:spPr>
          <a:xfrm>
            <a:off x="978408" y="3108960"/>
            <a:ext cx="3364992" cy="621792"/>
          </a:xfrm>
          <a:prstGeom prst="rect">
            <a:avLst/>
          </a:prstGeom>
          <a:noFill/>
          <a:ln/>
        </p:spPr>
        <p:txBody>
          <a:bodyPr wrap="square" lIns="0" tIns="0" rIns="0" bIns="0" rtlCol="0" anchor="t"/>
          <a:lstStyle/>
          <a:p>
            <a:pPr marL="0" indent="0">
              <a:spcAft>
                <a:spcPts val="200"/>
              </a:spcAft>
              <a:buNone/>
            </a:pPr>
            <a:r>
              <a:rPr lang="en-US" sz="1500" b="1" dirty="0">
                <a:solidFill>
                  <a:srgbClr val="1B2A4A"/>
                </a:solidFill>
              </a:rPr>
              <a:t>Read the failures</a:t>
            </a:r>
            <a:endParaRPr lang="en-US" sz="1500" dirty="0"/>
          </a:p>
          <a:p>
            <a:pPr marL="0" indent="0">
              <a:spcAft>
                <a:spcPts val="200"/>
              </a:spcAft>
              <a:buNone/>
            </a:pPr>
            <a:r>
              <a:rPr lang="en-US" sz="1200" dirty="0">
                <a:solidFill>
                  <a:srgbClr val="5F6F80"/>
                </a:solidFill>
              </a:rPr>
              <a:t>Look for patterns in wrong answers</a:t>
            </a:r>
            <a:endParaRPr lang="en-US" sz="1500" dirty="0"/>
          </a:p>
        </p:txBody>
      </p:sp>
      <p:sp>
        <p:nvSpPr>
          <p:cNvPr id="16" name="Shape 14"/>
          <p:cNvSpPr/>
          <p:nvPr/>
        </p:nvSpPr>
        <p:spPr>
          <a:xfrm>
            <a:off x="502920" y="3913632"/>
            <a:ext cx="3840480" cy="658368"/>
          </a:xfrm>
          <a:prstGeom prst="roundRect">
            <a:avLst>
              <a:gd name="adj" fmla="val 11111"/>
            </a:avLst>
          </a:prstGeom>
          <a:solidFill>
            <a:srgbClr val="FBEFE6"/>
          </a:solidFill>
          <a:ln w="12700">
            <a:solidFill>
              <a:srgbClr val="FBEFE6"/>
            </a:solidFill>
            <a:prstDash val="solid"/>
          </a:ln>
        </p:spPr>
      </p:sp>
      <p:sp>
        <p:nvSpPr>
          <p:cNvPr id="17" name="Text 15"/>
          <p:cNvSpPr txBox="1"/>
          <p:nvPr/>
        </p:nvSpPr>
        <p:spPr>
          <a:xfrm>
            <a:off x="667512" y="3913632"/>
            <a:ext cx="3511296" cy="658368"/>
          </a:xfrm>
          <a:prstGeom prst="rect">
            <a:avLst/>
          </a:prstGeom>
          <a:noFill/>
          <a:ln/>
        </p:spPr>
        <p:txBody>
          <a:bodyPr wrap="square" lIns="0" tIns="0" rIns="0" bIns="0" rtlCol="0" anchor="ctr"/>
          <a:lstStyle/>
          <a:p>
            <a:pPr marL="0" indent="0">
              <a:buNone/>
            </a:pPr>
            <a:r>
              <a:rPr lang="en-US" sz="1000" b="1" kern="0" spc="200" dirty="0">
                <a:solidFill>
                  <a:srgbClr val="D4824A"/>
                </a:solidFill>
              </a:rPr>
              <a:t>KEY POINT  </a:t>
            </a:r>
            <a:r>
              <a:rPr lang="en-US" sz="1300" dirty="0">
                <a:solidFill>
                  <a:srgbClr val="1B2A4A"/>
                </a:solidFill>
              </a:rPr>
              <a:t>Report test-set scores. Validation scores are optimistic.</a:t>
            </a:r>
            <a:endParaRPr lang="en-US" sz="1000" dirty="0"/>
          </a:p>
        </p:txBody>
      </p:sp>
      <p:sp>
        <p:nvSpPr>
          <p:cNvPr id="18" name="Shape 16"/>
          <p:cNvSpPr/>
          <p:nvPr/>
        </p:nvSpPr>
        <p:spPr>
          <a:xfrm>
            <a:off x="4572000" y="1188720"/>
            <a:ext cx="4069080" cy="3383280"/>
          </a:xfrm>
          <a:prstGeom prst="roundRect">
            <a:avLst>
              <a:gd name="adj" fmla="val 2162"/>
            </a:avLst>
          </a:prstGeom>
          <a:solidFill>
            <a:srgbClr val="1B2A4A"/>
          </a:solidFill>
          <a:ln w="12700">
            <a:solidFill>
              <a:srgbClr val="1B2A4A"/>
            </a:solidFill>
            <a:prstDash val="solid"/>
          </a:ln>
        </p:spPr>
      </p:sp>
      <p:sp>
        <p:nvSpPr>
          <p:cNvPr id="19" name="Text 17"/>
          <p:cNvSpPr txBox="1"/>
          <p:nvPr/>
        </p:nvSpPr>
        <p:spPr>
          <a:xfrm>
            <a:off x="4773168" y="1316736"/>
            <a:ext cx="3666744" cy="292608"/>
          </a:xfrm>
          <a:prstGeom prst="rect">
            <a:avLst/>
          </a:prstGeom>
          <a:noFill/>
          <a:ln/>
        </p:spPr>
        <p:txBody>
          <a:bodyPr wrap="square" lIns="0" tIns="0" rIns="0" bIns="0" rtlCol="0" anchor="ctr"/>
          <a:lstStyle/>
          <a:p>
            <a:pPr marL="0" indent="0">
              <a:buNone/>
            </a:pPr>
            <a:r>
              <a:rPr lang="en-US" sz="900" b="1" kern="0" spc="200" dirty="0">
                <a:solidFill>
                  <a:srgbClr val="D4824A"/>
                </a:solidFill>
              </a:rPr>
              <a:t>EXAMPLE  </a:t>
            </a:r>
            <a:r>
              <a:rPr lang="en-US" sz="1200" b="1" dirty="0">
                <a:solidFill>
                  <a:srgbClr val="FFFFFF"/>
                </a:solidFill>
              </a:rPr>
              <a:t>Before-and-after (demo 08)</a:t>
            </a:r>
            <a:endParaRPr lang="en-US" sz="900" dirty="0"/>
          </a:p>
        </p:txBody>
      </p:sp>
      <p:sp>
        <p:nvSpPr>
          <p:cNvPr id="20" name="Text 18"/>
          <p:cNvSpPr txBox="1"/>
          <p:nvPr/>
        </p:nvSpPr>
        <p:spPr>
          <a:xfrm>
            <a:off x="4773168" y="1700784"/>
            <a:ext cx="3703320" cy="2743200"/>
          </a:xfrm>
          <a:prstGeom prst="rect">
            <a:avLst/>
          </a:prstGeom>
          <a:noFill/>
          <a:ln/>
        </p:spPr>
        <p:txBody>
          <a:bodyPr wrap="square" lIns="0" tIns="0" rIns="0" bIns="0" rtlCol="0" anchor="t"/>
          <a:lstStyle/>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base  = evaluator(TicketProcessor())</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bfs   = evaluator(bfs_program)</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mipro = evaluator(mipro_program)</a:t>
            </a:r>
            <a:endParaRPr lang="en-US" sz="1050" dirty="0"/>
          </a:p>
          <a:p>
            <a:pPr marL="0" indent="0">
              <a:lnSpc>
                <a:spcPct val="100000"/>
              </a:lnSpc>
              <a:buNone/>
            </a:pP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print("Baseline:", base)</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print("BootstrapFewShot:", bfs)</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print("MIPRO:", mipro)</a:t>
            </a:r>
            <a:endParaRPr lang="en-US" sz="1050" dirty="0"/>
          </a:p>
          <a:p>
            <a:pPr marL="0" indent="0">
              <a:lnSpc>
                <a:spcPct val="100000"/>
              </a:lnSpc>
              <a:buNone/>
            </a:pP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Then read ~20 wrong predictions:</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are they all the same kind of input?</a:t>
            </a:r>
            <a:endParaRPr lang="en-US" sz="1050" dirty="0"/>
          </a:p>
        </p:txBody>
      </p:sp>
      <p:sp>
        <p:nvSpPr>
          <p:cNvPr id="25" name="Slide Number Placeholder 0"/>
          <p:cNvSpPr>
            <a:spLocks noGrp="1"/>
          </p:cNvSpPr>
          <p:nvPr>
            <p:ph type="sldNum" sz="quarter" idx="4294967295"/>
          </p:nvPr>
        </p:nvSpPr>
        <p:spPr>
          <a:xfrm>
            <a:off x="8229600" y="4800600"/>
            <a:ext cx="41148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A0B0C0"/>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02920" y="201168"/>
            <a:ext cx="8138160" cy="256032"/>
          </a:xfrm>
          <a:prstGeom prst="rect">
            <a:avLst/>
          </a:prstGeom>
          <a:noFill/>
          <a:ln/>
        </p:spPr>
        <p:txBody>
          <a:bodyPr wrap="square" lIns="0" tIns="0" rIns="0" bIns="0" rtlCol="0" anchor="ctr"/>
          <a:lstStyle/>
          <a:p>
            <a:pPr marL="0" indent="0">
              <a:buNone/>
            </a:pPr>
            <a:r>
              <a:rPr lang="en-US" sz="1000" b="1" kern="0" spc="300" dirty="0">
                <a:solidFill>
                  <a:srgbClr val="D4824A"/>
                </a:solidFill>
              </a:rPr>
              <a:t>RECAP  ·  CORE CONCEPTS</a:t>
            </a:r>
            <a:endParaRPr lang="en-US" sz="1000" dirty="0"/>
          </a:p>
        </p:txBody>
      </p:sp>
      <p:sp>
        <p:nvSpPr>
          <p:cNvPr id="3" name="Text 1"/>
          <p:cNvSpPr>
            <a:spLocks noGrp="1"/>
          </p:cNvSpPr>
          <p:nvPr>
            <p:ph type="title" idx="101" hasCustomPrompt="1"/>
          </p:nvPr>
        </p:nvSpPr>
        <p:spPr>
          <a:xfrm>
            <a:off x="502920" y="457200"/>
            <a:ext cx="8138160" cy="594360"/>
          </a:xfrm>
          <a:prstGeom prst="rect">
            <a:avLst/>
          </a:prstGeom>
          <a:noFill/>
          <a:ln/>
        </p:spPr>
        <p:txBody>
          <a:bodyPr wrap="square" lIns="0" tIns="0" rIns="0" bIns="0" rtlCol="0" anchor="ctr"/>
          <a:lstStyle/>
          <a:p>
            <a:pPr marL="0" indent="0" algn="l">
              <a:buNone/>
            </a:pPr>
            <a:r>
              <a:rPr lang="en-US" sz="2800" b="1" dirty="0">
                <a:solidFill>
                  <a:srgbClr val="1B2A4A"/>
                </a:solidFill>
              </a:rPr>
              <a:t>DSPy Without the Jargon</a:t>
            </a:r>
            <a:endParaRPr lang="en-US" sz="2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3977640" cy="2139696"/>
        </p:xfrm>
        <a:graphic>
          <a:graphicData uri="http://schemas.openxmlformats.org/drawingml/2006/table">
            <a:tbl>
              <a:tblPr/>
              <a:tblGrid>
                <a:gridCol w="132588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tblGrid>
              <a:tr h="356616">
                <a:tc>
                  <a:txBody>
                    <a:bodyPr/>
                    <a:lstStyle/>
                    <a:p>
                      <a:pPr marL="0" indent="0">
                        <a:buNone/>
                      </a:pPr>
                      <a:r>
                        <a:rPr lang="en-US" sz="1100" b="1" kern="0" spc="100" dirty="0">
                          <a:solidFill>
                            <a:srgbClr val="FFFFFF"/>
                          </a:solidFill>
                        </a:rPr>
                        <a:t>DSPY WORD</a:t>
                      </a:r>
                      <a:endParaRPr lang="en-US" sz="1100" dirty="0"/>
                    </a:p>
                  </a:txBody>
                  <a:tcPr marL="109728" marR="109728" marT="0" marB="0" anchor="ctr">
                    <a:lnL w="0" cap="flat" cmpd="sng" algn="ctr">
                      <a:noFill/>
                    </a:lnL>
                    <a:lnR w="0" cap="flat" cmpd="sng" algn="ctr">
                      <a:noFill/>
                    </a:lnR>
                    <a:lnT w="0" cap="flat" cmpd="sng" algn="ctr">
                      <a:noFill/>
                    </a:lnT>
                    <a:lnB w="0" cap="flat" cmpd="sng" algn="ctr">
                      <a:noFill/>
                    </a:lnB>
                    <a:solidFill>
                      <a:srgbClr val="1B2A4A"/>
                    </a:solidFill>
                  </a:tcPr>
                </a:tc>
                <a:tc>
                  <a:txBody>
                    <a:bodyPr/>
                    <a:lstStyle/>
                    <a:p>
                      <a:pPr marL="0" indent="0">
                        <a:buNone/>
                      </a:pPr>
                      <a:r>
                        <a:rPr lang="en-US" sz="1100" b="1" kern="0" spc="100" dirty="0">
                          <a:solidFill>
                            <a:srgbClr val="FFFFFF"/>
                          </a:solidFill>
                        </a:rPr>
                        <a:t>THINK OF IT AS</a:t>
                      </a:r>
                      <a:endParaRPr lang="en-US" sz="1100" dirty="0"/>
                    </a:p>
                  </a:txBody>
                  <a:tcPr marL="109728" marR="109728" marT="0" marB="0" anchor="ctr">
                    <a:lnL w="0" cap="flat" cmpd="sng" algn="ctr">
                      <a:noFill/>
                    </a:lnL>
                    <a:lnR w="0" cap="flat" cmpd="sng" algn="ctr">
                      <a:noFill/>
                    </a:lnR>
                    <a:lnT w="0" cap="flat" cmpd="sng" algn="ctr">
                      <a:noFill/>
                    </a:lnT>
                    <a:lnB w="0" cap="flat" cmpd="sng" algn="ctr">
                      <a:noFill/>
                    </a:lnB>
                    <a:solidFill>
                      <a:srgbClr val="1B2A4A"/>
                    </a:solidFill>
                  </a:tcPr>
                </a:tc>
                <a:extLst>
                  <a:ext uri="{0D108BD9-81ED-4DB2-BD59-A6C34878D82A}">
                    <a16:rowId xmlns:a16="http://schemas.microsoft.com/office/drawing/2014/main" val="10000"/>
                  </a:ext>
                </a:extLst>
              </a:tr>
              <a:tr h="356616">
                <a:tc>
                  <a:txBody>
                    <a:bodyPr/>
                    <a:lstStyle/>
                    <a:p>
                      <a:pPr marL="0" indent="0">
                        <a:buNone/>
                      </a:pPr>
                      <a:r>
                        <a:rPr lang="en-US" sz="1300" b="1" dirty="0">
                          <a:solidFill>
                            <a:srgbClr val="1B2A4A"/>
                          </a:solidFill>
                        </a:rPr>
                        <a:t>Signature</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4F6F9"/>
                    </a:solidFill>
                  </a:tcPr>
                </a:tc>
                <a:tc>
                  <a:txBody>
                    <a:bodyPr/>
                    <a:lstStyle/>
                    <a:p>
                      <a:pPr marL="0" indent="0">
                        <a:buNone/>
                      </a:pPr>
                      <a:r>
                        <a:rPr lang="en-US" sz="1300" dirty="0">
                          <a:solidFill>
                            <a:srgbClr val="1B2A4A"/>
                          </a:solidFill>
                        </a:rPr>
                        <a:t>Input/output spec</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4F6F9"/>
                    </a:solidFill>
                  </a:tcPr>
                </a:tc>
                <a:extLst>
                  <a:ext uri="{0D108BD9-81ED-4DB2-BD59-A6C34878D82A}">
                    <a16:rowId xmlns:a16="http://schemas.microsoft.com/office/drawing/2014/main" val="10001"/>
                  </a:ext>
                </a:extLst>
              </a:tr>
              <a:tr h="356616">
                <a:tc>
                  <a:txBody>
                    <a:bodyPr/>
                    <a:lstStyle/>
                    <a:p>
                      <a:pPr marL="0" indent="0">
                        <a:buNone/>
                      </a:pPr>
                      <a:r>
                        <a:rPr lang="en-US" sz="1300" b="1" dirty="0">
                          <a:solidFill>
                            <a:srgbClr val="1B2A4A"/>
                          </a:solidFill>
                        </a:rPr>
                        <a:t>Module</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300" dirty="0">
                          <a:solidFill>
                            <a:srgbClr val="1B2A4A"/>
                          </a:solidFill>
                        </a:rPr>
                        <a:t>LLM strategy</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2"/>
                  </a:ext>
                </a:extLst>
              </a:tr>
              <a:tr h="356616">
                <a:tc>
                  <a:txBody>
                    <a:bodyPr/>
                    <a:lstStyle/>
                    <a:p>
                      <a:pPr marL="0" indent="0">
                        <a:buNone/>
                      </a:pPr>
                      <a:r>
                        <a:rPr lang="en-US" sz="1300" b="1" dirty="0">
                          <a:solidFill>
                            <a:srgbClr val="1B2A4A"/>
                          </a:solidFill>
                        </a:rPr>
                        <a:t>Prediction</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4F6F9"/>
                    </a:solidFill>
                  </a:tcPr>
                </a:tc>
                <a:tc>
                  <a:txBody>
                    <a:bodyPr/>
                    <a:lstStyle/>
                    <a:p>
                      <a:pPr marL="0" indent="0">
                        <a:buNone/>
                      </a:pPr>
                      <a:r>
                        <a:rPr lang="en-US" sz="1300" dirty="0">
                          <a:solidFill>
                            <a:srgbClr val="1B2A4A"/>
                          </a:solidFill>
                        </a:rPr>
                        <a:t>The LLM's result</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4F6F9"/>
                    </a:solidFill>
                  </a:tcPr>
                </a:tc>
                <a:extLst>
                  <a:ext uri="{0D108BD9-81ED-4DB2-BD59-A6C34878D82A}">
                    <a16:rowId xmlns:a16="http://schemas.microsoft.com/office/drawing/2014/main" val="10003"/>
                  </a:ext>
                </a:extLst>
              </a:tr>
              <a:tr h="356616">
                <a:tc>
                  <a:txBody>
                    <a:bodyPr/>
                    <a:lstStyle/>
                    <a:p>
                      <a:pPr marL="0" indent="0">
                        <a:buNone/>
                      </a:pPr>
                      <a:r>
                        <a:rPr lang="en-US" sz="1300" b="1" dirty="0">
                          <a:solidFill>
                            <a:srgbClr val="1B2A4A"/>
                          </a:solidFill>
                        </a:rPr>
                        <a:t>Example</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300" dirty="0">
                          <a:solidFill>
                            <a:srgbClr val="1B2A4A"/>
                          </a:solidFill>
                        </a:rPr>
                        <a:t>A training example</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4"/>
                  </a:ext>
                </a:extLst>
              </a:tr>
              <a:tr h="356616">
                <a:tc>
                  <a:txBody>
                    <a:bodyPr/>
                    <a:lstStyle/>
                    <a:p>
                      <a:pPr marL="0" indent="0">
                        <a:buNone/>
                      </a:pPr>
                      <a:r>
                        <a:rPr lang="en-US" sz="1300" b="1" dirty="0">
                          <a:solidFill>
                            <a:srgbClr val="1B2A4A"/>
                          </a:solidFill>
                        </a:rPr>
                        <a:t>Metric</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4F6F9"/>
                    </a:solidFill>
                  </a:tcPr>
                </a:tc>
                <a:tc>
                  <a:txBody>
                    <a:bodyPr/>
                    <a:lstStyle/>
                    <a:p>
                      <a:pPr marL="0" indent="0">
                        <a:buNone/>
                      </a:pPr>
                      <a:r>
                        <a:rPr lang="en-US" sz="1300" dirty="0">
                          <a:solidFill>
                            <a:srgbClr val="1B2A4A"/>
                          </a:solidFill>
                        </a:rPr>
                        <a:t>A score</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4F6F9"/>
                    </a:solidFill>
                  </a:tcPr>
                </a:tc>
                <a:extLst>
                  <a:ext uri="{0D108BD9-81ED-4DB2-BD59-A6C34878D82A}">
                    <a16:rowId xmlns:a16="http://schemas.microsoft.com/office/drawing/2014/main" val="10005"/>
                  </a:ext>
                </a:extLst>
              </a:tr>
            </a:tbl>
          </a:graphicData>
        </a:graphic>
      </p:graphicFrame>
      <p:graphicFrame>
        <p:nvGraphicFramePr>
          <p:cNvPr id="35" name="Table 1"/>
          <p:cNvGraphicFramePr>
            <a:graphicFrameLocks noGrp="1"/>
          </p:cNvGraphicFramePr>
          <p:nvPr>
            <p:extLst>
              <p:ext uri="{D42A27DB-BD31-4B8C-83A1-F6EECF244321}">
                <p14:modId xmlns:p14="http://schemas.microsoft.com/office/powerpoint/2010/main" val="1579011935"/>
              </p:ext>
            </p:extLst>
          </p:nvPr>
        </p:nvGraphicFramePr>
        <p:xfrm>
          <a:off x="4663440" y="1234440"/>
          <a:ext cx="3977640" cy="1783080"/>
        </p:xfrm>
        <a:graphic>
          <a:graphicData uri="http://schemas.openxmlformats.org/drawingml/2006/table">
            <a:tbl>
              <a:tblPr/>
              <a:tblGrid>
                <a:gridCol w="132588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tblGrid>
              <a:tr h="356616">
                <a:tc>
                  <a:txBody>
                    <a:bodyPr/>
                    <a:lstStyle/>
                    <a:p>
                      <a:pPr marL="0" indent="0">
                        <a:buNone/>
                      </a:pPr>
                      <a:r>
                        <a:rPr lang="en-US" sz="1100" b="1" kern="0" spc="100" dirty="0">
                          <a:solidFill>
                            <a:srgbClr val="FFFFFF"/>
                          </a:solidFill>
                        </a:rPr>
                        <a:t>DSPY WORD</a:t>
                      </a:r>
                      <a:endParaRPr lang="en-US" sz="1100" dirty="0"/>
                    </a:p>
                  </a:txBody>
                  <a:tcPr marL="109728" marR="109728" marT="0" marB="0" anchor="ctr">
                    <a:lnL w="0" cap="flat" cmpd="sng" algn="ctr">
                      <a:noFill/>
                    </a:lnL>
                    <a:lnR w="0" cap="flat" cmpd="sng" algn="ctr">
                      <a:noFill/>
                    </a:lnR>
                    <a:lnT w="0" cap="flat" cmpd="sng" algn="ctr">
                      <a:noFill/>
                    </a:lnT>
                    <a:lnB w="0" cap="flat" cmpd="sng" algn="ctr">
                      <a:noFill/>
                    </a:lnB>
                    <a:solidFill>
                      <a:srgbClr val="1B2A4A"/>
                    </a:solidFill>
                  </a:tcPr>
                </a:tc>
                <a:tc>
                  <a:txBody>
                    <a:bodyPr/>
                    <a:lstStyle/>
                    <a:p>
                      <a:pPr marL="0" indent="0">
                        <a:buNone/>
                      </a:pPr>
                      <a:r>
                        <a:rPr lang="en-US" sz="1100" b="1" kern="0" spc="100" dirty="0">
                          <a:solidFill>
                            <a:srgbClr val="FFFFFF"/>
                          </a:solidFill>
                        </a:rPr>
                        <a:t>THINK OF IT AS</a:t>
                      </a:r>
                      <a:endParaRPr lang="en-US" sz="1100" dirty="0"/>
                    </a:p>
                  </a:txBody>
                  <a:tcPr marL="109728" marR="109728" marT="0" marB="0" anchor="ctr">
                    <a:lnL w="0" cap="flat" cmpd="sng" algn="ctr">
                      <a:noFill/>
                    </a:lnL>
                    <a:lnR w="0" cap="flat" cmpd="sng" algn="ctr">
                      <a:noFill/>
                    </a:lnR>
                    <a:lnT w="0" cap="flat" cmpd="sng" algn="ctr">
                      <a:noFill/>
                    </a:lnT>
                    <a:lnB w="0" cap="flat" cmpd="sng" algn="ctr">
                      <a:noFill/>
                    </a:lnB>
                    <a:solidFill>
                      <a:srgbClr val="1B2A4A"/>
                    </a:solidFill>
                  </a:tcPr>
                </a:tc>
                <a:extLst>
                  <a:ext uri="{0D108BD9-81ED-4DB2-BD59-A6C34878D82A}">
                    <a16:rowId xmlns:a16="http://schemas.microsoft.com/office/drawing/2014/main" val="10000"/>
                  </a:ext>
                </a:extLst>
              </a:tr>
              <a:tr h="356616">
                <a:tc>
                  <a:txBody>
                    <a:bodyPr/>
                    <a:lstStyle/>
                    <a:p>
                      <a:pPr marL="0" indent="0">
                        <a:buNone/>
                      </a:pPr>
                      <a:r>
                        <a:rPr lang="en-US" sz="1300" b="1" dirty="0">
                          <a:solidFill>
                            <a:srgbClr val="1B2A4A"/>
                          </a:solidFill>
                        </a:rPr>
                        <a:t>Optimizer</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4F6F9"/>
                    </a:solidFill>
                  </a:tcPr>
                </a:tc>
                <a:tc>
                  <a:txBody>
                    <a:bodyPr/>
                    <a:lstStyle/>
                    <a:p>
                      <a:pPr marL="0" indent="0">
                        <a:buNone/>
                      </a:pPr>
                      <a:r>
                        <a:rPr lang="en-US" sz="1300" dirty="0">
                          <a:solidFill>
                            <a:srgbClr val="1B2A4A"/>
                          </a:solidFill>
                        </a:rPr>
                        <a:t>Prompt/program improver</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4F6F9"/>
                    </a:solidFill>
                  </a:tcPr>
                </a:tc>
                <a:extLst>
                  <a:ext uri="{0D108BD9-81ED-4DB2-BD59-A6C34878D82A}">
                    <a16:rowId xmlns:a16="http://schemas.microsoft.com/office/drawing/2014/main" val="10001"/>
                  </a:ext>
                </a:extLst>
              </a:tr>
              <a:tr h="356616">
                <a:tc>
                  <a:txBody>
                    <a:bodyPr/>
                    <a:lstStyle/>
                    <a:p>
                      <a:pPr marL="0" indent="0">
                        <a:buNone/>
                      </a:pPr>
                      <a:r>
                        <a:rPr lang="en-US" sz="1300" b="1" dirty="0">
                          <a:solidFill>
                            <a:srgbClr val="1B2A4A"/>
                          </a:solidFill>
                        </a:rPr>
                        <a:t>Compile</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300" dirty="0">
                          <a:solidFill>
                            <a:srgbClr val="1B2A4A"/>
                          </a:solidFill>
                        </a:rPr>
                        <a:t>Optimize → improved program</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2"/>
                  </a:ext>
                </a:extLst>
              </a:tr>
              <a:tr h="356616">
                <a:tc>
                  <a:txBody>
                    <a:bodyPr/>
                    <a:lstStyle/>
                    <a:p>
                      <a:pPr marL="0" indent="0">
                        <a:buNone/>
                      </a:pPr>
                      <a:r>
                        <a:rPr lang="en-US" sz="1300" b="1" dirty="0">
                          <a:solidFill>
                            <a:srgbClr val="1B2A4A"/>
                          </a:solidFill>
                        </a:rPr>
                        <a:t>Save</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4F6F9"/>
                    </a:solidFill>
                  </a:tcPr>
                </a:tc>
                <a:tc>
                  <a:txBody>
                    <a:bodyPr/>
                    <a:lstStyle/>
                    <a:p>
                      <a:pPr marL="0" indent="0">
                        <a:buNone/>
                      </a:pPr>
                      <a:r>
                        <a:rPr lang="en-US" sz="1300" dirty="0">
                          <a:solidFill>
                            <a:srgbClr val="1B2A4A"/>
                          </a:solidFill>
                        </a:rPr>
                        <a:t>Store it as JSON</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4F6F9"/>
                    </a:solidFill>
                  </a:tcPr>
                </a:tc>
                <a:extLst>
                  <a:ext uri="{0D108BD9-81ED-4DB2-BD59-A6C34878D82A}">
                    <a16:rowId xmlns:a16="http://schemas.microsoft.com/office/drawing/2014/main" val="10003"/>
                  </a:ext>
                </a:extLst>
              </a:tr>
              <a:tr h="356616">
                <a:tc>
                  <a:txBody>
                    <a:bodyPr/>
                    <a:lstStyle/>
                    <a:p>
                      <a:pPr marL="0" indent="0">
                        <a:buNone/>
                      </a:pPr>
                      <a:r>
                        <a:rPr lang="en-US" sz="1300" b="1" dirty="0">
                          <a:solidFill>
                            <a:srgbClr val="1B2A4A"/>
                          </a:solidFill>
                        </a:rPr>
                        <a:t>Evaluate</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300" dirty="0">
                          <a:solidFill>
                            <a:srgbClr val="1B2A4A"/>
                          </a:solidFill>
                        </a:rPr>
                        <a:t>Test how well it works</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4"/>
                  </a:ext>
                </a:extLst>
              </a:tr>
            </a:tbl>
          </a:graphicData>
        </a:graphic>
      </p:graphicFrame>
      <p:sp>
        <p:nvSpPr>
          <p:cNvPr id="6" name="Shape 2"/>
          <p:cNvSpPr/>
          <p:nvPr/>
        </p:nvSpPr>
        <p:spPr>
          <a:xfrm>
            <a:off x="502920" y="3730752"/>
            <a:ext cx="8138160" cy="731520"/>
          </a:xfrm>
          <a:prstGeom prst="roundRect">
            <a:avLst>
              <a:gd name="adj" fmla="val 10000"/>
            </a:avLst>
          </a:prstGeom>
          <a:solidFill>
            <a:srgbClr val="1B2A4A"/>
          </a:solidFill>
          <a:ln w="12700">
            <a:solidFill>
              <a:srgbClr val="1B2A4A"/>
            </a:solidFill>
            <a:prstDash val="solid"/>
          </a:ln>
        </p:spPr>
      </p:sp>
      <p:sp>
        <p:nvSpPr>
          <p:cNvPr id="7" name="Text 3"/>
          <p:cNvSpPr txBox="1"/>
          <p:nvPr/>
        </p:nvSpPr>
        <p:spPr>
          <a:xfrm>
            <a:off x="731520" y="3730752"/>
            <a:ext cx="7680960" cy="731520"/>
          </a:xfrm>
          <a:prstGeom prst="rect">
            <a:avLst/>
          </a:prstGeom>
          <a:noFill/>
          <a:ln/>
        </p:spPr>
        <p:txBody>
          <a:bodyPr wrap="square" lIns="0" tIns="0" rIns="0" bIns="0" rtlCol="0" anchor="ctr"/>
          <a:lstStyle/>
          <a:p>
            <a:pPr marL="0" indent="0">
              <a:buNone/>
            </a:pPr>
            <a:r>
              <a:rPr lang="en-US" sz="1350" b="1" dirty="0">
                <a:solidFill>
                  <a:srgbClr val="D4824A"/>
                </a:solidFill>
              </a:rPr>
              <a:t>That's the core. </a:t>
            </a:r>
            <a:r>
              <a:rPr lang="en-US" sz="1350" dirty="0">
                <a:solidFill>
                  <a:srgbClr val="FFFFFF"/>
                </a:solidFill>
              </a:rPr>
              <a:t>Everything so far is enough to start using DSPy. Next: ReAct, multiple LLMs, self-improving pipelines and production.</a:t>
            </a:r>
            <a:endParaRPr lang="en-US" sz="1350" dirty="0"/>
          </a:p>
        </p:txBody>
      </p:sp>
      <p:sp>
        <p:nvSpPr>
          <p:cNvPr id="25" name="Slide Number Placeholder 0"/>
          <p:cNvSpPr>
            <a:spLocks noGrp="1"/>
          </p:cNvSpPr>
          <p:nvPr>
            <p:ph type="sldNum" sz="quarter" idx="4294967295"/>
          </p:nvPr>
        </p:nvSpPr>
        <p:spPr>
          <a:xfrm>
            <a:off x="8229600" y="4800600"/>
            <a:ext cx="41148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A0B0C0"/>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02920" y="201168"/>
            <a:ext cx="8138160" cy="256032"/>
          </a:xfrm>
          <a:prstGeom prst="rect">
            <a:avLst/>
          </a:prstGeom>
          <a:noFill/>
          <a:ln/>
        </p:spPr>
        <p:txBody>
          <a:bodyPr wrap="square" lIns="0" tIns="0" rIns="0" bIns="0" rtlCol="0" anchor="ctr"/>
          <a:lstStyle/>
          <a:p>
            <a:pPr marL="0" indent="0">
              <a:buNone/>
            </a:pPr>
            <a:r>
              <a:rPr lang="en-US" sz="1000" b="1" kern="0" spc="300" dirty="0">
                <a:solidFill>
                  <a:srgbClr val="D4824A"/>
                </a:solidFill>
              </a:rPr>
              <a:t>ADVANCED &amp; PRODUCTION  ·  1 OF 4</a:t>
            </a:r>
            <a:endParaRPr lang="en-US" sz="1000" dirty="0"/>
          </a:p>
        </p:txBody>
      </p:sp>
      <p:sp>
        <p:nvSpPr>
          <p:cNvPr id="3" name="Text 1"/>
          <p:cNvSpPr>
            <a:spLocks noGrp="1"/>
          </p:cNvSpPr>
          <p:nvPr>
            <p:ph type="title" idx="101" hasCustomPrompt="1"/>
          </p:nvPr>
        </p:nvSpPr>
        <p:spPr>
          <a:xfrm>
            <a:off x="502920" y="457200"/>
            <a:ext cx="8138160" cy="594360"/>
          </a:xfrm>
          <a:prstGeom prst="rect">
            <a:avLst/>
          </a:prstGeom>
          <a:noFill/>
          <a:ln/>
        </p:spPr>
        <p:txBody>
          <a:bodyPr wrap="square" lIns="0" tIns="0" rIns="0" bIns="0" rtlCol="0" anchor="ctr"/>
          <a:lstStyle/>
          <a:p>
            <a:pPr marL="0" indent="0" algn="l">
              <a:buNone/>
            </a:pPr>
            <a:r>
              <a:rPr lang="en-US" sz="2800" b="1" dirty="0">
                <a:solidFill>
                  <a:srgbClr val="1B2A4A"/>
                </a:solidFill>
              </a:rPr>
              <a:t>ReAct Modules in DSPy</a:t>
            </a:r>
            <a:endParaRPr lang="en-US" sz="2800" dirty="0"/>
          </a:p>
        </p:txBody>
      </p:sp>
      <p:sp>
        <p:nvSpPr>
          <p:cNvPr id="4" name="Shape 2"/>
          <p:cNvSpPr/>
          <p:nvPr/>
        </p:nvSpPr>
        <p:spPr>
          <a:xfrm>
            <a:off x="502920" y="1280160"/>
            <a:ext cx="1143000" cy="548640"/>
          </a:xfrm>
          <a:prstGeom prst="roundRect">
            <a:avLst>
              <a:gd name="adj" fmla="val 13333"/>
            </a:avLst>
          </a:prstGeom>
          <a:solidFill>
            <a:srgbClr val="1B2A4A"/>
          </a:solidFill>
          <a:ln w="12700">
            <a:solidFill>
              <a:srgbClr val="1B2A4A"/>
            </a:solidFill>
            <a:prstDash val="solid"/>
          </a:ln>
        </p:spPr>
      </p:sp>
      <p:sp>
        <p:nvSpPr>
          <p:cNvPr id="5" name="Text 3"/>
          <p:cNvSpPr txBox="1"/>
          <p:nvPr/>
        </p:nvSpPr>
        <p:spPr>
          <a:xfrm>
            <a:off x="612648" y="1280160"/>
            <a:ext cx="923544" cy="548640"/>
          </a:xfrm>
          <a:prstGeom prst="rect">
            <a:avLst/>
          </a:prstGeom>
          <a:noFill/>
          <a:ln/>
        </p:spPr>
        <p:txBody>
          <a:bodyPr wrap="square" lIns="0" tIns="0" rIns="0" bIns="0" rtlCol="0" anchor="ctr"/>
          <a:lstStyle/>
          <a:p>
            <a:pPr marL="0" indent="0" algn="ctr">
              <a:spcAft>
                <a:spcPts val="400"/>
              </a:spcAft>
              <a:buNone/>
            </a:pPr>
            <a:r>
              <a:rPr lang="en-US" sz="1400" b="1" dirty="0">
                <a:solidFill>
                  <a:srgbClr val="FFFFFF"/>
                </a:solidFill>
              </a:rPr>
              <a:t>Thought</a:t>
            </a:r>
            <a:endParaRPr lang="en-US" sz="1400" dirty="0"/>
          </a:p>
        </p:txBody>
      </p:sp>
      <p:sp>
        <p:nvSpPr>
          <p:cNvPr id="6" name="Shape 4"/>
          <p:cNvSpPr/>
          <p:nvPr/>
        </p:nvSpPr>
        <p:spPr>
          <a:xfrm>
            <a:off x="1673352" y="1554480"/>
            <a:ext cx="150876" cy="0"/>
          </a:xfrm>
          <a:prstGeom prst="line">
            <a:avLst/>
          </a:prstGeom>
          <a:noFill/>
          <a:ln w="25400">
            <a:solidFill>
              <a:srgbClr val="D4824A"/>
            </a:solidFill>
            <a:prstDash val="solid"/>
            <a:tailEnd type="triangle"/>
          </a:ln>
        </p:spPr>
      </p:sp>
      <p:sp>
        <p:nvSpPr>
          <p:cNvPr id="7" name="Shape 5"/>
          <p:cNvSpPr/>
          <p:nvPr/>
        </p:nvSpPr>
        <p:spPr>
          <a:xfrm>
            <a:off x="1851660" y="1280160"/>
            <a:ext cx="1143000" cy="548640"/>
          </a:xfrm>
          <a:prstGeom prst="roundRect">
            <a:avLst>
              <a:gd name="adj" fmla="val 13333"/>
            </a:avLst>
          </a:prstGeom>
          <a:solidFill>
            <a:srgbClr val="1B2A4A"/>
          </a:solidFill>
          <a:ln w="12700">
            <a:solidFill>
              <a:srgbClr val="1B2A4A"/>
            </a:solidFill>
            <a:prstDash val="solid"/>
          </a:ln>
        </p:spPr>
      </p:sp>
      <p:sp>
        <p:nvSpPr>
          <p:cNvPr id="8" name="Text 6"/>
          <p:cNvSpPr txBox="1"/>
          <p:nvPr/>
        </p:nvSpPr>
        <p:spPr>
          <a:xfrm>
            <a:off x="1961388" y="1280160"/>
            <a:ext cx="923544" cy="548640"/>
          </a:xfrm>
          <a:prstGeom prst="rect">
            <a:avLst/>
          </a:prstGeom>
          <a:noFill/>
          <a:ln/>
        </p:spPr>
        <p:txBody>
          <a:bodyPr wrap="square" lIns="0" tIns="0" rIns="0" bIns="0" rtlCol="0" anchor="ctr"/>
          <a:lstStyle/>
          <a:p>
            <a:pPr marL="0" indent="0" algn="ctr">
              <a:spcAft>
                <a:spcPts val="400"/>
              </a:spcAft>
              <a:buNone/>
            </a:pPr>
            <a:r>
              <a:rPr lang="en-US" sz="1400" b="1" dirty="0">
                <a:solidFill>
                  <a:srgbClr val="FFFFFF"/>
                </a:solidFill>
              </a:rPr>
              <a:t>Action</a:t>
            </a:r>
            <a:endParaRPr lang="en-US" sz="1400" dirty="0"/>
          </a:p>
        </p:txBody>
      </p:sp>
      <p:sp>
        <p:nvSpPr>
          <p:cNvPr id="9" name="Shape 7"/>
          <p:cNvSpPr/>
          <p:nvPr/>
        </p:nvSpPr>
        <p:spPr>
          <a:xfrm>
            <a:off x="3022092" y="1554480"/>
            <a:ext cx="150876" cy="0"/>
          </a:xfrm>
          <a:prstGeom prst="line">
            <a:avLst/>
          </a:prstGeom>
          <a:noFill/>
          <a:ln w="25400">
            <a:solidFill>
              <a:srgbClr val="D4824A"/>
            </a:solidFill>
            <a:prstDash val="solid"/>
            <a:tailEnd type="triangle"/>
          </a:ln>
        </p:spPr>
      </p:sp>
      <p:sp>
        <p:nvSpPr>
          <p:cNvPr id="10" name="Shape 8"/>
          <p:cNvSpPr/>
          <p:nvPr/>
        </p:nvSpPr>
        <p:spPr>
          <a:xfrm>
            <a:off x="3200400" y="1280160"/>
            <a:ext cx="1143000" cy="548640"/>
          </a:xfrm>
          <a:prstGeom prst="roundRect">
            <a:avLst>
              <a:gd name="adj" fmla="val 13333"/>
            </a:avLst>
          </a:prstGeom>
          <a:solidFill>
            <a:srgbClr val="1B2A4A"/>
          </a:solidFill>
          <a:ln w="12700">
            <a:solidFill>
              <a:srgbClr val="1B2A4A"/>
            </a:solidFill>
            <a:prstDash val="solid"/>
          </a:ln>
        </p:spPr>
      </p:sp>
      <p:sp>
        <p:nvSpPr>
          <p:cNvPr id="11" name="Text 9"/>
          <p:cNvSpPr txBox="1"/>
          <p:nvPr/>
        </p:nvSpPr>
        <p:spPr>
          <a:xfrm>
            <a:off x="3310128" y="1280160"/>
            <a:ext cx="923544" cy="548640"/>
          </a:xfrm>
          <a:prstGeom prst="rect">
            <a:avLst/>
          </a:prstGeom>
          <a:noFill/>
          <a:ln/>
        </p:spPr>
        <p:txBody>
          <a:bodyPr wrap="square" lIns="0" tIns="0" rIns="0" bIns="0" rtlCol="0" anchor="ctr"/>
          <a:lstStyle/>
          <a:p>
            <a:pPr marL="0" indent="0" algn="ctr">
              <a:spcAft>
                <a:spcPts val="400"/>
              </a:spcAft>
              <a:buNone/>
            </a:pPr>
            <a:r>
              <a:rPr lang="en-US" sz="1400" b="1" dirty="0">
                <a:solidFill>
                  <a:srgbClr val="FFFFFF"/>
                </a:solidFill>
              </a:rPr>
              <a:t>Observation</a:t>
            </a:r>
            <a:endParaRPr lang="en-US" sz="1400" dirty="0"/>
          </a:p>
        </p:txBody>
      </p:sp>
      <p:sp>
        <p:nvSpPr>
          <p:cNvPr id="12" name="Text 10"/>
          <p:cNvSpPr txBox="1"/>
          <p:nvPr/>
        </p:nvSpPr>
        <p:spPr>
          <a:xfrm>
            <a:off x="502920" y="1920240"/>
            <a:ext cx="3840480" cy="274320"/>
          </a:xfrm>
          <a:prstGeom prst="rect">
            <a:avLst/>
          </a:prstGeom>
          <a:noFill/>
          <a:ln/>
        </p:spPr>
        <p:txBody>
          <a:bodyPr wrap="square" lIns="0" tIns="0" rIns="0" bIns="0" rtlCol="0" anchor="ctr"/>
          <a:lstStyle/>
          <a:p>
            <a:pPr marL="0" indent="0" algn="ctr">
              <a:buNone/>
            </a:pPr>
            <a:r>
              <a:rPr lang="en-US" sz="1200" b="1" dirty="0">
                <a:solidFill>
                  <a:srgbClr val="D4824A"/>
                </a:solidFill>
              </a:rPr>
              <a:t>↺  repeat until the model chooses Finish</a:t>
            </a:r>
            <a:endParaRPr lang="en-US" sz="1200" dirty="0"/>
          </a:p>
        </p:txBody>
      </p:sp>
      <p:sp>
        <p:nvSpPr>
          <p:cNvPr id="13" name="Shape 11"/>
          <p:cNvSpPr/>
          <p:nvPr/>
        </p:nvSpPr>
        <p:spPr>
          <a:xfrm>
            <a:off x="2423160" y="2212848"/>
            <a:ext cx="0" cy="164592"/>
          </a:xfrm>
          <a:prstGeom prst="line">
            <a:avLst/>
          </a:prstGeom>
          <a:noFill/>
          <a:ln w="25400">
            <a:solidFill>
              <a:srgbClr val="D4824A"/>
            </a:solidFill>
            <a:prstDash val="solid"/>
            <a:tailEnd type="triangle"/>
          </a:ln>
        </p:spPr>
      </p:sp>
      <p:sp>
        <p:nvSpPr>
          <p:cNvPr id="14" name="Shape 12"/>
          <p:cNvSpPr/>
          <p:nvPr/>
        </p:nvSpPr>
        <p:spPr>
          <a:xfrm>
            <a:off x="502920" y="2395728"/>
            <a:ext cx="3840480" cy="457200"/>
          </a:xfrm>
          <a:prstGeom prst="roundRect">
            <a:avLst>
              <a:gd name="adj" fmla="val 16000"/>
            </a:avLst>
          </a:prstGeom>
          <a:solidFill>
            <a:srgbClr val="D4824A"/>
          </a:solidFill>
          <a:ln w="12700">
            <a:solidFill>
              <a:srgbClr val="D4824A"/>
            </a:solidFill>
            <a:prstDash val="solid"/>
          </a:ln>
        </p:spPr>
      </p:sp>
      <p:sp>
        <p:nvSpPr>
          <p:cNvPr id="15" name="Text 13"/>
          <p:cNvSpPr txBox="1"/>
          <p:nvPr/>
        </p:nvSpPr>
        <p:spPr>
          <a:xfrm>
            <a:off x="612648" y="2395728"/>
            <a:ext cx="3621024" cy="457200"/>
          </a:xfrm>
          <a:prstGeom prst="rect">
            <a:avLst/>
          </a:prstGeom>
          <a:noFill/>
          <a:ln/>
        </p:spPr>
        <p:txBody>
          <a:bodyPr wrap="square" lIns="0" tIns="0" rIns="0" bIns="0" rtlCol="0" anchor="ctr"/>
          <a:lstStyle/>
          <a:p>
            <a:pPr marL="0" indent="0" algn="ctr">
              <a:spcAft>
                <a:spcPts val="400"/>
              </a:spcAft>
              <a:buNone/>
            </a:pPr>
            <a:r>
              <a:rPr lang="en-US" sz="1400" b="1" dirty="0">
                <a:solidFill>
                  <a:srgbClr val="FFFFFF"/>
                </a:solidFill>
              </a:rPr>
              <a:t>Finish → final answer</a:t>
            </a:r>
            <a:endParaRPr lang="en-US" sz="1400" dirty="0"/>
          </a:p>
        </p:txBody>
      </p:sp>
      <p:sp>
        <p:nvSpPr>
          <p:cNvPr id="16" name="Shape 14"/>
          <p:cNvSpPr/>
          <p:nvPr/>
        </p:nvSpPr>
        <p:spPr>
          <a:xfrm>
            <a:off x="502920" y="2999232"/>
            <a:ext cx="3840480" cy="749808"/>
          </a:xfrm>
          <a:prstGeom prst="roundRect">
            <a:avLst>
              <a:gd name="adj" fmla="val 9756"/>
            </a:avLst>
          </a:prstGeom>
          <a:solidFill>
            <a:srgbClr val="F4F6F9"/>
          </a:solidFill>
          <a:ln w="12700">
            <a:solidFill>
              <a:srgbClr val="F4F6F9"/>
            </a:solidFill>
            <a:prstDash val="solid"/>
          </a:ln>
        </p:spPr>
      </p:sp>
      <p:sp>
        <p:nvSpPr>
          <p:cNvPr id="17" name="Text 15"/>
          <p:cNvSpPr txBox="1"/>
          <p:nvPr/>
        </p:nvSpPr>
        <p:spPr>
          <a:xfrm>
            <a:off x="640080" y="2999232"/>
            <a:ext cx="3611880" cy="749808"/>
          </a:xfrm>
          <a:prstGeom prst="rect">
            <a:avLst/>
          </a:prstGeom>
          <a:noFill/>
          <a:ln/>
        </p:spPr>
        <p:txBody>
          <a:bodyPr wrap="square" lIns="0" tIns="0" rIns="0" bIns="0" rtlCol="0" anchor="ctr"/>
          <a:lstStyle/>
          <a:p>
            <a:pPr marL="0" indent="0">
              <a:buNone/>
            </a:pPr>
            <a:r>
              <a:rPr lang="en-US" sz="1050" dirty="0">
                <a:solidFill>
                  <a:srgbClr val="1B2A4A"/>
                </a:solidFill>
                <a:latin typeface="Consolas" pitchFamily="34" charset="0"/>
                <a:ea typeface="Consolas" pitchFamily="34" charset="-122"/>
                <a:cs typeface="Consolas" pitchFamily="34" charset="-120"/>
              </a:rPr>
              <a:t>Thought: I need the ticket count</a:t>
            </a:r>
            <a:endParaRPr lang="en-US" sz="1050" dirty="0"/>
          </a:p>
          <a:p>
            <a:pPr marL="0" indent="0">
              <a:buNone/>
            </a:pPr>
            <a:r>
              <a:rPr lang="en-US" sz="1050" dirty="0">
                <a:solidFill>
                  <a:srgbClr val="1B2A4A"/>
                </a:solidFill>
                <a:latin typeface="Consolas" pitchFamily="34" charset="0"/>
                <a:ea typeface="Consolas" pitchFamily="34" charset="-122"/>
                <a:cs typeface="Consolas" pitchFamily="34" charset="-120"/>
              </a:rPr>
              <a:t>Action:  count_tickets("high")</a:t>
            </a:r>
            <a:endParaRPr lang="en-US" sz="1050" dirty="0"/>
          </a:p>
          <a:p>
            <a:pPr marL="0" indent="0">
              <a:buNone/>
            </a:pPr>
            <a:r>
              <a:rPr lang="en-US" sz="1050" dirty="0">
                <a:solidFill>
                  <a:srgbClr val="1B2A4A"/>
                </a:solidFill>
                <a:latin typeface="Consolas" pitchFamily="34" charset="0"/>
                <a:ea typeface="Consolas" pitchFamily="34" charset="-122"/>
                <a:cs typeface="Consolas" pitchFamily="34" charset="-120"/>
              </a:rPr>
              <a:t>Observation: 7</a:t>
            </a:r>
            <a:endParaRPr lang="en-US" sz="1050" dirty="0"/>
          </a:p>
        </p:txBody>
      </p:sp>
      <p:sp>
        <p:nvSpPr>
          <p:cNvPr id="18" name="Shape 16"/>
          <p:cNvSpPr/>
          <p:nvPr/>
        </p:nvSpPr>
        <p:spPr>
          <a:xfrm>
            <a:off x="502920" y="3913632"/>
            <a:ext cx="3840480" cy="658368"/>
          </a:xfrm>
          <a:prstGeom prst="roundRect">
            <a:avLst>
              <a:gd name="adj" fmla="val 11111"/>
            </a:avLst>
          </a:prstGeom>
          <a:solidFill>
            <a:srgbClr val="FBEFE6"/>
          </a:solidFill>
          <a:ln w="12700">
            <a:solidFill>
              <a:srgbClr val="FBEFE6"/>
            </a:solidFill>
            <a:prstDash val="solid"/>
          </a:ln>
        </p:spPr>
      </p:sp>
      <p:sp>
        <p:nvSpPr>
          <p:cNvPr id="19" name="Text 17"/>
          <p:cNvSpPr txBox="1"/>
          <p:nvPr/>
        </p:nvSpPr>
        <p:spPr>
          <a:xfrm>
            <a:off x="667512" y="3913632"/>
            <a:ext cx="3511296" cy="658368"/>
          </a:xfrm>
          <a:prstGeom prst="rect">
            <a:avLst/>
          </a:prstGeom>
          <a:noFill/>
          <a:ln/>
        </p:spPr>
        <p:txBody>
          <a:bodyPr wrap="square" lIns="0" tIns="0" rIns="0" bIns="0" rtlCol="0" anchor="ctr"/>
          <a:lstStyle/>
          <a:p>
            <a:pPr marL="0" indent="0">
              <a:buNone/>
            </a:pPr>
            <a:r>
              <a:rPr lang="en-US" sz="1000" b="1" kern="0" spc="200" dirty="0">
                <a:solidFill>
                  <a:srgbClr val="D4824A"/>
                </a:solidFill>
              </a:rPr>
              <a:t>KEY POINT  </a:t>
            </a:r>
            <a:r>
              <a:rPr lang="en-US" sz="1300" dirty="0">
                <a:solidFill>
                  <a:srgbClr val="1B2A4A"/>
                </a:solidFill>
              </a:rPr>
              <a:t>Each loop step is an LLM call. Keep tools few and well described.</a:t>
            </a:r>
            <a:endParaRPr lang="en-US" sz="1000" dirty="0"/>
          </a:p>
        </p:txBody>
      </p:sp>
      <p:sp>
        <p:nvSpPr>
          <p:cNvPr id="20" name="Shape 18"/>
          <p:cNvSpPr/>
          <p:nvPr/>
        </p:nvSpPr>
        <p:spPr>
          <a:xfrm>
            <a:off x="4572000" y="1188720"/>
            <a:ext cx="4069080" cy="3383280"/>
          </a:xfrm>
          <a:prstGeom prst="roundRect">
            <a:avLst>
              <a:gd name="adj" fmla="val 2162"/>
            </a:avLst>
          </a:prstGeom>
          <a:solidFill>
            <a:srgbClr val="1B2A4A"/>
          </a:solidFill>
          <a:ln w="12700">
            <a:solidFill>
              <a:srgbClr val="1B2A4A"/>
            </a:solidFill>
            <a:prstDash val="solid"/>
          </a:ln>
        </p:spPr>
      </p:sp>
      <p:sp>
        <p:nvSpPr>
          <p:cNvPr id="21" name="Text 19"/>
          <p:cNvSpPr txBox="1"/>
          <p:nvPr/>
        </p:nvSpPr>
        <p:spPr>
          <a:xfrm>
            <a:off x="4773168" y="1316736"/>
            <a:ext cx="3666744" cy="292608"/>
          </a:xfrm>
          <a:prstGeom prst="rect">
            <a:avLst/>
          </a:prstGeom>
          <a:noFill/>
          <a:ln/>
        </p:spPr>
        <p:txBody>
          <a:bodyPr wrap="square" lIns="0" tIns="0" rIns="0" bIns="0" rtlCol="0" anchor="ctr"/>
          <a:lstStyle/>
          <a:p>
            <a:pPr marL="0" indent="0">
              <a:buNone/>
            </a:pPr>
            <a:r>
              <a:rPr lang="en-US" sz="900" b="1" kern="0" spc="200" dirty="0">
                <a:solidFill>
                  <a:srgbClr val="D4824A"/>
                </a:solidFill>
              </a:rPr>
              <a:t>EXAMPLE  </a:t>
            </a:r>
            <a:r>
              <a:rPr lang="en-US" sz="1200" b="1" dirty="0">
                <a:solidFill>
                  <a:srgbClr val="FFFFFF"/>
                </a:solidFill>
              </a:rPr>
              <a:t>ReAct with tools (demo 09)</a:t>
            </a:r>
            <a:endParaRPr lang="en-US" sz="900" dirty="0"/>
          </a:p>
        </p:txBody>
      </p:sp>
      <p:sp>
        <p:nvSpPr>
          <p:cNvPr id="22" name="Text 20"/>
          <p:cNvSpPr txBox="1"/>
          <p:nvPr/>
        </p:nvSpPr>
        <p:spPr>
          <a:xfrm>
            <a:off x="4773168" y="1700784"/>
            <a:ext cx="3703320" cy="2743200"/>
          </a:xfrm>
          <a:prstGeom prst="rect">
            <a:avLst/>
          </a:prstGeom>
          <a:noFill/>
          <a:ln/>
        </p:spPr>
        <p:txBody>
          <a:bodyPr wrap="square" lIns="0" tIns="0" rIns="0" bIns="0" rtlCol="0" anchor="t"/>
          <a:lstStyle/>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def search(query: str) -&gt; str:</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"""Search Wikipedia for a query."""</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return wikipedia_api(query)[:500]</a:t>
            </a:r>
            <a:endParaRPr lang="en-US" sz="1050" dirty="0"/>
          </a:p>
          <a:p>
            <a:pPr marL="0" indent="0">
              <a:lnSpc>
                <a:spcPct val="100000"/>
              </a:lnSpc>
              <a:buNone/>
            </a:pP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class QA(dspy.Signature):</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"""Answer questions using search."""</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question: str = dspy.InputField()</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answer: str = dspy.OutputField()</a:t>
            </a:r>
            <a:endParaRPr lang="en-US" sz="1050" dirty="0"/>
          </a:p>
          <a:p>
            <a:pPr marL="0" indent="0">
              <a:lnSpc>
                <a:spcPct val="100000"/>
              </a:lnSpc>
              <a:buNone/>
            </a:pP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agent = dspy.ReAct(QA,</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tools=[search, calculate])</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result = agent(question="...")</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print(result.answer)</a:t>
            </a:r>
            <a:endParaRPr lang="en-US" sz="1050" dirty="0"/>
          </a:p>
        </p:txBody>
      </p:sp>
      <p:sp>
        <p:nvSpPr>
          <p:cNvPr id="25" name="Slide Number Placeholder 0"/>
          <p:cNvSpPr>
            <a:spLocks noGrp="1"/>
          </p:cNvSpPr>
          <p:nvPr>
            <p:ph type="sldNum" sz="quarter" idx="4294967295"/>
          </p:nvPr>
        </p:nvSpPr>
        <p:spPr>
          <a:xfrm>
            <a:off x="8229600" y="4800600"/>
            <a:ext cx="41148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A0B0C0"/>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02920" y="201168"/>
            <a:ext cx="8138160" cy="256032"/>
          </a:xfrm>
          <a:prstGeom prst="rect">
            <a:avLst/>
          </a:prstGeom>
          <a:noFill/>
          <a:ln/>
        </p:spPr>
        <p:txBody>
          <a:bodyPr wrap="square" lIns="0" tIns="0" rIns="0" bIns="0" rtlCol="0" anchor="ctr"/>
          <a:lstStyle/>
          <a:p>
            <a:pPr marL="0" indent="0">
              <a:buNone/>
            </a:pPr>
            <a:r>
              <a:rPr lang="en-US" sz="1000" b="1" kern="0" spc="300" dirty="0">
                <a:solidFill>
                  <a:srgbClr val="D4824A"/>
                </a:solidFill>
              </a:rPr>
              <a:t>ADVANCED &amp; PRODUCTION  ·  2 OF 4</a:t>
            </a:r>
            <a:endParaRPr lang="en-US" sz="1000" dirty="0"/>
          </a:p>
        </p:txBody>
      </p:sp>
      <p:sp>
        <p:nvSpPr>
          <p:cNvPr id="3" name="Text 1"/>
          <p:cNvSpPr>
            <a:spLocks noGrp="1"/>
          </p:cNvSpPr>
          <p:nvPr>
            <p:ph type="title" idx="101" hasCustomPrompt="1"/>
          </p:nvPr>
        </p:nvSpPr>
        <p:spPr>
          <a:xfrm>
            <a:off x="502920" y="457200"/>
            <a:ext cx="8138160" cy="594360"/>
          </a:xfrm>
          <a:prstGeom prst="rect">
            <a:avLst/>
          </a:prstGeom>
          <a:noFill/>
          <a:ln/>
        </p:spPr>
        <p:txBody>
          <a:bodyPr wrap="square" lIns="0" tIns="0" rIns="0" bIns="0" rtlCol="0" anchor="ctr"/>
          <a:lstStyle/>
          <a:p>
            <a:pPr marL="0" indent="0" algn="l">
              <a:buNone/>
            </a:pPr>
            <a:r>
              <a:rPr lang="en-US" sz="2800" b="1" dirty="0">
                <a:solidFill>
                  <a:srgbClr val="1B2A4A"/>
                </a:solidFill>
              </a:rPr>
              <a:t>DSPy with Multiple LLMs</a:t>
            </a:r>
            <a:endParaRPr lang="en-US" sz="2800" dirty="0"/>
          </a:p>
        </p:txBody>
      </p:sp>
      <p:sp>
        <p:nvSpPr>
          <p:cNvPr id="4" name="Shape 2"/>
          <p:cNvSpPr/>
          <p:nvPr/>
        </p:nvSpPr>
        <p:spPr>
          <a:xfrm>
            <a:off x="502920" y="1298448"/>
            <a:ext cx="329184" cy="329184"/>
          </a:xfrm>
          <a:prstGeom prst="ellipse">
            <a:avLst/>
          </a:prstGeom>
          <a:solidFill>
            <a:srgbClr val="1B2A4A"/>
          </a:solidFill>
          <a:ln w="12700">
            <a:solidFill>
              <a:srgbClr val="1B2A4A"/>
            </a:solidFill>
            <a:prstDash val="solid"/>
          </a:ln>
        </p:spPr>
      </p:sp>
      <p:sp>
        <p:nvSpPr>
          <p:cNvPr id="5" name="Text 3"/>
          <p:cNvSpPr txBox="1"/>
          <p:nvPr/>
        </p:nvSpPr>
        <p:spPr>
          <a:xfrm>
            <a:off x="502920" y="1298448"/>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6" name="Text 4"/>
          <p:cNvSpPr txBox="1"/>
          <p:nvPr/>
        </p:nvSpPr>
        <p:spPr>
          <a:xfrm>
            <a:off x="978408" y="1243584"/>
            <a:ext cx="3364992" cy="621792"/>
          </a:xfrm>
          <a:prstGeom prst="rect">
            <a:avLst/>
          </a:prstGeom>
          <a:noFill/>
          <a:ln/>
        </p:spPr>
        <p:txBody>
          <a:bodyPr wrap="square" lIns="0" tIns="0" rIns="0" bIns="0" rtlCol="0" anchor="t"/>
          <a:lstStyle/>
          <a:p>
            <a:pPr marL="0" indent="0">
              <a:spcAft>
                <a:spcPts val="200"/>
              </a:spcAft>
              <a:buNone/>
            </a:pPr>
            <a:r>
              <a:rPr lang="en-US" sz="1500" b="1" dirty="0">
                <a:solidFill>
                  <a:srgbClr val="1B2A4A"/>
                </a:solidFill>
              </a:rPr>
              <a:t>Set a default: dspy.configure()</a:t>
            </a:r>
            <a:endParaRPr lang="en-US" sz="1500" dirty="0"/>
          </a:p>
          <a:p>
            <a:pPr marL="0" indent="0">
              <a:spcAft>
                <a:spcPts val="200"/>
              </a:spcAft>
              <a:buNone/>
            </a:pPr>
            <a:r>
              <a:rPr lang="en-US" sz="1200" dirty="0">
                <a:solidFill>
                  <a:srgbClr val="5F6F80"/>
                </a:solidFill>
              </a:rPr>
              <a:t>Usually the cheap model</a:t>
            </a:r>
            <a:endParaRPr lang="en-US" sz="1500" dirty="0"/>
          </a:p>
        </p:txBody>
      </p:sp>
      <p:sp>
        <p:nvSpPr>
          <p:cNvPr id="7" name="Shape 5"/>
          <p:cNvSpPr/>
          <p:nvPr/>
        </p:nvSpPr>
        <p:spPr>
          <a:xfrm>
            <a:off x="502920" y="1920240"/>
            <a:ext cx="329184" cy="329184"/>
          </a:xfrm>
          <a:prstGeom prst="ellipse">
            <a:avLst/>
          </a:prstGeom>
          <a:solidFill>
            <a:srgbClr val="1B2A4A"/>
          </a:solidFill>
          <a:ln w="12700">
            <a:solidFill>
              <a:srgbClr val="1B2A4A"/>
            </a:solidFill>
            <a:prstDash val="solid"/>
          </a:ln>
        </p:spPr>
      </p:sp>
      <p:sp>
        <p:nvSpPr>
          <p:cNvPr id="8" name="Text 6"/>
          <p:cNvSpPr txBox="1"/>
          <p:nvPr/>
        </p:nvSpPr>
        <p:spPr>
          <a:xfrm>
            <a:off x="502920" y="192024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9" name="Text 7"/>
          <p:cNvSpPr txBox="1"/>
          <p:nvPr/>
        </p:nvSpPr>
        <p:spPr>
          <a:xfrm>
            <a:off x="978408" y="1865376"/>
            <a:ext cx="3364992" cy="621792"/>
          </a:xfrm>
          <a:prstGeom prst="rect">
            <a:avLst/>
          </a:prstGeom>
          <a:noFill/>
          <a:ln/>
        </p:spPr>
        <p:txBody>
          <a:bodyPr wrap="square" lIns="0" tIns="0" rIns="0" bIns="0" rtlCol="0" anchor="t"/>
          <a:lstStyle/>
          <a:p>
            <a:pPr marL="0" indent="0">
              <a:spcAft>
                <a:spcPts val="200"/>
              </a:spcAft>
              <a:buNone/>
            </a:pPr>
            <a:r>
              <a:rPr lang="en-US" sz="1500" b="1" dirty="0">
                <a:solidFill>
                  <a:srgbClr val="1B2A4A"/>
                </a:solidFill>
              </a:rPr>
              <a:t>Override one step: dspy.context()</a:t>
            </a:r>
            <a:endParaRPr lang="en-US" sz="1500" dirty="0"/>
          </a:p>
          <a:p>
            <a:pPr marL="0" indent="0">
              <a:spcAft>
                <a:spcPts val="200"/>
              </a:spcAft>
              <a:buNone/>
            </a:pPr>
            <a:r>
              <a:rPr lang="en-US" sz="1200" dirty="0">
                <a:solidFill>
                  <a:srgbClr val="5F6F80"/>
                </a:solidFill>
              </a:rPr>
              <a:t>Only that call changes model</a:t>
            </a:r>
            <a:endParaRPr lang="en-US" sz="1500" dirty="0"/>
          </a:p>
        </p:txBody>
      </p:sp>
      <p:sp>
        <p:nvSpPr>
          <p:cNvPr id="10" name="Shape 8"/>
          <p:cNvSpPr/>
          <p:nvPr/>
        </p:nvSpPr>
        <p:spPr>
          <a:xfrm>
            <a:off x="502920" y="2542032"/>
            <a:ext cx="329184" cy="329184"/>
          </a:xfrm>
          <a:prstGeom prst="ellipse">
            <a:avLst/>
          </a:prstGeom>
          <a:solidFill>
            <a:srgbClr val="1B2A4A"/>
          </a:solidFill>
          <a:ln w="12700">
            <a:solidFill>
              <a:srgbClr val="1B2A4A"/>
            </a:solidFill>
            <a:prstDash val="solid"/>
          </a:ln>
        </p:spPr>
      </p:sp>
      <p:sp>
        <p:nvSpPr>
          <p:cNvPr id="11" name="Text 9"/>
          <p:cNvSpPr txBox="1"/>
          <p:nvPr/>
        </p:nvSpPr>
        <p:spPr>
          <a:xfrm>
            <a:off x="502920" y="254203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12" name="Text 10"/>
          <p:cNvSpPr txBox="1"/>
          <p:nvPr/>
        </p:nvSpPr>
        <p:spPr>
          <a:xfrm>
            <a:off x="978408" y="2487168"/>
            <a:ext cx="3364992" cy="621792"/>
          </a:xfrm>
          <a:prstGeom prst="rect">
            <a:avLst/>
          </a:prstGeom>
          <a:noFill/>
          <a:ln/>
        </p:spPr>
        <p:txBody>
          <a:bodyPr wrap="square" lIns="0" tIns="0" rIns="0" bIns="0" rtlCol="0" anchor="t"/>
          <a:lstStyle/>
          <a:p>
            <a:pPr marL="0" indent="0">
              <a:spcAft>
                <a:spcPts val="200"/>
              </a:spcAft>
              <a:buNone/>
            </a:pPr>
            <a:r>
              <a:rPr lang="en-US" sz="1500" b="1" dirty="0">
                <a:solidFill>
                  <a:srgbClr val="1B2A4A"/>
                </a:solidFill>
              </a:rPr>
              <a:t>Cheap model for easy steps</a:t>
            </a:r>
            <a:endParaRPr lang="en-US" sz="1500" dirty="0"/>
          </a:p>
          <a:p>
            <a:pPr marL="0" indent="0">
              <a:spcAft>
                <a:spcPts val="200"/>
              </a:spcAft>
              <a:buNone/>
            </a:pPr>
            <a:r>
              <a:rPr lang="en-US" sz="1200" dirty="0">
                <a:solidFill>
                  <a:srgbClr val="5F6F80"/>
                </a:solidFill>
              </a:rPr>
              <a:t>e.g. classify with gpt-4o-mini</a:t>
            </a:r>
            <a:endParaRPr lang="en-US" sz="1500" dirty="0"/>
          </a:p>
        </p:txBody>
      </p:sp>
      <p:sp>
        <p:nvSpPr>
          <p:cNvPr id="13" name="Shape 11"/>
          <p:cNvSpPr/>
          <p:nvPr/>
        </p:nvSpPr>
        <p:spPr>
          <a:xfrm>
            <a:off x="502920" y="3163824"/>
            <a:ext cx="329184" cy="329184"/>
          </a:xfrm>
          <a:prstGeom prst="ellipse">
            <a:avLst/>
          </a:prstGeom>
          <a:solidFill>
            <a:srgbClr val="1B2A4A"/>
          </a:solidFill>
          <a:ln w="12700">
            <a:solidFill>
              <a:srgbClr val="1B2A4A"/>
            </a:solidFill>
            <a:prstDash val="solid"/>
          </a:ln>
        </p:spPr>
      </p:sp>
      <p:sp>
        <p:nvSpPr>
          <p:cNvPr id="14" name="Text 12"/>
          <p:cNvSpPr txBox="1"/>
          <p:nvPr/>
        </p:nvSpPr>
        <p:spPr>
          <a:xfrm>
            <a:off x="502920" y="316382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15" name="Text 13"/>
          <p:cNvSpPr txBox="1"/>
          <p:nvPr/>
        </p:nvSpPr>
        <p:spPr>
          <a:xfrm>
            <a:off x="978408" y="3108960"/>
            <a:ext cx="3364992" cy="621792"/>
          </a:xfrm>
          <a:prstGeom prst="rect">
            <a:avLst/>
          </a:prstGeom>
          <a:noFill/>
          <a:ln/>
        </p:spPr>
        <p:txBody>
          <a:bodyPr wrap="square" lIns="0" tIns="0" rIns="0" bIns="0" rtlCol="0" anchor="t"/>
          <a:lstStyle/>
          <a:p>
            <a:pPr marL="0" indent="0">
              <a:spcAft>
                <a:spcPts val="200"/>
              </a:spcAft>
              <a:buNone/>
            </a:pPr>
            <a:r>
              <a:rPr lang="en-US" sz="1500" b="1" dirty="0">
                <a:solidFill>
                  <a:srgbClr val="1B2A4A"/>
                </a:solidFill>
              </a:rPr>
              <a:t>Strong model for hard steps</a:t>
            </a:r>
            <a:endParaRPr lang="en-US" sz="1500" dirty="0"/>
          </a:p>
          <a:p>
            <a:pPr marL="0" indent="0">
              <a:spcAft>
                <a:spcPts val="200"/>
              </a:spcAft>
              <a:buNone/>
            </a:pPr>
            <a:r>
              <a:rPr lang="en-US" sz="1200" dirty="0">
                <a:solidFill>
                  <a:srgbClr val="5F6F80"/>
                </a:solidFill>
              </a:rPr>
              <a:t>e.g. generate with gpt-4o</a:t>
            </a:r>
            <a:endParaRPr lang="en-US" sz="1500" dirty="0"/>
          </a:p>
        </p:txBody>
      </p:sp>
      <p:sp>
        <p:nvSpPr>
          <p:cNvPr id="16" name="Shape 14"/>
          <p:cNvSpPr/>
          <p:nvPr/>
        </p:nvSpPr>
        <p:spPr>
          <a:xfrm>
            <a:off x="502920" y="3913632"/>
            <a:ext cx="3840480" cy="658368"/>
          </a:xfrm>
          <a:prstGeom prst="roundRect">
            <a:avLst>
              <a:gd name="adj" fmla="val 11111"/>
            </a:avLst>
          </a:prstGeom>
          <a:solidFill>
            <a:srgbClr val="FBEFE6"/>
          </a:solidFill>
          <a:ln w="12700">
            <a:solidFill>
              <a:srgbClr val="FBEFE6"/>
            </a:solidFill>
            <a:prstDash val="solid"/>
          </a:ln>
        </p:spPr>
      </p:sp>
      <p:sp>
        <p:nvSpPr>
          <p:cNvPr id="17" name="Text 15"/>
          <p:cNvSpPr txBox="1"/>
          <p:nvPr/>
        </p:nvSpPr>
        <p:spPr>
          <a:xfrm>
            <a:off x="667512" y="3913632"/>
            <a:ext cx="3511296" cy="658368"/>
          </a:xfrm>
          <a:prstGeom prst="rect">
            <a:avLst/>
          </a:prstGeom>
          <a:noFill/>
          <a:ln/>
        </p:spPr>
        <p:txBody>
          <a:bodyPr wrap="square" lIns="0" tIns="0" rIns="0" bIns="0" rtlCol="0" anchor="ctr"/>
          <a:lstStyle/>
          <a:p>
            <a:pPr marL="0" indent="0">
              <a:buNone/>
            </a:pPr>
            <a:r>
              <a:rPr lang="en-US" sz="1000" b="1" kern="0" spc="200" dirty="0">
                <a:solidFill>
                  <a:srgbClr val="D4824A"/>
                </a:solidFill>
              </a:rPr>
              <a:t>KEY POINT  </a:t>
            </a:r>
            <a:r>
              <a:rPr lang="en-US" sz="1300" dirty="0">
                <a:solidFill>
                  <a:srgbClr val="1B2A4A"/>
                </a:solidFill>
              </a:rPr>
              <a:t>Optimize with the best model you can afford; deploy the cheapest that's good enough.</a:t>
            </a:r>
            <a:endParaRPr lang="en-US" sz="1000" dirty="0"/>
          </a:p>
        </p:txBody>
      </p:sp>
      <p:sp>
        <p:nvSpPr>
          <p:cNvPr id="18" name="Shape 16"/>
          <p:cNvSpPr/>
          <p:nvPr/>
        </p:nvSpPr>
        <p:spPr>
          <a:xfrm>
            <a:off x="4572000" y="1188720"/>
            <a:ext cx="4069080" cy="3383280"/>
          </a:xfrm>
          <a:prstGeom prst="roundRect">
            <a:avLst>
              <a:gd name="adj" fmla="val 2162"/>
            </a:avLst>
          </a:prstGeom>
          <a:solidFill>
            <a:srgbClr val="1B2A4A"/>
          </a:solidFill>
          <a:ln w="12700">
            <a:solidFill>
              <a:srgbClr val="1B2A4A"/>
            </a:solidFill>
            <a:prstDash val="solid"/>
          </a:ln>
        </p:spPr>
      </p:sp>
      <p:sp>
        <p:nvSpPr>
          <p:cNvPr id="19" name="Text 17"/>
          <p:cNvSpPr txBox="1"/>
          <p:nvPr/>
        </p:nvSpPr>
        <p:spPr>
          <a:xfrm>
            <a:off x="4773168" y="1316736"/>
            <a:ext cx="3666744" cy="292608"/>
          </a:xfrm>
          <a:prstGeom prst="rect">
            <a:avLst/>
          </a:prstGeom>
          <a:noFill/>
          <a:ln/>
        </p:spPr>
        <p:txBody>
          <a:bodyPr wrap="square" lIns="0" tIns="0" rIns="0" bIns="0" rtlCol="0" anchor="ctr"/>
          <a:lstStyle/>
          <a:p>
            <a:pPr marL="0" indent="0">
              <a:buNone/>
            </a:pPr>
            <a:r>
              <a:rPr lang="en-US" sz="900" b="1" kern="0" spc="200" dirty="0">
                <a:solidFill>
                  <a:srgbClr val="D4824A"/>
                </a:solidFill>
              </a:rPr>
              <a:t>EXAMPLE  </a:t>
            </a:r>
            <a:r>
              <a:rPr lang="en-US" sz="1200" b="1" dirty="0">
                <a:solidFill>
                  <a:srgbClr val="FFFFFF"/>
                </a:solidFill>
              </a:rPr>
              <a:t>Multi-model pipeline (demo 10)</a:t>
            </a:r>
            <a:endParaRPr lang="en-US" sz="900" dirty="0"/>
          </a:p>
        </p:txBody>
      </p:sp>
      <p:sp>
        <p:nvSpPr>
          <p:cNvPr id="20" name="Text 18"/>
          <p:cNvSpPr txBox="1"/>
          <p:nvPr/>
        </p:nvSpPr>
        <p:spPr>
          <a:xfrm>
            <a:off x="4773168" y="1700784"/>
            <a:ext cx="3703320" cy="2743200"/>
          </a:xfrm>
          <a:prstGeom prst="rect">
            <a:avLst/>
          </a:prstGeom>
          <a:noFill/>
          <a:ln/>
        </p:spPr>
        <p:txBody>
          <a:bodyPr wrap="square" lIns="0" tIns="0" rIns="0" bIns="0" rtlCol="0" anchor="t"/>
          <a:lstStyle/>
          <a:p>
            <a:pPr marL="0" indent="0">
              <a:lnSpc>
                <a:spcPct val="100000"/>
              </a:lnSpc>
              <a:buNone/>
            </a:pPr>
            <a:r>
              <a:rPr lang="en-US" sz="1000" dirty="0">
                <a:solidFill>
                  <a:srgbClr val="E6EDF5"/>
                </a:solidFill>
                <a:latin typeface="Consolas" pitchFamily="34" charset="0"/>
                <a:ea typeface="Consolas" pitchFamily="34" charset="-122"/>
                <a:cs typeface="Consolas" pitchFamily="34" charset="-120"/>
              </a:rPr>
              <a:t>mini  = dspy.LM("openai/gpt-4o-mini")</a:t>
            </a:r>
            <a:endParaRPr lang="en-US" sz="1000" dirty="0"/>
          </a:p>
          <a:p>
            <a:pPr marL="0" indent="0">
              <a:lnSpc>
                <a:spcPct val="100000"/>
              </a:lnSpc>
              <a:buNone/>
            </a:pPr>
            <a:r>
              <a:rPr lang="en-US" sz="1000" dirty="0">
                <a:solidFill>
                  <a:srgbClr val="E6EDF5"/>
                </a:solidFill>
                <a:latin typeface="Consolas" pitchFamily="34" charset="0"/>
                <a:ea typeface="Consolas" pitchFamily="34" charset="-122"/>
                <a:cs typeface="Consolas" pitchFamily="34" charset="-120"/>
              </a:rPr>
              <a:t>gpt4o = dspy.LM("openai/gpt-4o")</a:t>
            </a:r>
            <a:endParaRPr lang="en-US" sz="1000" dirty="0"/>
          </a:p>
          <a:p>
            <a:pPr marL="0" indent="0">
              <a:lnSpc>
                <a:spcPct val="100000"/>
              </a:lnSpc>
              <a:buNone/>
            </a:pPr>
            <a:r>
              <a:rPr lang="en-US" sz="1000" dirty="0">
                <a:solidFill>
                  <a:srgbClr val="E6EDF5"/>
                </a:solidFill>
                <a:latin typeface="Consolas" pitchFamily="34" charset="0"/>
                <a:ea typeface="Consolas" pitchFamily="34" charset="-122"/>
                <a:cs typeface="Consolas" pitchFamily="34" charset="-120"/>
              </a:rPr>
              <a:t>dspy.configure(lm=mini)   # default</a:t>
            </a:r>
            <a:endParaRPr lang="en-US" sz="1000" dirty="0"/>
          </a:p>
          <a:p>
            <a:pPr marL="0" indent="0">
              <a:lnSpc>
                <a:spcPct val="100000"/>
              </a:lnSpc>
              <a:buNone/>
            </a:pPr>
            <a:endParaRPr lang="en-US" sz="1000" dirty="0"/>
          </a:p>
          <a:p>
            <a:pPr marL="0" indent="0">
              <a:lnSpc>
                <a:spcPct val="100000"/>
              </a:lnSpc>
              <a:buNone/>
            </a:pPr>
            <a:r>
              <a:rPr lang="en-US" sz="1000" dirty="0">
                <a:solidFill>
                  <a:srgbClr val="E6EDF5"/>
                </a:solidFill>
                <a:latin typeface="Consolas" pitchFamily="34" charset="0"/>
                <a:ea typeface="Consolas" pitchFamily="34" charset="-122"/>
                <a:cs typeface="Consolas" pitchFamily="34" charset="-120"/>
              </a:rPr>
              <a:t>class Pipeline(dspy.Module):</a:t>
            </a:r>
            <a:endParaRPr lang="en-US" sz="1000" dirty="0"/>
          </a:p>
          <a:p>
            <a:pPr marL="0" indent="0">
              <a:lnSpc>
                <a:spcPct val="100000"/>
              </a:lnSpc>
              <a:buNone/>
            </a:pPr>
            <a:r>
              <a:rPr lang="en-US" sz="1000" dirty="0">
                <a:solidFill>
                  <a:srgbClr val="E6EDF5"/>
                </a:solidFill>
                <a:latin typeface="Consolas" pitchFamily="34" charset="0"/>
                <a:ea typeface="Consolas" pitchFamily="34" charset="-122"/>
                <a:cs typeface="Consolas" pitchFamily="34" charset="-120"/>
              </a:rPr>
              <a:t>    def __init__(self):</a:t>
            </a:r>
            <a:endParaRPr lang="en-US" sz="1000" dirty="0"/>
          </a:p>
          <a:p>
            <a:pPr marL="0" indent="0">
              <a:lnSpc>
                <a:spcPct val="100000"/>
              </a:lnSpc>
              <a:buNone/>
            </a:pPr>
            <a:r>
              <a:rPr lang="en-US" sz="1000" dirty="0">
                <a:solidFill>
                  <a:srgbClr val="E6EDF5"/>
                </a:solidFill>
                <a:latin typeface="Consolas" pitchFamily="34" charset="0"/>
                <a:ea typeface="Consolas" pitchFamily="34" charset="-122"/>
                <a:cs typeface="Consolas" pitchFamily="34" charset="-120"/>
              </a:rPr>
              <a:t>        self.classify = dspy.Predict(Intent)</a:t>
            </a:r>
            <a:endParaRPr lang="en-US" sz="1000" dirty="0"/>
          </a:p>
          <a:p>
            <a:pPr marL="0" indent="0">
              <a:lnSpc>
                <a:spcPct val="100000"/>
              </a:lnSpc>
              <a:buNone/>
            </a:pPr>
            <a:r>
              <a:rPr lang="en-US" sz="1000" dirty="0">
                <a:solidFill>
                  <a:srgbClr val="E6EDF5"/>
                </a:solidFill>
                <a:latin typeface="Consolas" pitchFamily="34" charset="0"/>
                <a:ea typeface="Consolas" pitchFamily="34" charset="-122"/>
                <a:cs typeface="Consolas" pitchFamily="34" charset="-120"/>
              </a:rPr>
              <a:t>        self.generate = dspy.ChainOfThought(</a:t>
            </a:r>
            <a:endParaRPr lang="en-US" sz="1000" dirty="0"/>
          </a:p>
          <a:p>
            <a:pPr marL="0" indent="0">
              <a:lnSpc>
                <a:spcPct val="100000"/>
              </a:lnSpc>
              <a:buNone/>
            </a:pPr>
            <a:r>
              <a:rPr lang="en-US" sz="1000" dirty="0">
                <a:solidFill>
                  <a:srgbClr val="E6EDF5"/>
                </a:solidFill>
                <a:latin typeface="Consolas" pitchFamily="34" charset="0"/>
                <a:ea typeface="Consolas" pitchFamily="34" charset="-122"/>
                <a:cs typeface="Consolas" pitchFamily="34" charset="-120"/>
              </a:rPr>
              <a:t>            Response)</a:t>
            </a:r>
            <a:endParaRPr lang="en-US" sz="1000" dirty="0"/>
          </a:p>
          <a:p>
            <a:pPr marL="0" indent="0">
              <a:lnSpc>
                <a:spcPct val="100000"/>
              </a:lnSpc>
              <a:buNone/>
            </a:pPr>
            <a:endParaRPr lang="en-US" sz="1000" dirty="0"/>
          </a:p>
          <a:p>
            <a:pPr marL="0" indent="0">
              <a:lnSpc>
                <a:spcPct val="100000"/>
              </a:lnSpc>
              <a:buNone/>
            </a:pPr>
            <a:r>
              <a:rPr lang="en-US" sz="1000" dirty="0">
                <a:solidFill>
                  <a:srgbClr val="E6EDF5"/>
                </a:solidFill>
                <a:latin typeface="Consolas" pitchFamily="34" charset="0"/>
                <a:ea typeface="Consolas" pitchFamily="34" charset="-122"/>
                <a:cs typeface="Consolas" pitchFamily="34" charset="-120"/>
              </a:rPr>
              <a:t>    def forward(self, query):</a:t>
            </a:r>
            <a:endParaRPr lang="en-US" sz="1000" dirty="0"/>
          </a:p>
          <a:p>
            <a:pPr marL="0" indent="0">
              <a:lnSpc>
                <a:spcPct val="100000"/>
              </a:lnSpc>
              <a:buNone/>
            </a:pPr>
            <a:r>
              <a:rPr lang="en-US" sz="1000" dirty="0">
                <a:solidFill>
                  <a:srgbClr val="E6EDF5"/>
                </a:solidFill>
                <a:latin typeface="Consolas" pitchFamily="34" charset="0"/>
                <a:ea typeface="Consolas" pitchFamily="34" charset="-122"/>
                <a:cs typeface="Consolas" pitchFamily="34" charset="-120"/>
              </a:rPr>
              <a:t>        intent = self.classify(query=query)</a:t>
            </a:r>
            <a:endParaRPr lang="en-US" sz="1000" dirty="0"/>
          </a:p>
          <a:p>
            <a:pPr marL="0" indent="0">
              <a:lnSpc>
                <a:spcPct val="100000"/>
              </a:lnSpc>
              <a:buNone/>
            </a:pPr>
            <a:r>
              <a:rPr lang="en-US" sz="1000" dirty="0">
                <a:solidFill>
                  <a:srgbClr val="E6EDF5"/>
                </a:solidFill>
                <a:latin typeface="Consolas" pitchFamily="34" charset="0"/>
                <a:ea typeface="Consolas" pitchFamily="34" charset="-122"/>
                <a:cs typeface="Consolas" pitchFamily="34" charset="-120"/>
              </a:rPr>
              <a:t>        with dspy.context(lm=gpt4o):</a:t>
            </a:r>
            <a:endParaRPr lang="en-US" sz="1000" dirty="0"/>
          </a:p>
          <a:p>
            <a:pPr marL="0" indent="0">
              <a:lnSpc>
                <a:spcPct val="100000"/>
              </a:lnSpc>
              <a:buNone/>
            </a:pPr>
            <a:r>
              <a:rPr lang="en-US" sz="1000" dirty="0">
                <a:solidFill>
                  <a:srgbClr val="E6EDF5"/>
                </a:solidFill>
                <a:latin typeface="Consolas" pitchFamily="34" charset="0"/>
                <a:ea typeface="Consolas" pitchFamily="34" charset="-122"/>
                <a:cs typeface="Consolas" pitchFamily="34" charset="-120"/>
              </a:rPr>
              <a:t>            return self.generate(query=query,</a:t>
            </a:r>
            <a:endParaRPr lang="en-US" sz="1000" dirty="0"/>
          </a:p>
          <a:p>
            <a:pPr marL="0" indent="0">
              <a:lnSpc>
                <a:spcPct val="100000"/>
              </a:lnSpc>
              <a:buNone/>
            </a:pPr>
            <a:r>
              <a:rPr lang="en-US" sz="1000" dirty="0">
                <a:solidFill>
                  <a:srgbClr val="E6EDF5"/>
                </a:solidFill>
                <a:latin typeface="Consolas" pitchFamily="34" charset="0"/>
                <a:ea typeface="Consolas" pitchFamily="34" charset="-122"/>
                <a:cs typeface="Consolas" pitchFamily="34" charset="-120"/>
              </a:rPr>
              <a:t>                intent=intent.category)</a:t>
            </a:r>
            <a:endParaRPr lang="en-US" sz="1000" dirty="0"/>
          </a:p>
        </p:txBody>
      </p:sp>
      <p:sp>
        <p:nvSpPr>
          <p:cNvPr id="25" name="Slide Number Placeholder 0"/>
          <p:cNvSpPr>
            <a:spLocks noGrp="1"/>
          </p:cNvSpPr>
          <p:nvPr>
            <p:ph type="sldNum" sz="quarter" idx="4294967295"/>
          </p:nvPr>
        </p:nvSpPr>
        <p:spPr>
          <a:xfrm>
            <a:off x="8229600" y="4800600"/>
            <a:ext cx="41148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A0B0C0"/>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02920" y="201168"/>
            <a:ext cx="8138160" cy="256032"/>
          </a:xfrm>
          <a:prstGeom prst="rect">
            <a:avLst/>
          </a:prstGeom>
          <a:noFill/>
          <a:ln/>
        </p:spPr>
        <p:txBody>
          <a:bodyPr wrap="square" lIns="0" tIns="0" rIns="0" bIns="0" rtlCol="0" anchor="ctr"/>
          <a:lstStyle/>
          <a:p>
            <a:pPr marL="0" indent="0">
              <a:buNone/>
            </a:pPr>
            <a:r>
              <a:rPr lang="en-US" sz="1000" b="1" kern="0" spc="300" dirty="0">
                <a:solidFill>
                  <a:srgbClr val="D4824A"/>
                </a:solidFill>
              </a:rPr>
              <a:t>ADVANCED &amp; PRODUCTION  ·  3 OF 4</a:t>
            </a:r>
            <a:endParaRPr lang="en-US" sz="1000" dirty="0"/>
          </a:p>
        </p:txBody>
      </p:sp>
      <p:sp>
        <p:nvSpPr>
          <p:cNvPr id="3" name="Text 1"/>
          <p:cNvSpPr>
            <a:spLocks noGrp="1"/>
          </p:cNvSpPr>
          <p:nvPr>
            <p:ph type="title" idx="101" hasCustomPrompt="1"/>
          </p:nvPr>
        </p:nvSpPr>
        <p:spPr>
          <a:xfrm>
            <a:off x="502920" y="457200"/>
            <a:ext cx="8138160" cy="594360"/>
          </a:xfrm>
          <a:prstGeom prst="rect">
            <a:avLst/>
          </a:prstGeom>
          <a:noFill/>
          <a:ln/>
        </p:spPr>
        <p:txBody>
          <a:bodyPr wrap="square" lIns="0" tIns="0" rIns="0" bIns="0" rtlCol="0" anchor="ctr"/>
          <a:lstStyle/>
          <a:p>
            <a:pPr marL="0" indent="0" algn="l">
              <a:buNone/>
            </a:pPr>
            <a:r>
              <a:rPr lang="en-US" sz="2800" b="1" dirty="0">
                <a:solidFill>
                  <a:srgbClr val="1B2A4A"/>
                </a:solidFill>
              </a:rPr>
              <a:t>Self-Improving Pipelines</a:t>
            </a:r>
            <a:endParaRPr lang="en-US" sz="2800" dirty="0"/>
          </a:p>
        </p:txBody>
      </p:sp>
      <p:sp>
        <p:nvSpPr>
          <p:cNvPr id="4" name="Shape 2"/>
          <p:cNvSpPr/>
          <p:nvPr/>
        </p:nvSpPr>
        <p:spPr>
          <a:xfrm>
            <a:off x="502920" y="1280160"/>
            <a:ext cx="1828800" cy="914400"/>
          </a:xfrm>
          <a:prstGeom prst="roundRect">
            <a:avLst>
              <a:gd name="adj" fmla="val 8000"/>
            </a:avLst>
          </a:prstGeom>
          <a:solidFill>
            <a:srgbClr val="1B2A4A"/>
          </a:solidFill>
          <a:ln w="12700">
            <a:solidFill>
              <a:srgbClr val="1B2A4A"/>
            </a:solidFill>
            <a:prstDash val="solid"/>
          </a:ln>
        </p:spPr>
      </p:sp>
      <p:sp>
        <p:nvSpPr>
          <p:cNvPr id="5" name="Text 3"/>
          <p:cNvSpPr txBox="1"/>
          <p:nvPr/>
        </p:nvSpPr>
        <p:spPr>
          <a:xfrm>
            <a:off x="612648" y="1280160"/>
            <a:ext cx="1609344" cy="914400"/>
          </a:xfrm>
          <a:prstGeom prst="rect">
            <a:avLst/>
          </a:prstGeom>
          <a:noFill/>
          <a:ln/>
        </p:spPr>
        <p:txBody>
          <a:bodyPr wrap="square" lIns="0" tIns="0" rIns="0" bIns="0" rtlCol="0" anchor="ctr"/>
          <a:lstStyle/>
          <a:p>
            <a:pPr marL="0" indent="0" algn="ctr">
              <a:spcAft>
                <a:spcPts val="400"/>
              </a:spcAft>
              <a:buNone/>
            </a:pPr>
            <a:r>
              <a:rPr lang="en-US" sz="1400" b="1" dirty="0">
                <a:solidFill>
                  <a:srgbClr val="FFFFFF"/>
                </a:solidFill>
              </a:rPr>
              <a:t>1  Log</a:t>
            </a:r>
            <a:endParaRPr lang="en-US" sz="1400" dirty="0"/>
          </a:p>
          <a:p>
            <a:pPr marL="0" indent="0" algn="ctr">
              <a:spcAft>
                <a:spcPts val="400"/>
              </a:spcAft>
              <a:buNone/>
            </a:pPr>
            <a:r>
              <a:rPr lang="en-US" sz="1150" dirty="0">
                <a:solidFill>
                  <a:srgbClr val="C8D8E8"/>
                </a:solidFill>
              </a:rPr>
              <a:t>Every prediction and its score</a:t>
            </a:r>
            <a:endParaRPr lang="en-US" sz="1400" dirty="0"/>
          </a:p>
        </p:txBody>
      </p:sp>
      <p:sp>
        <p:nvSpPr>
          <p:cNvPr id="6" name="Shape 4"/>
          <p:cNvSpPr/>
          <p:nvPr/>
        </p:nvSpPr>
        <p:spPr>
          <a:xfrm>
            <a:off x="502920" y="2359152"/>
            <a:ext cx="1828800" cy="777240"/>
          </a:xfrm>
          <a:prstGeom prst="roundRect">
            <a:avLst>
              <a:gd name="adj" fmla="val 9412"/>
            </a:avLst>
          </a:prstGeom>
          <a:solidFill>
            <a:srgbClr val="F4F6F9"/>
          </a:solidFill>
          <a:ln w="12700">
            <a:solidFill>
              <a:srgbClr val="F4F6F9"/>
            </a:solidFill>
            <a:prstDash val="solid"/>
          </a:ln>
        </p:spPr>
      </p:sp>
      <p:sp>
        <p:nvSpPr>
          <p:cNvPr id="7" name="Text 5"/>
          <p:cNvSpPr txBox="1"/>
          <p:nvPr/>
        </p:nvSpPr>
        <p:spPr>
          <a:xfrm>
            <a:off x="612648" y="2359152"/>
            <a:ext cx="1609344" cy="777240"/>
          </a:xfrm>
          <a:prstGeom prst="rect">
            <a:avLst/>
          </a:prstGeom>
          <a:noFill/>
          <a:ln/>
        </p:spPr>
        <p:txBody>
          <a:bodyPr wrap="square" lIns="0" tIns="0" rIns="0" bIns="0" rtlCol="0" anchor="ctr"/>
          <a:lstStyle/>
          <a:p>
            <a:pPr marL="0" indent="0">
              <a:buNone/>
            </a:pPr>
            <a:r>
              <a:rPr lang="en-US" sz="1000" dirty="0">
                <a:solidFill>
                  <a:srgbClr val="1B2A4A"/>
                </a:solidFill>
                <a:latin typeface="Consolas" pitchFamily="34" charset="0"/>
                <a:ea typeface="Consolas" pitchFamily="34" charset="-122"/>
                <a:cs typeface="Consolas" pitchFamily="34" charset="-120"/>
              </a:rPr>
              <a:t>db.log({input,</a:t>
            </a:r>
            <a:endParaRPr lang="en-US" sz="1000" dirty="0"/>
          </a:p>
          <a:p>
            <a:pPr marL="0" indent="0">
              <a:buNone/>
            </a:pPr>
            <a:r>
              <a:rPr lang="en-US" sz="1000" dirty="0">
                <a:solidFill>
                  <a:srgbClr val="1B2A4A"/>
                </a:solidFill>
                <a:latin typeface="Consolas" pitchFamily="34" charset="0"/>
                <a:ea typeface="Consolas" pitchFamily="34" charset="-122"/>
                <a:cs typeface="Consolas" pitchFamily="34" charset="-120"/>
              </a:rPr>
              <a:t> output, score})</a:t>
            </a:r>
            <a:endParaRPr lang="en-US" sz="1000" dirty="0"/>
          </a:p>
        </p:txBody>
      </p:sp>
      <p:sp>
        <p:nvSpPr>
          <p:cNvPr id="8" name="Shape 6"/>
          <p:cNvSpPr/>
          <p:nvPr/>
        </p:nvSpPr>
        <p:spPr>
          <a:xfrm>
            <a:off x="2368296" y="1737360"/>
            <a:ext cx="201168" cy="0"/>
          </a:xfrm>
          <a:prstGeom prst="line">
            <a:avLst/>
          </a:prstGeom>
          <a:noFill/>
          <a:ln w="25400">
            <a:solidFill>
              <a:srgbClr val="D4824A"/>
            </a:solidFill>
            <a:prstDash val="solid"/>
            <a:tailEnd type="triangle"/>
          </a:ln>
        </p:spPr>
      </p:sp>
      <p:sp>
        <p:nvSpPr>
          <p:cNvPr id="9" name="Shape 7"/>
          <p:cNvSpPr/>
          <p:nvPr/>
        </p:nvSpPr>
        <p:spPr>
          <a:xfrm>
            <a:off x="2606040" y="1280160"/>
            <a:ext cx="1828800" cy="914400"/>
          </a:xfrm>
          <a:prstGeom prst="roundRect">
            <a:avLst>
              <a:gd name="adj" fmla="val 8000"/>
            </a:avLst>
          </a:prstGeom>
          <a:solidFill>
            <a:srgbClr val="1B2A4A"/>
          </a:solidFill>
          <a:ln w="12700">
            <a:solidFill>
              <a:srgbClr val="1B2A4A"/>
            </a:solidFill>
            <a:prstDash val="solid"/>
          </a:ln>
        </p:spPr>
      </p:sp>
      <p:sp>
        <p:nvSpPr>
          <p:cNvPr id="10" name="Text 8"/>
          <p:cNvSpPr txBox="1"/>
          <p:nvPr/>
        </p:nvSpPr>
        <p:spPr>
          <a:xfrm>
            <a:off x="2715768" y="1280160"/>
            <a:ext cx="1609344" cy="914400"/>
          </a:xfrm>
          <a:prstGeom prst="rect">
            <a:avLst/>
          </a:prstGeom>
          <a:noFill/>
          <a:ln/>
        </p:spPr>
        <p:txBody>
          <a:bodyPr wrap="square" lIns="0" tIns="0" rIns="0" bIns="0" rtlCol="0" anchor="ctr"/>
          <a:lstStyle/>
          <a:p>
            <a:pPr marL="0" indent="0" algn="ctr">
              <a:spcAft>
                <a:spcPts val="400"/>
              </a:spcAft>
              <a:buNone/>
            </a:pPr>
            <a:r>
              <a:rPr lang="en-US" sz="1400" b="1" dirty="0">
                <a:solidFill>
                  <a:srgbClr val="FFFFFF"/>
                </a:solidFill>
              </a:rPr>
              <a:t>2  Collect</a:t>
            </a:r>
            <a:endParaRPr lang="en-US" sz="1400" dirty="0"/>
          </a:p>
          <a:p>
            <a:pPr marL="0" indent="0" algn="ctr">
              <a:spcAft>
                <a:spcPts val="400"/>
              </a:spcAft>
              <a:buNone/>
            </a:pPr>
            <a:r>
              <a:rPr lang="en-US" sz="1150" dirty="0">
                <a:solidFill>
                  <a:srgbClr val="C8D8E8"/>
                </a:solidFill>
              </a:rPr>
              <a:t>Wait for 50-100 new examples</a:t>
            </a:r>
            <a:endParaRPr lang="en-US" sz="1400" dirty="0"/>
          </a:p>
        </p:txBody>
      </p:sp>
      <p:sp>
        <p:nvSpPr>
          <p:cNvPr id="11" name="Shape 9"/>
          <p:cNvSpPr/>
          <p:nvPr/>
        </p:nvSpPr>
        <p:spPr>
          <a:xfrm>
            <a:off x="2606040" y="2359152"/>
            <a:ext cx="1828800" cy="777240"/>
          </a:xfrm>
          <a:prstGeom prst="roundRect">
            <a:avLst>
              <a:gd name="adj" fmla="val 9412"/>
            </a:avLst>
          </a:prstGeom>
          <a:solidFill>
            <a:srgbClr val="F4F6F9"/>
          </a:solidFill>
          <a:ln w="12700">
            <a:solidFill>
              <a:srgbClr val="F4F6F9"/>
            </a:solidFill>
            <a:prstDash val="solid"/>
          </a:ln>
        </p:spPr>
      </p:sp>
      <p:sp>
        <p:nvSpPr>
          <p:cNvPr id="12" name="Text 10"/>
          <p:cNvSpPr txBox="1"/>
          <p:nvPr/>
        </p:nvSpPr>
        <p:spPr>
          <a:xfrm>
            <a:off x="2715768" y="2359152"/>
            <a:ext cx="1609344" cy="777240"/>
          </a:xfrm>
          <a:prstGeom prst="rect">
            <a:avLst/>
          </a:prstGeom>
          <a:noFill/>
          <a:ln/>
        </p:spPr>
        <p:txBody>
          <a:bodyPr wrap="square" lIns="0" tIns="0" rIns="0" bIns="0" rtlCol="0" anchor="ctr"/>
          <a:lstStyle/>
          <a:p>
            <a:pPr marL="0" indent="0">
              <a:buNone/>
            </a:pPr>
            <a:r>
              <a:rPr lang="en-US" sz="1000" dirty="0">
                <a:solidFill>
                  <a:srgbClr val="1B2A4A"/>
                </a:solidFill>
                <a:latin typeface="Consolas" pitchFamily="34" charset="0"/>
                <a:ea typeface="Consolas" pitchFamily="34" charset="-122"/>
                <a:cs typeface="Consolas" pitchFamily="34" charset="-120"/>
              </a:rPr>
              <a:t>db.fetch_examples(</a:t>
            </a:r>
            <a:endParaRPr lang="en-US" sz="1000" dirty="0"/>
          </a:p>
          <a:p>
            <a:pPr marL="0" indent="0">
              <a:buNone/>
            </a:pPr>
            <a:r>
              <a:rPr lang="en-US" sz="1000" dirty="0">
                <a:solidFill>
                  <a:srgbClr val="1B2A4A"/>
                </a:solidFill>
                <a:latin typeface="Consolas" pitchFamily="34" charset="0"/>
                <a:ea typeface="Consolas" pitchFamily="34" charset="-122"/>
                <a:cs typeface="Consolas" pitchFamily="34" charset="-120"/>
              </a:rPr>
              <a:t> since=last_run)</a:t>
            </a:r>
            <a:endParaRPr lang="en-US" sz="1000" dirty="0"/>
          </a:p>
        </p:txBody>
      </p:sp>
      <p:sp>
        <p:nvSpPr>
          <p:cNvPr id="13" name="Shape 11"/>
          <p:cNvSpPr/>
          <p:nvPr/>
        </p:nvSpPr>
        <p:spPr>
          <a:xfrm>
            <a:off x="4471416" y="1737360"/>
            <a:ext cx="201168" cy="0"/>
          </a:xfrm>
          <a:prstGeom prst="line">
            <a:avLst/>
          </a:prstGeom>
          <a:noFill/>
          <a:ln w="25400">
            <a:solidFill>
              <a:srgbClr val="D4824A"/>
            </a:solidFill>
            <a:prstDash val="solid"/>
            <a:tailEnd type="triangle"/>
          </a:ln>
        </p:spPr>
      </p:sp>
      <p:sp>
        <p:nvSpPr>
          <p:cNvPr id="14" name="Shape 12"/>
          <p:cNvSpPr/>
          <p:nvPr/>
        </p:nvSpPr>
        <p:spPr>
          <a:xfrm>
            <a:off x="4709160" y="1280160"/>
            <a:ext cx="1828800" cy="914400"/>
          </a:xfrm>
          <a:prstGeom prst="roundRect">
            <a:avLst>
              <a:gd name="adj" fmla="val 8000"/>
            </a:avLst>
          </a:prstGeom>
          <a:solidFill>
            <a:srgbClr val="1B2A4A"/>
          </a:solidFill>
          <a:ln w="12700">
            <a:solidFill>
              <a:srgbClr val="1B2A4A"/>
            </a:solidFill>
            <a:prstDash val="solid"/>
          </a:ln>
        </p:spPr>
      </p:sp>
      <p:sp>
        <p:nvSpPr>
          <p:cNvPr id="15" name="Text 13"/>
          <p:cNvSpPr txBox="1"/>
          <p:nvPr/>
        </p:nvSpPr>
        <p:spPr>
          <a:xfrm>
            <a:off x="4818888" y="1280160"/>
            <a:ext cx="1609344" cy="914400"/>
          </a:xfrm>
          <a:prstGeom prst="rect">
            <a:avLst/>
          </a:prstGeom>
          <a:noFill/>
          <a:ln/>
        </p:spPr>
        <p:txBody>
          <a:bodyPr wrap="square" lIns="0" tIns="0" rIns="0" bIns="0" rtlCol="0" anchor="ctr"/>
          <a:lstStyle/>
          <a:p>
            <a:pPr marL="0" indent="0" algn="ctr">
              <a:spcAft>
                <a:spcPts val="400"/>
              </a:spcAft>
              <a:buNone/>
            </a:pPr>
            <a:r>
              <a:rPr lang="en-US" sz="1400" b="1" dirty="0">
                <a:solidFill>
                  <a:srgbClr val="FFFFFF"/>
                </a:solidFill>
              </a:rPr>
              <a:t>3  Recompile</a:t>
            </a:r>
            <a:endParaRPr lang="en-US" sz="1400" dirty="0"/>
          </a:p>
          <a:p>
            <a:pPr marL="0" indent="0" algn="ctr">
              <a:spcAft>
                <a:spcPts val="400"/>
              </a:spcAft>
              <a:buNone/>
            </a:pPr>
            <a:r>
              <a:rPr lang="en-US" sz="1150" dirty="0">
                <a:solidFill>
                  <a:srgbClr val="C8D8E8"/>
                </a:solidFill>
              </a:rPr>
              <a:t>Old + new data, same optimizer</a:t>
            </a:r>
            <a:endParaRPr lang="en-US" sz="1400" dirty="0"/>
          </a:p>
        </p:txBody>
      </p:sp>
      <p:sp>
        <p:nvSpPr>
          <p:cNvPr id="16" name="Shape 14"/>
          <p:cNvSpPr/>
          <p:nvPr/>
        </p:nvSpPr>
        <p:spPr>
          <a:xfrm>
            <a:off x="4709160" y="2359152"/>
            <a:ext cx="1828800" cy="777240"/>
          </a:xfrm>
          <a:prstGeom prst="roundRect">
            <a:avLst>
              <a:gd name="adj" fmla="val 9412"/>
            </a:avLst>
          </a:prstGeom>
          <a:solidFill>
            <a:srgbClr val="F4F6F9"/>
          </a:solidFill>
          <a:ln w="12700">
            <a:solidFill>
              <a:srgbClr val="F4F6F9"/>
            </a:solidFill>
            <a:prstDash val="solid"/>
          </a:ln>
        </p:spPr>
      </p:sp>
      <p:sp>
        <p:nvSpPr>
          <p:cNvPr id="17" name="Text 15"/>
          <p:cNvSpPr txBox="1"/>
          <p:nvPr/>
        </p:nvSpPr>
        <p:spPr>
          <a:xfrm>
            <a:off x="4818888" y="2359152"/>
            <a:ext cx="1609344" cy="777240"/>
          </a:xfrm>
          <a:prstGeom prst="rect">
            <a:avLst/>
          </a:prstGeom>
          <a:noFill/>
          <a:ln/>
        </p:spPr>
        <p:txBody>
          <a:bodyPr wrap="square" lIns="0" tIns="0" rIns="0" bIns="0" rtlCol="0" anchor="ctr"/>
          <a:lstStyle/>
          <a:p>
            <a:pPr marL="0" indent="0">
              <a:buNone/>
            </a:pPr>
            <a:r>
              <a:rPr lang="en-US" sz="1000" dirty="0">
                <a:solidFill>
                  <a:srgbClr val="1B2A4A"/>
                </a:solidFill>
                <a:latin typeface="Consolas" pitchFamily="34" charset="0"/>
                <a:ea typeface="Consolas" pitchFamily="34" charset="-122"/>
                <a:cs typeface="Consolas" pitchFamily="34" charset="-120"/>
              </a:rPr>
              <a:t>optimizer.compile(</a:t>
            </a:r>
            <a:endParaRPr lang="en-US" sz="1000" dirty="0"/>
          </a:p>
          <a:p>
            <a:pPr marL="0" indent="0">
              <a:buNone/>
            </a:pPr>
            <a:r>
              <a:rPr lang="en-US" sz="1000" dirty="0">
                <a:solidFill>
                  <a:srgbClr val="1B2A4A"/>
                </a:solidFill>
                <a:latin typeface="Consolas" pitchFamily="34" charset="0"/>
                <a:ea typeface="Consolas" pitchFamily="34" charset="-122"/>
                <a:cs typeface="Consolas" pitchFamily="34" charset="-120"/>
              </a:rPr>
              <a:t> trainset=all_data)</a:t>
            </a:r>
            <a:endParaRPr lang="en-US" sz="1000" dirty="0"/>
          </a:p>
        </p:txBody>
      </p:sp>
      <p:sp>
        <p:nvSpPr>
          <p:cNvPr id="18" name="Shape 16"/>
          <p:cNvSpPr/>
          <p:nvPr/>
        </p:nvSpPr>
        <p:spPr>
          <a:xfrm>
            <a:off x="6574536" y="1737360"/>
            <a:ext cx="201168" cy="0"/>
          </a:xfrm>
          <a:prstGeom prst="line">
            <a:avLst/>
          </a:prstGeom>
          <a:noFill/>
          <a:ln w="25400">
            <a:solidFill>
              <a:srgbClr val="D4824A"/>
            </a:solidFill>
            <a:prstDash val="solid"/>
            <a:tailEnd type="triangle"/>
          </a:ln>
        </p:spPr>
      </p:sp>
      <p:sp>
        <p:nvSpPr>
          <p:cNvPr id="19" name="Shape 17"/>
          <p:cNvSpPr/>
          <p:nvPr/>
        </p:nvSpPr>
        <p:spPr>
          <a:xfrm>
            <a:off x="6812280" y="1280160"/>
            <a:ext cx="1828800" cy="914400"/>
          </a:xfrm>
          <a:prstGeom prst="roundRect">
            <a:avLst>
              <a:gd name="adj" fmla="val 8000"/>
            </a:avLst>
          </a:prstGeom>
          <a:solidFill>
            <a:srgbClr val="D4824A"/>
          </a:solidFill>
          <a:ln w="12700">
            <a:solidFill>
              <a:srgbClr val="D4824A"/>
            </a:solidFill>
            <a:prstDash val="solid"/>
          </a:ln>
        </p:spPr>
      </p:sp>
      <p:sp>
        <p:nvSpPr>
          <p:cNvPr id="20" name="Text 18"/>
          <p:cNvSpPr txBox="1"/>
          <p:nvPr/>
        </p:nvSpPr>
        <p:spPr>
          <a:xfrm>
            <a:off x="6922008" y="1280160"/>
            <a:ext cx="1609344" cy="914400"/>
          </a:xfrm>
          <a:prstGeom prst="rect">
            <a:avLst/>
          </a:prstGeom>
          <a:noFill/>
          <a:ln/>
        </p:spPr>
        <p:txBody>
          <a:bodyPr wrap="square" lIns="0" tIns="0" rIns="0" bIns="0" rtlCol="0" anchor="ctr"/>
          <a:lstStyle/>
          <a:p>
            <a:pPr marL="0" indent="0" algn="ctr">
              <a:spcAft>
                <a:spcPts val="400"/>
              </a:spcAft>
              <a:buNone/>
            </a:pPr>
            <a:r>
              <a:rPr lang="en-US" sz="1400" b="1" dirty="0">
                <a:solidFill>
                  <a:srgbClr val="FFFFFF"/>
                </a:solidFill>
              </a:rPr>
              <a:t>4  Gate &amp; deploy</a:t>
            </a:r>
            <a:endParaRPr lang="en-US" sz="1400" dirty="0"/>
          </a:p>
          <a:p>
            <a:pPr marL="0" indent="0" algn="ctr">
              <a:spcAft>
                <a:spcPts val="400"/>
              </a:spcAft>
              <a:buNone/>
            </a:pPr>
            <a:r>
              <a:rPr lang="en-US" sz="1150" dirty="0">
                <a:solidFill>
                  <a:srgbClr val="FFFFFF"/>
                </a:solidFill>
              </a:rPr>
              <a:t>Only if the test score improves</a:t>
            </a:r>
            <a:endParaRPr lang="en-US" sz="1400" dirty="0"/>
          </a:p>
        </p:txBody>
      </p:sp>
      <p:sp>
        <p:nvSpPr>
          <p:cNvPr id="21" name="Shape 19"/>
          <p:cNvSpPr/>
          <p:nvPr/>
        </p:nvSpPr>
        <p:spPr>
          <a:xfrm>
            <a:off x="6812280" y="2359152"/>
            <a:ext cx="1828800" cy="777240"/>
          </a:xfrm>
          <a:prstGeom prst="roundRect">
            <a:avLst>
              <a:gd name="adj" fmla="val 9412"/>
            </a:avLst>
          </a:prstGeom>
          <a:solidFill>
            <a:srgbClr val="F4F6F9"/>
          </a:solidFill>
          <a:ln w="12700">
            <a:solidFill>
              <a:srgbClr val="F4F6F9"/>
            </a:solidFill>
            <a:prstDash val="solid"/>
          </a:ln>
        </p:spPr>
      </p:sp>
      <p:sp>
        <p:nvSpPr>
          <p:cNvPr id="22" name="Text 20"/>
          <p:cNvSpPr txBox="1"/>
          <p:nvPr/>
        </p:nvSpPr>
        <p:spPr>
          <a:xfrm>
            <a:off x="6922008" y="2359152"/>
            <a:ext cx="1609344" cy="777240"/>
          </a:xfrm>
          <a:prstGeom prst="rect">
            <a:avLst/>
          </a:prstGeom>
          <a:noFill/>
          <a:ln/>
        </p:spPr>
        <p:txBody>
          <a:bodyPr wrap="square" lIns="0" tIns="0" rIns="0" bIns="0" rtlCol="0" anchor="ctr"/>
          <a:lstStyle/>
          <a:p>
            <a:pPr marL="0" indent="0">
              <a:buNone/>
            </a:pPr>
            <a:r>
              <a:rPr lang="en-US" sz="1000" dirty="0">
                <a:solidFill>
                  <a:srgbClr val="1B2A4A"/>
                </a:solidFill>
                <a:latin typeface="Consolas" pitchFamily="34" charset="0"/>
                <a:ea typeface="Consolas" pitchFamily="34" charset="-122"/>
                <a:cs typeface="Consolas" pitchFamily="34" charset="-120"/>
              </a:rPr>
              <a:t>if new &gt; current</a:t>
            </a:r>
            <a:endParaRPr lang="en-US" sz="1000" dirty="0"/>
          </a:p>
          <a:p>
            <a:pPr marL="0" indent="0">
              <a:buNone/>
            </a:pPr>
            <a:r>
              <a:rPr lang="en-US" sz="1000" dirty="0">
                <a:solidFill>
                  <a:srgbClr val="1B2A4A"/>
                </a:solidFill>
                <a:latin typeface="Consolas" pitchFamily="34" charset="0"/>
                <a:ea typeface="Consolas" pitchFamily="34" charset="-122"/>
                <a:cs typeface="Consolas" pitchFamily="34" charset="-120"/>
              </a:rPr>
              <a:t>    + 0.02: deploy()</a:t>
            </a:r>
            <a:endParaRPr lang="en-US" sz="1000" dirty="0"/>
          </a:p>
        </p:txBody>
      </p:sp>
      <p:sp>
        <p:nvSpPr>
          <p:cNvPr id="23" name="Text 21"/>
          <p:cNvSpPr txBox="1"/>
          <p:nvPr/>
        </p:nvSpPr>
        <p:spPr>
          <a:xfrm>
            <a:off x="502920" y="3291840"/>
            <a:ext cx="8138160" cy="292608"/>
          </a:xfrm>
          <a:prstGeom prst="rect">
            <a:avLst/>
          </a:prstGeom>
          <a:noFill/>
          <a:ln/>
        </p:spPr>
        <p:txBody>
          <a:bodyPr wrap="square" lIns="0" tIns="0" rIns="0" bIns="0" rtlCol="0" anchor="ctr"/>
          <a:lstStyle/>
          <a:p>
            <a:pPr marL="0" indent="0">
              <a:buNone/>
            </a:pPr>
            <a:r>
              <a:rPr lang="en-US" sz="1300" b="1" dirty="0">
                <a:solidFill>
                  <a:srgbClr val="D4824A"/>
                </a:solidFill>
              </a:rPr>
              <a:t>↺  Repeat on a schedule, e.g. a weekly job (demo 11)</a:t>
            </a:r>
            <a:endParaRPr lang="en-US" sz="1300" dirty="0"/>
          </a:p>
        </p:txBody>
      </p:sp>
      <p:sp>
        <p:nvSpPr>
          <p:cNvPr id="24" name="Shape 22"/>
          <p:cNvSpPr/>
          <p:nvPr/>
        </p:nvSpPr>
        <p:spPr>
          <a:xfrm>
            <a:off x="502920" y="3840480"/>
            <a:ext cx="8138160" cy="594360"/>
          </a:xfrm>
          <a:prstGeom prst="roundRect">
            <a:avLst>
              <a:gd name="adj" fmla="val 12308"/>
            </a:avLst>
          </a:prstGeom>
          <a:solidFill>
            <a:srgbClr val="FBEFE6"/>
          </a:solidFill>
          <a:ln w="12700">
            <a:solidFill>
              <a:srgbClr val="FBEFE6"/>
            </a:solidFill>
            <a:prstDash val="solid"/>
          </a:ln>
        </p:spPr>
      </p:sp>
      <p:sp>
        <p:nvSpPr>
          <p:cNvPr id="25" name="Text 23"/>
          <p:cNvSpPr txBox="1"/>
          <p:nvPr/>
        </p:nvSpPr>
        <p:spPr>
          <a:xfrm>
            <a:off x="667512" y="3840480"/>
            <a:ext cx="7808976" cy="594360"/>
          </a:xfrm>
          <a:prstGeom prst="rect">
            <a:avLst/>
          </a:prstGeom>
          <a:noFill/>
          <a:ln/>
        </p:spPr>
        <p:txBody>
          <a:bodyPr wrap="square" lIns="0" tIns="0" rIns="0" bIns="0" rtlCol="0" anchor="ctr"/>
          <a:lstStyle/>
          <a:p>
            <a:pPr marL="0" indent="0">
              <a:buNone/>
            </a:pPr>
            <a:r>
              <a:rPr lang="en-US" sz="1000" b="1" kern="0" spc="200" dirty="0">
                <a:solidFill>
                  <a:srgbClr val="D4824A"/>
                </a:solidFill>
              </a:rPr>
              <a:t>KEY POINT  </a:t>
            </a:r>
            <a:r>
              <a:rPr lang="en-US" sz="1300" dirty="0">
                <a:solidFill>
                  <a:srgbClr val="1B2A4A"/>
                </a:solidFill>
              </a:rPr>
              <a:t>Log everything from day one. Missing early production data is costly later.</a:t>
            </a:r>
            <a:endParaRPr lang="en-US" sz="1000" dirty="0"/>
          </a:p>
        </p:txBody>
      </p:sp>
      <p:sp>
        <p:nvSpPr>
          <p:cNvPr id="26" name="Slide Number Placeholder 0"/>
          <p:cNvSpPr>
            <a:spLocks noGrp="1"/>
          </p:cNvSpPr>
          <p:nvPr>
            <p:ph type="sldNum" sz="quarter" idx="4294967295"/>
          </p:nvPr>
        </p:nvSpPr>
        <p:spPr>
          <a:xfrm>
            <a:off x="8229600" y="4800600"/>
            <a:ext cx="41148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A0B0C0"/>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02920" y="201168"/>
            <a:ext cx="8138160" cy="256032"/>
          </a:xfrm>
          <a:prstGeom prst="rect">
            <a:avLst/>
          </a:prstGeom>
          <a:noFill/>
          <a:ln/>
        </p:spPr>
        <p:txBody>
          <a:bodyPr wrap="square" lIns="0" tIns="0" rIns="0" bIns="0" rtlCol="0" anchor="ctr"/>
          <a:lstStyle/>
          <a:p>
            <a:pPr marL="0" indent="0">
              <a:buNone/>
            </a:pPr>
            <a:r>
              <a:rPr lang="en-US" sz="1000" b="1" kern="0" spc="300" dirty="0">
                <a:solidFill>
                  <a:srgbClr val="D4824A"/>
                </a:solidFill>
              </a:rPr>
              <a:t>ADVANCED &amp; PRODUCTION  ·  TRADE-OFFS</a:t>
            </a:r>
            <a:endParaRPr lang="en-US" sz="1000" dirty="0"/>
          </a:p>
        </p:txBody>
      </p:sp>
      <p:sp>
        <p:nvSpPr>
          <p:cNvPr id="3" name="Text 1"/>
          <p:cNvSpPr>
            <a:spLocks noGrp="1"/>
          </p:cNvSpPr>
          <p:nvPr>
            <p:ph type="title" idx="101" hasCustomPrompt="1"/>
          </p:nvPr>
        </p:nvSpPr>
        <p:spPr>
          <a:xfrm>
            <a:off x="502920" y="457200"/>
            <a:ext cx="8138160" cy="594360"/>
          </a:xfrm>
          <a:prstGeom prst="rect">
            <a:avLst/>
          </a:prstGeom>
          <a:noFill/>
          <a:ln/>
        </p:spPr>
        <p:txBody>
          <a:bodyPr wrap="square" lIns="0" tIns="0" rIns="0" bIns="0" rtlCol="0" anchor="ctr"/>
          <a:lstStyle/>
          <a:p>
            <a:pPr marL="0" indent="0" algn="l">
              <a:buNone/>
            </a:pPr>
            <a:r>
              <a:rPr lang="en-US" sz="2800" b="1" dirty="0">
                <a:solidFill>
                  <a:srgbClr val="1B2A4A"/>
                </a:solidFill>
              </a:rPr>
              <a:t>DSPy vs Manual Prompting</a:t>
            </a:r>
            <a:endParaRPr lang="en-US" sz="28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8138160" cy="2944368"/>
        </p:xfrm>
        <a:graphic>
          <a:graphicData uri="http://schemas.openxmlformats.org/drawingml/2006/table">
            <a:tbl>
              <a:tblPr/>
              <a:tblGrid>
                <a:gridCol w="201168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420624">
                <a:tc>
                  <a:txBody>
                    <a:bodyPr/>
                    <a:lstStyle/>
                    <a:p>
                      <a:pPr marL="0" indent="0">
                        <a:buNone/>
                      </a:pPr>
                      <a:r>
                        <a:rPr lang="en-US" sz="1150" b="1" kern="0" spc="100" dirty="0">
                          <a:solidFill>
                            <a:srgbClr val="FFFFFF"/>
                          </a:solidFill>
                        </a:rPr>
                        <a:t>DIMENSION</a:t>
                      </a:r>
                      <a:endParaRPr lang="en-US" sz="1150" dirty="0"/>
                    </a:p>
                  </a:txBody>
                  <a:tcPr marL="109728" marR="109728" marT="0" marB="0" anchor="ctr">
                    <a:lnL w="0" cap="flat" cmpd="sng" algn="ctr">
                      <a:noFill/>
                    </a:lnL>
                    <a:lnR w="0" cap="flat" cmpd="sng" algn="ctr">
                      <a:noFill/>
                    </a:lnR>
                    <a:lnT w="0" cap="flat" cmpd="sng" algn="ctr">
                      <a:noFill/>
                    </a:lnT>
                    <a:lnB w="0" cap="flat" cmpd="sng" algn="ctr">
                      <a:noFill/>
                    </a:lnB>
                    <a:solidFill>
                      <a:srgbClr val="1B2A4A"/>
                    </a:solidFill>
                  </a:tcPr>
                </a:tc>
                <a:tc>
                  <a:txBody>
                    <a:bodyPr/>
                    <a:lstStyle/>
                    <a:p>
                      <a:pPr marL="0" indent="0">
                        <a:buNone/>
                      </a:pPr>
                      <a:r>
                        <a:rPr lang="en-US" sz="1150" b="1" kern="0" spc="100" dirty="0">
                          <a:solidFill>
                            <a:srgbClr val="FFFFFF"/>
                          </a:solidFill>
                        </a:rPr>
                        <a:t>MANUAL PROMPTING</a:t>
                      </a:r>
                      <a:endParaRPr lang="en-US" sz="1150" dirty="0"/>
                    </a:p>
                  </a:txBody>
                  <a:tcPr marL="109728" marR="109728" marT="0" marB="0" anchor="ctr">
                    <a:lnL w="0" cap="flat" cmpd="sng" algn="ctr">
                      <a:noFill/>
                    </a:lnL>
                    <a:lnR w="0" cap="flat" cmpd="sng" algn="ctr">
                      <a:noFill/>
                    </a:lnR>
                    <a:lnT w="0" cap="flat" cmpd="sng" algn="ctr">
                      <a:noFill/>
                    </a:lnT>
                    <a:lnB w="0" cap="flat" cmpd="sng" algn="ctr">
                      <a:noFill/>
                    </a:lnB>
                    <a:solidFill>
                      <a:srgbClr val="1B2A4A"/>
                    </a:solidFill>
                  </a:tcPr>
                </a:tc>
                <a:tc>
                  <a:txBody>
                    <a:bodyPr/>
                    <a:lstStyle/>
                    <a:p>
                      <a:pPr marL="0" indent="0">
                        <a:buNone/>
                      </a:pPr>
                      <a:r>
                        <a:rPr lang="en-US" sz="1150" b="1" kern="0" spc="100" dirty="0">
                          <a:solidFill>
                            <a:srgbClr val="FFFFFF"/>
                          </a:solidFill>
                        </a:rPr>
                        <a:t>DSPY</a:t>
                      </a:r>
                      <a:endParaRPr lang="en-US" sz="1150" dirty="0"/>
                    </a:p>
                  </a:txBody>
                  <a:tcPr marL="109728" marR="109728" marT="0" marB="0" anchor="ctr">
                    <a:lnL w="0" cap="flat" cmpd="sng" algn="ctr">
                      <a:noFill/>
                    </a:lnL>
                    <a:lnR w="0" cap="flat" cmpd="sng" algn="ctr">
                      <a:noFill/>
                    </a:lnR>
                    <a:lnT w="0" cap="flat" cmpd="sng" algn="ctr">
                      <a:noFill/>
                    </a:lnT>
                    <a:lnB w="0" cap="flat" cmpd="sng" algn="ctr">
                      <a:noFill/>
                    </a:lnB>
                    <a:solidFill>
                      <a:srgbClr val="1B2A4A"/>
                    </a:solidFill>
                  </a:tcPr>
                </a:tc>
                <a:extLst>
                  <a:ext uri="{0D108BD9-81ED-4DB2-BD59-A6C34878D82A}">
                    <a16:rowId xmlns:a16="http://schemas.microsoft.com/office/drawing/2014/main" val="10000"/>
                  </a:ext>
                </a:extLst>
              </a:tr>
              <a:tr h="420624">
                <a:tc>
                  <a:txBody>
                    <a:bodyPr/>
                    <a:lstStyle/>
                    <a:p>
                      <a:pPr marL="0" indent="0">
                        <a:buNone/>
                      </a:pPr>
                      <a:r>
                        <a:rPr lang="en-US" sz="1300" b="1" dirty="0">
                          <a:solidFill>
                            <a:srgbClr val="1B2A4A"/>
                          </a:solidFill>
                        </a:rPr>
                        <a:t>Setup cost</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4F6F9"/>
                    </a:solidFill>
                  </a:tcPr>
                </a:tc>
                <a:tc>
                  <a:txBody>
                    <a:bodyPr/>
                    <a:lstStyle/>
                    <a:p>
                      <a:pPr marL="0" indent="0">
                        <a:buNone/>
                      </a:pPr>
                      <a:r>
                        <a:rPr lang="en-US" sz="1300" dirty="0">
                          <a:solidFill>
                            <a:srgbClr val="1B2A4A"/>
                          </a:solidFill>
                        </a:rPr>
                        <a:t>Low: write it and ship</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4F6F9"/>
                    </a:solidFill>
                  </a:tcPr>
                </a:tc>
                <a:tc>
                  <a:txBody>
                    <a:bodyPr/>
                    <a:lstStyle/>
                    <a:p>
                      <a:pPr marL="0" indent="0">
                        <a:buNone/>
                      </a:pPr>
                      <a:r>
                        <a:rPr lang="en-US" sz="1300" dirty="0">
                          <a:solidFill>
                            <a:srgbClr val="1B2A4A"/>
                          </a:solidFill>
                        </a:rPr>
                        <a:t>High: dataset, metric, optimizer run</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4F6F9"/>
                    </a:solidFill>
                  </a:tcPr>
                </a:tc>
                <a:extLst>
                  <a:ext uri="{0D108BD9-81ED-4DB2-BD59-A6C34878D82A}">
                    <a16:rowId xmlns:a16="http://schemas.microsoft.com/office/drawing/2014/main" val="10001"/>
                  </a:ext>
                </a:extLst>
              </a:tr>
              <a:tr h="420624">
                <a:tc>
                  <a:txBody>
                    <a:bodyPr/>
                    <a:lstStyle/>
                    <a:p>
                      <a:pPr marL="0" indent="0">
                        <a:buNone/>
                      </a:pPr>
                      <a:r>
                        <a:rPr lang="en-US" sz="1300" b="1" dirty="0">
                          <a:solidFill>
                            <a:srgbClr val="1B2A4A"/>
                          </a:solidFill>
                        </a:rPr>
                        <a:t>Prompt quality</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300" dirty="0">
                          <a:solidFill>
                            <a:srgbClr val="1B2A4A"/>
                          </a:solidFill>
                        </a:rPr>
                        <a:t>Depends on your skill</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300" dirty="0">
                          <a:solidFill>
                            <a:srgbClr val="1B2A4A"/>
                          </a:solidFill>
                        </a:rPr>
                        <a:t>Improves with data</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2"/>
                  </a:ext>
                </a:extLst>
              </a:tr>
              <a:tr h="420624">
                <a:tc>
                  <a:txBody>
                    <a:bodyPr/>
                    <a:lstStyle/>
                    <a:p>
                      <a:pPr marL="0" indent="0">
                        <a:buNone/>
                      </a:pPr>
                      <a:r>
                        <a:rPr lang="en-US" sz="1300" b="1" dirty="0">
                          <a:solidFill>
                            <a:srgbClr val="1B2A4A"/>
                          </a:solidFill>
                        </a:rPr>
                        <a:t>Reproducibility</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4F6F9"/>
                    </a:solidFill>
                  </a:tcPr>
                </a:tc>
                <a:tc>
                  <a:txBody>
                    <a:bodyPr/>
                    <a:lstStyle/>
                    <a:p>
                      <a:pPr marL="0" indent="0">
                        <a:buNone/>
                      </a:pPr>
                      <a:r>
                        <a:rPr lang="en-US" sz="1300" dirty="0">
                          <a:solidFill>
                            <a:srgbClr val="1B2A4A"/>
                          </a:solidFill>
                        </a:rPr>
                        <a:t>Ad-hoc edits</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4F6F9"/>
                    </a:solidFill>
                  </a:tcPr>
                </a:tc>
                <a:tc>
                  <a:txBody>
                    <a:bodyPr/>
                    <a:lstStyle/>
                    <a:p>
                      <a:pPr marL="0" indent="0">
                        <a:buNone/>
                      </a:pPr>
                      <a:r>
                        <a:rPr lang="en-US" sz="1300" dirty="0">
                          <a:solidFill>
                            <a:srgbClr val="1B2A4A"/>
                          </a:solidFill>
                        </a:rPr>
                        <a:t>Versioned, auditable JSON</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4F6F9"/>
                    </a:solidFill>
                  </a:tcPr>
                </a:tc>
                <a:extLst>
                  <a:ext uri="{0D108BD9-81ED-4DB2-BD59-A6C34878D82A}">
                    <a16:rowId xmlns:a16="http://schemas.microsoft.com/office/drawing/2014/main" val="10003"/>
                  </a:ext>
                </a:extLst>
              </a:tr>
              <a:tr h="420624">
                <a:tc>
                  <a:txBody>
                    <a:bodyPr/>
                    <a:lstStyle/>
                    <a:p>
                      <a:pPr marL="0" indent="0">
                        <a:buNone/>
                      </a:pPr>
                      <a:r>
                        <a:rPr lang="en-US" sz="1300" b="1" dirty="0">
                          <a:solidFill>
                            <a:srgbClr val="1B2A4A"/>
                          </a:solidFill>
                        </a:rPr>
                        <a:t>Multi-step tasks</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300" dirty="0">
                          <a:solidFill>
                            <a:srgbClr val="1B2A4A"/>
                          </a:solidFill>
                        </a:rPr>
                        <a:t>Fragile manual chaining</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300" dirty="0">
                          <a:solidFill>
                            <a:srgbClr val="1B2A4A"/>
                          </a:solidFill>
                        </a:rPr>
                        <a:t>Modules compose in forward()</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4"/>
                  </a:ext>
                </a:extLst>
              </a:tr>
              <a:tr h="420624">
                <a:tc>
                  <a:txBody>
                    <a:bodyPr/>
                    <a:lstStyle/>
                    <a:p>
                      <a:pPr marL="0" indent="0">
                        <a:buNone/>
                      </a:pPr>
                      <a:r>
                        <a:rPr lang="en-US" sz="1300" b="1" dirty="0">
                          <a:solidFill>
                            <a:srgbClr val="1B2A4A"/>
                          </a:solidFill>
                        </a:rPr>
                        <a:t>Iteration speed</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4F6F9"/>
                    </a:solidFill>
                  </a:tcPr>
                </a:tc>
                <a:tc>
                  <a:txBody>
                    <a:bodyPr/>
                    <a:lstStyle/>
                    <a:p>
                      <a:pPr marL="0" indent="0">
                        <a:buNone/>
                      </a:pPr>
                      <a:r>
                        <a:rPr lang="en-US" sz="1300" dirty="0">
                          <a:solidFill>
                            <a:srgbClr val="1B2A4A"/>
                          </a:solidFill>
                        </a:rPr>
                        <a:t>Fast for small changes</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4F6F9"/>
                    </a:solidFill>
                  </a:tcPr>
                </a:tc>
                <a:tc>
                  <a:txBody>
                    <a:bodyPr/>
                    <a:lstStyle/>
                    <a:p>
                      <a:pPr marL="0" indent="0">
                        <a:buNone/>
                      </a:pPr>
                      <a:r>
                        <a:rPr lang="en-US" sz="1300" dirty="0">
                          <a:solidFill>
                            <a:srgbClr val="1B2A4A"/>
                          </a:solidFill>
                        </a:rPr>
                        <a:t>Each change needs a recompile</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4F6F9"/>
                    </a:solidFill>
                  </a:tcPr>
                </a:tc>
                <a:extLst>
                  <a:ext uri="{0D108BD9-81ED-4DB2-BD59-A6C34878D82A}">
                    <a16:rowId xmlns:a16="http://schemas.microsoft.com/office/drawing/2014/main" val="10005"/>
                  </a:ext>
                </a:extLst>
              </a:tr>
              <a:tr h="420624">
                <a:tc>
                  <a:txBody>
                    <a:bodyPr/>
                    <a:lstStyle/>
                    <a:p>
                      <a:pPr marL="0" indent="0">
                        <a:buNone/>
                      </a:pPr>
                      <a:r>
                        <a:rPr lang="en-US" sz="1300" b="1" dirty="0">
                          <a:solidFill>
                            <a:srgbClr val="1B2A4A"/>
                          </a:solidFill>
                        </a:rPr>
                        <a:t>Best for</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BEFE6"/>
                    </a:solidFill>
                  </a:tcPr>
                </a:tc>
                <a:tc>
                  <a:txBody>
                    <a:bodyPr/>
                    <a:lstStyle/>
                    <a:p>
                      <a:pPr marL="0" indent="0">
                        <a:buNone/>
                      </a:pPr>
                      <a:r>
                        <a:rPr lang="en-US" sz="1300" b="1" dirty="0">
                          <a:solidFill>
                            <a:srgbClr val="1B2A4A"/>
                          </a:solidFill>
                        </a:rPr>
                        <a:t>Prototypes, simple tasks</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BEFE6"/>
                    </a:solidFill>
                  </a:tcPr>
                </a:tc>
                <a:tc>
                  <a:txBody>
                    <a:bodyPr/>
                    <a:lstStyle/>
                    <a:p>
                      <a:pPr marL="0" indent="0">
                        <a:buNone/>
                      </a:pPr>
                      <a:r>
                        <a:rPr lang="en-US" sz="1300" b="1" dirty="0">
                          <a:solidFill>
                            <a:srgbClr val="1B2A4A"/>
                          </a:solidFill>
                        </a:rPr>
                        <a:t>Production, multi-step, continuous improvement</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BEFE6"/>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8229600" y="4800600"/>
            <a:ext cx="41148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A0B0C0"/>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02920" y="201168"/>
            <a:ext cx="8138160" cy="256032"/>
          </a:xfrm>
          <a:prstGeom prst="rect">
            <a:avLst/>
          </a:prstGeom>
          <a:noFill/>
          <a:ln/>
        </p:spPr>
        <p:txBody>
          <a:bodyPr wrap="square" lIns="0" tIns="0" rIns="0" bIns="0" rtlCol="0" anchor="ctr"/>
          <a:lstStyle/>
          <a:p>
            <a:pPr marL="0" indent="0">
              <a:buNone/>
            </a:pPr>
            <a:r>
              <a:rPr lang="en-US" sz="1000" b="1" kern="0" spc="300" dirty="0">
                <a:solidFill>
                  <a:srgbClr val="D4824A"/>
                </a:solidFill>
              </a:rPr>
              <a:t>ADVANCED &amp; PRODUCTION  ·  4 OF 4</a:t>
            </a:r>
            <a:endParaRPr lang="en-US" sz="1000" dirty="0"/>
          </a:p>
        </p:txBody>
      </p:sp>
      <p:sp>
        <p:nvSpPr>
          <p:cNvPr id="3" name="Text 1"/>
          <p:cNvSpPr>
            <a:spLocks noGrp="1"/>
          </p:cNvSpPr>
          <p:nvPr>
            <p:ph type="title" idx="101" hasCustomPrompt="1"/>
          </p:nvPr>
        </p:nvSpPr>
        <p:spPr>
          <a:xfrm>
            <a:off x="502920" y="457200"/>
            <a:ext cx="8138160" cy="594360"/>
          </a:xfrm>
          <a:prstGeom prst="rect">
            <a:avLst/>
          </a:prstGeom>
          <a:noFill/>
          <a:ln/>
        </p:spPr>
        <p:txBody>
          <a:bodyPr wrap="square" lIns="0" tIns="0" rIns="0" bIns="0" rtlCol="0" anchor="ctr"/>
          <a:lstStyle/>
          <a:p>
            <a:pPr marL="0" indent="0" algn="l">
              <a:buNone/>
            </a:pPr>
            <a:r>
              <a:rPr lang="en-US" sz="2800" b="1" dirty="0">
                <a:solidFill>
                  <a:srgbClr val="1B2A4A"/>
                </a:solidFill>
              </a:rPr>
              <a:t>Production Deployment</a:t>
            </a:r>
            <a:endParaRPr lang="en-US" sz="2800" dirty="0"/>
          </a:p>
        </p:txBody>
      </p:sp>
      <p:sp>
        <p:nvSpPr>
          <p:cNvPr id="4" name="Shape 2"/>
          <p:cNvSpPr/>
          <p:nvPr/>
        </p:nvSpPr>
        <p:spPr>
          <a:xfrm>
            <a:off x="502920" y="1298448"/>
            <a:ext cx="329184" cy="329184"/>
          </a:xfrm>
          <a:prstGeom prst="ellipse">
            <a:avLst/>
          </a:prstGeom>
          <a:solidFill>
            <a:srgbClr val="1B2A4A"/>
          </a:solidFill>
          <a:ln w="12700">
            <a:solidFill>
              <a:srgbClr val="1B2A4A"/>
            </a:solidFill>
            <a:prstDash val="solid"/>
          </a:ln>
        </p:spPr>
      </p:sp>
      <p:sp>
        <p:nvSpPr>
          <p:cNvPr id="5" name="Text 3"/>
          <p:cNvSpPr txBox="1"/>
          <p:nvPr/>
        </p:nvSpPr>
        <p:spPr>
          <a:xfrm>
            <a:off x="502920" y="1298448"/>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6" name="Text 4"/>
          <p:cNvSpPr txBox="1"/>
          <p:nvPr/>
        </p:nvSpPr>
        <p:spPr>
          <a:xfrm>
            <a:off x="978408" y="1243584"/>
            <a:ext cx="3364992" cy="621792"/>
          </a:xfrm>
          <a:prstGeom prst="rect">
            <a:avLst/>
          </a:prstGeom>
          <a:noFill/>
          <a:ln/>
        </p:spPr>
        <p:txBody>
          <a:bodyPr wrap="square" lIns="0" tIns="0" rIns="0" bIns="0" rtlCol="0" anchor="t"/>
          <a:lstStyle/>
          <a:p>
            <a:pPr marL="0" indent="0">
              <a:spcAft>
                <a:spcPts val="200"/>
              </a:spcAft>
              <a:buNone/>
            </a:pPr>
            <a:r>
              <a:rPr lang="en-US" sz="1500" b="1" dirty="0">
                <a:solidFill>
                  <a:srgbClr val="1B2A4A"/>
                </a:solidFill>
              </a:rPr>
              <a:t>Save a versioned JSON</a:t>
            </a:r>
            <a:endParaRPr lang="en-US" sz="1500" dirty="0"/>
          </a:p>
          <a:p>
            <a:pPr marL="0" indent="0">
              <a:spcAft>
                <a:spcPts val="200"/>
              </a:spcAft>
              <a:buNone/>
            </a:pPr>
            <a:r>
              <a:rPr lang="en-US" sz="1200" dirty="0">
                <a:solidFill>
                  <a:srgbClr val="5F6F80"/>
                </a:solidFill>
              </a:rPr>
              <a:t>e.g. ticket_v2.json</a:t>
            </a:r>
            <a:endParaRPr lang="en-US" sz="1500" dirty="0"/>
          </a:p>
        </p:txBody>
      </p:sp>
      <p:sp>
        <p:nvSpPr>
          <p:cNvPr id="7" name="Shape 5"/>
          <p:cNvSpPr/>
          <p:nvPr/>
        </p:nvSpPr>
        <p:spPr>
          <a:xfrm>
            <a:off x="502920" y="1920240"/>
            <a:ext cx="329184" cy="329184"/>
          </a:xfrm>
          <a:prstGeom prst="ellipse">
            <a:avLst/>
          </a:prstGeom>
          <a:solidFill>
            <a:srgbClr val="1B2A4A"/>
          </a:solidFill>
          <a:ln w="12700">
            <a:solidFill>
              <a:srgbClr val="1B2A4A"/>
            </a:solidFill>
            <a:prstDash val="solid"/>
          </a:ln>
        </p:spPr>
      </p:sp>
      <p:sp>
        <p:nvSpPr>
          <p:cNvPr id="8" name="Text 6"/>
          <p:cNvSpPr txBox="1"/>
          <p:nvPr/>
        </p:nvSpPr>
        <p:spPr>
          <a:xfrm>
            <a:off x="502920" y="192024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9" name="Text 7"/>
          <p:cNvSpPr txBox="1"/>
          <p:nvPr/>
        </p:nvSpPr>
        <p:spPr>
          <a:xfrm>
            <a:off x="978408" y="1865376"/>
            <a:ext cx="3364992" cy="621792"/>
          </a:xfrm>
          <a:prstGeom prst="rect">
            <a:avLst/>
          </a:prstGeom>
          <a:noFill/>
          <a:ln/>
        </p:spPr>
        <p:txBody>
          <a:bodyPr wrap="square" lIns="0" tIns="0" rIns="0" bIns="0" rtlCol="0" anchor="t"/>
          <a:lstStyle/>
          <a:p>
            <a:pPr marL="0" indent="0">
              <a:spcAft>
                <a:spcPts val="200"/>
              </a:spcAft>
              <a:buNone/>
            </a:pPr>
            <a:r>
              <a:rPr lang="en-US" sz="1500" b="1" dirty="0">
                <a:solidFill>
                  <a:srgbClr val="1B2A4A"/>
                </a:solidFill>
              </a:rPr>
              <a:t>Load once at startup</a:t>
            </a:r>
            <a:endParaRPr lang="en-US" sz="1500" dirty="0"/>
          </a:p>
          <a:p>
            <a:pPr marL="0" indent="0">
              <a:spcAft>
                <a:spcPts val="200"/>
              </a:spcAft>
              <a:buNone/>
            </a:pPr>
            <a:r>
              <a:rPr lang="en-US" sz="1200" dirty="0">
                <a:solidFill>
                  <a:srgbClr val="5F6F80"/>
                </a:solidFill>
              </a:rPr>
              <a:t>Never recompile per request</a:t>
            </a:r>
            <a:endParaRPr lang="en-US" sz="1500" dirty="0"/>
          </a:p>
        </p:txBody>
      </p:sp>
      <p:sp>
        <p:nvSpPr>
          <p:cNvPr id="10" name="Shape 8"/>
          <p:cNvSpPr/>
          <p:nvPr/>
        </p:nvSpPr>
        <p:spPr>
          <a:xfrm>
            <a:off x="502920" y="2542032"/>
            <a:ext cx="329184" cy="329184"/>
          </a:xfrm>
          <a:prstGeom prst="ellipse">
            <a:avLst/>
          </a:prstGeom>
          <a:solidFill>
            <a:srgbClr val="1B2A4A"/>
          </a:solidFill>
          <a:ln w="12700">
            <a:solidFill>
              <a:srgbClr val="1B2A4A"/>
            </a:solidFill>
            <a:prstDash val="solid"/>
          </a:ln>
        </p:spPr>
      </p:sp>
      <p:sp>
        <p:nvSpPr>
          <p:cNvPr id="11" name="Text 9"/>
          <p:cNvSpPr txBox="1"/>
          <p:nvPr/>
        </p:nvSpPr>
        <p:spPr>
          <a:xfrm>
            <a:off x="502920" y="254203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12" name="Text 10"/>
          <p:cNvSpPr txBox="1"/>
          <p:nvPr/>
        </p:nvSpPr>
        <p:spPr>
          <a:xfrm>
            <a:off x="978408" y="2487168"/>
            <a:ext cx="3364992" cy="621792"/>
          </a:xfrm>
          <a:prstGeom prst="rect">
            <a:avLst/>
          </a:prstGeom>
          <a:noFill/>
          <a:ln/>
        </p:spPr>
        <p:txBody>
          <a:bodyPr wrap="square" lIns="0" tIns="0" rIns="0" bIns="0" rtlCol="0" anchor="t"/>
          <a:lstStyle/>
          <a:p>
            <a:pPr marL="0" indent="0">
              <a:spcAft>
                <a:spcPts val="200"/>
              </a:spcAft>
              <a:buNone/>
            </a:pPr>
            <a:r>
              <a:rPr lang="en-US" sz="1500" b="1" dirty="0">
                <a:solidFill>
                  <a:srgbClr val="1B2A4A"/>
                </a:solidFill>
              </a:rPr>
              <a:t>Pin the base model version</a:t>
            </a:r>
            <a:endParaRPr lang="en-US" sz="1500" dirty="0"/>
          </a:p>
          <a:p>
            <a:pPr marL="0" indent="0">
              <a:spcAft>
                <a:spcPts val="200"/>
              </a:spcAft>
              <a:buNone/>
            </a:pPr>
            <a:r>
              <a:rPr lang="en-US" sz="1200" dirty="0">
                <a:solidFill>
                  <a:srgbClr val="5F6F80"/>
                </a:solidFill>
              </a:rPr>
              <a:t>Model updates can shift accuracy</a:t>
            </a:r>
            <a:endParaRPr lang="en-US" sz="1500" dirty="0"/>
          </a:p>
        </p:txBody>
      </p:sp>
      <p:sp>
        <p:nvSpPr>
          <p:cNvPr id="13" name="Shape 11"/>
          <p:cNvSpPr/>
          <p:nvPr/>
        </p:nvSpPr>
        <p:spPr>
          <a:xfrm>
            <a:off x="502920" y="3163824"/>
            <a:ext cx="329184" cy="329184"/>
          </a:xfrm>
          <a:prstGeom prst="ellipse">
            <a:avLst/>
          </a:prstGeom>
          <a:solidFill>
            <a:srgbClr val="1B2A4A"/>
          </a:solidFill>
          <a:ln w="12700">
            <a:solidFill>
              <a:srgbClr val="1B2A4A"/>
            </a:solidFill>
            <a:prstDash val="solid"/>
          </a:ln>
        </p:spPr>
      </p:sp>
      <p:sp>
        <p:nvSpPr>
          <p:cNvPr id="14" name="Text 12"/>
          <p:cNvSpPr txBox="1"/>
          <p:nvPr/>
        </p:nvSpPr>
        <p:spPr>
          <a:xfrm>
            <a:off x="502920" y="316382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15" name="Text 13"/>
          <p:cNvSpPr txBox="1"/>
          <p:nvPr/>
        </p:nvSpPr>
        <p:spPr>
          <a:xfrm>
            <a:off x="978408" y="3108960"/>
            <a:ext cx="3364992" cy="621792"/>
          </a:xfrm>
          <a:prstGeom prst="rect">
            <a:avLst/>
          </a:prstGeom>
          <a:noFill/>
          <a:ln/>
        </p:spPr>
        <p:txBody>
          <a:bodyPr wrap="square" lIns="0" tIns="0" rIns="0" bIns="0" rtlCol="0" anchor="t"/>
          <a:lstStyle/>
          <a:p>
            <a:pPr marL="0" indent="0">
              <a:spcAft>
                <a:spcPts val="200"/>
              </a:spcAft>
              <a:buNone/>
            </a:pPr>
            <a:r>
              <a:rPr lang="en-US" sz="1500" b="1" dirty="0">
                <a:solidFill>
                  <a:srgbClr val="1B2A4A"/>
                </a:solidFill>
              </a:rPr>
              <a:t>Monitor with the same metric</a:t>
            </a:r>
            <a:endParaRPr lang="en-US" sz="1500" dirty="0"/>
          </a:p>
          <a:p>
            <a:pPr marL="0" indent="0">
              <a:spcAft>
                <a:spcPts val="200"/>
              </a:spcAft>
              <a:buNone/>
            </a:pPr>
            <a:r>
              <a:rPr lang="en-US" sz="1200" dirty="0">
                <a:solidFill>
                  <a:srgbClr val="5F6F80"/>
                </a:solidFill>
              </a:rPr>
              <a:t>Alert and recompile on drops</a:t>
            </a:r>
            <a:endParaRPr lang="en-US" sz="1500" dirty="0"/>
          </a:p>
        </p:txBody>
      </p:sp>
      <p:sp>
        <p:nvSpPr>
          <p:cNvPr id="16" name="Shape 14"/>
          <p:cNvSpPr/>
          <p:nvPr/>
        </p:nvSpPr>
        <p:spPr>
          <a:xfrm>
            <a:off x="502920" y="3913632"/>
            <a:ext cx="3840480" cy="658368"/>
          </a:xfrm>
          <a:prstGeom prst="roundRect">
            <a:avLst>
              <a:gd name="adj" fmla="val 11111"/>
            </a:avLst>
          </a:prstGeom>
          <a:solidFill>
            <a:srgbClr val="FBEFE6"/>
          </a:solidFill>
          <a:ln w="12700">
            <a:solidFill>
              <a:srgbClr val="FBEFE6"/>
            </a:solidFill>
            <a:prstDash val="solid"/>
          </a:ln>
        </p:spPr>
      </p:sp>
      <p:sp>
        <p:nvSpPr>
          <p:cNvPr id="17" name="Text 15"/>
          <p:cNvSpPr txBox="1"/>
          <p:nvPr/>
        </p:nvSpPr>
        <p:spPr>
          <a:xfrm>
            <a:off x="667512" y="3913632"/>
            <a:ext cx="3511296" cy="658368"/>
          </a:xfrm>
          <a:prstGeom prst="rect">
            <a:avLst/>
          </a:prstGeom>
          <a:noFill/>
          <a:ln/>
        </p:spPr>
        <p:txBody>
          <a:bodyPr wrap="square" lIns="0" tIns="0" rIns="0" bIns="0" rtlCol="0" anchor="ctr"/>
          <a:lstStyle/>
          <a:p>
            <a:pPr marL="0" indent="0">
              <a:buNone/>
            </a:pPr>
            <a:r>
              <a:rPr lang="en-US" sz="1000" b="1" kern="0" spc="200" dirty="0">
                <a:solidFill>
                  <a:srgbClr val="D4824A"/>
                </a:solidFill>
              </a:rPr>
              <a:t>KEY POINT  </a:t>
            </a:r>
            <a:r>
              <a:rPr lang="en-US" sz="1300" dirty="0">
                <a:solidFill>
                  <a:srgbClr val="1B2A4A"/>
                </a:solidFill>
              </a:rPr>
              <a:t>Review the chosen examples in the JSON before you deploy.</a:t>
            </a:r>
            <a:endParaRPr lang="en-US" sz="1000" dirty="0"/>
          </a:p>
        </p:txBody>
      </p:sp>
      <p:sp>
        <p:nvSpPr>
          <p:cNvPr id="18" name="Shape 16"/>
          <p:cNvSpPr/>
          <p:nvPr/>
        </p:nvSpPr>
        <p:spPr>
          <a:xfrm>
            <a:off x="4572000" y="1188720"/>
            <a:ext cx="4069080" cy="3383280"/>
          </a:xfrm>
          <a:prstGeom prst="roundRect">
            <a:avLst>
              <a:gd name="adj" fmla="val 2162"/>
            </a:avLst>
          </a:prstGeom>
          <a:solidFill>
            <a:srgbClr val="1B2A4A"/>
          </a:solidFill>
          <a:ln w="12700">
            <a:solidFill>
              <a:srgbClr val="1B2A4A"/>
            </a:solidFill>
            <a:prstDash val="solid"/>
          </a:ln>
        </p:spPr>
      </p:sp>
      <p:sp>
        <p:nvSpPr>
          <p:cNvPr id="19" name="Text 17"/>
          <p:cNvSpPr txBox="1"/>
          <p:nvPr/>
        </p:nvSpPr>
        <p:spPr>
          <a:xfrm>
            <a:off x="4773168" y="1316736"/>
            <a:ext cx="3666744" cy="292608"/>
          </a:xfrm>
          <a:prstGeom prst="rect">
            <a:avLst/>
          </a:prstGeom>
          <a:noFill/>
          <a:ln/>
        </p:spPr>
        <p:txBody>
          <a:bodyPr wrap="square" lIns="0" tIns="0" rIns="0" bIns="0" rtlCol="0" anchor="ctr"/>
          <a:lstStyle/>
          <a:p>
            <a:pPr marL="0" indent="0">
              <a:buNone/>
            </a:pPr>
            <a:r>
              <a:rPr lang="en-US" sz="900" b="1" kern="0" spc="200" dirty="0">
                <a:solidFill>
                  <a:srgbClr val="D4824A"/>
                </a:solidFill>
              </a:rPr>
              <a:t>EXAMPLE  </a:t>
            </a:r>
            <a:r>
              <a:rPr lang="en-US" sz="1200" b="1" dirty="0">
                <a:solidFill>
                  <a:srgbClr val="FFFFFF"/>
                </a:solidFill>
              </a:rPr>
              <a:t>Production loading (demo 12)</a:t>
            </a:r>
            <a:endParaRPr lang="en-US" sz="900" dirty="0"/>
          </a:p>
        </p:txBody>
      </p:sp>
      <p:sp>
        <p:nvSpPr>
          <p:cNvPr id="20" name="Text 18"/>
          <p:cNvSpPr txBox="1"/>
          <p:nvPr/>
        </p:nvSpPr>
        <p:spPr>
          <a:xfrm>
            <a:off x="4773168" y="1700784"/>
            <a:ext cx="3703320" cy="2743200"/>
          </a:xfrm>
          <a:prstGeom prst="rect">
            <a:avLst/>
          </a:prstGeom>
          <a:noFill/>
          <a:ln/>
        </p:spPr>
        <p:txBody>
          <a:bodyPr wrap="square" lIns="0" tIns="0" rIns="0" bIns="0" rtlCol="0" anchor="t"/>
          <a:lstStyle/>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production_server.py</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dspy.configure(lm=dspy.LM("openai/gpt-4o"))</a:t>
            </a:r>
            <a:endParaRPr lang="en-US" sz="1050" dirty="0"/>
          </a:p>
          <a:p>
            <a:pPr marL="0" indent="0">
              <a:lnSpc>
                <a:spcPct val="100000"/>
              </a:lnSpc>
              <a:buNone/>
            </a:pP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prog = TicketProcessor()      # once, at</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prog.load("ticket_v2.json")   # startup</a:t>
            </a:r>
            <a:endParaRPr lang="en-US" sz="1050" dirty="0"/>
          </a:p>
          <a:p>
            <a:pPr marL="0" indent="0">
              <a:lnSpc>
                <a:spcPct val="100000"/>
              </a:lnSpc>
              <a:buNone/>
            </a:pP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def handle_request(ticket_text: str):</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result = prog(ticket=ticket_text)</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db.log({"input": ticket_text,</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"output": result.urgency,</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"version": "ticket_v2"})</a:t>
            </a:r>
            <a:endParaRPr lang="en-US" sz="1050" dirty="0"/>
          </a:p>
          <a:p>
            <a:pPr marL="0" indent="0">
              <a:lnSpc>
                <a:spcPct val="100000"/>
              </a:lnSpc>
              <a:buNone/>
            </a:pPr>
            <a:r>
              <a:rPr lang="en-US" sz="1050" dirty="0">
                <a:solidFill>
                  <a:srgbClr val="E6EDF5"/>
                </a:solidFill>
                <a:latin typeface="Consolas" pitchFamily="34" charset="0"/>
                <a:ea typeface="Consolas" pitchFamily="34" charset="-122"/>
                <a:cs typeface="Consolas" pitchFamily="34" charset="-120"/>
              </a:rPr>
              <a:t>    return result</a:t>
            </a:r>
            <a:endParaRPr lang="en-US" sz="1050" dirty="0"/>
          </a:p>
        </p:txBody>
      </p:sp>
      <p:sp>
        <p:nvSpPr>
          <p:cNvPr id="25" name="Slide Number Placeholder 0"/>
          <p:cNvSpPr>
            <a:spLocks noGrp="1"/>
          </p:cNvSpPr>
          <p:nvPr>
            <p:ph type="sldNum" sz="quarter" idx="4294967295"/>
          </p:nvPr>
        </p:nvSpPr>
        <p:spPr>
          <a:xfrm>
            <a:off x="8229600" y="4800600"/>
            <a:ext cx="41148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A0B0C0"/>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02920" y="201168"/>
            <a:ext cx="8138160" cy="256032"/>
          </a:xfrm>
          <a:prstGeom prst="rect">
            <a:avLst/>
          </a:prstGeom>
          <a:noFill/>
          <a:ln/>
        </p:spPr>
        <p:txBody>
          <a:bodyPr wrap="square" lIns="0" tIns="0" rIns="0" bIns="0" rtlCol="0" anchor="ctr"/>
          <a:lstStyle/>
          <a:p>
            <a:pPr marL="0" indent="0">
              <a:buNone/>
            </a:pPr>
            <a:r>
              <a:rPr lang="en-US" sz="1000" b="1" kern="0" spc="300" dirty="0">
                <a:solidFill>
                  <a:srgbClr val="D4824A"/>
                </a:solidFill>
              </a:rPr>
              <a:t>REFERENCE</a:t>
            </a:r>
            <a:endParaRPr lang="en-US" sz="1000" dirty="0"/>
          </a:p>
        </p:txBody>
      </p:sp>
      <p:sp>
        <p:nvSpPr>
          <p:cNvPr id="3" name="Text 1"/>
          <p:cNvSpPr>
            <a:spLocks noGrp="1"/>
          </p:cNvSpPr>
          <p:nvPr>
            <p:ph type="title" idx="101" hasCustomPrompt="1"/>
          </p:nvPr>
        </p:nvSpPr>
        <p:spPr>
          <a:xfrm>
            <a:off x="502920" y="457200"/>
            <a:ext cx="8138160" cy="594360"/>
          </a:xfrm>
          <a:prstGeom prst="rect">
            <a:avLst/>
          </a:prstGeom>
          <a:noFill/>
          <a:ln/>
        </p:spPr>
        <p:txBody>
          <a:bodyPr wrap="square" lIns="0" tIns="0" rIns="0" bIns="0" rtlCol="0" anchor="ctr"/>
          <a:lstStyle/>
          <a:p>
            <a:pPr marL="0" indent="0" algn="l">
              <a:buNone/>
            </a:pPr>
            <a:r>
              <a:rPr lang="en-US" sz="2800" b="1" dirty="0">
                <a:solidFill>
                  <a:srgbClr val="1B2A4A"/>
                </a:solidFill>
              </a:rPr>
              <a:t>Modules and Optimizers at a Glance</a:t>
            </a:r>
            <a:endParaRPr lang="en-US" sz="28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8138160" cy="2944368"/>
        </p:xfrm>
        <a:graphic>
          <a:graphicData uri="http://schemas.openxmlformats.org/drawingml/2006/table">
            <a:tbl>
              <a:tblPr/>
              <a:tblGrid>
                <a:gridCol w="210312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420624">
                <a:tc>
                  <a:txBody>
                    <a:bodyPr/>
                    <a:lstStyle/>
                    <a:p>
                      <a:pPr marL="0" indent="0">
                        <a:buNone/>
                      </a:pPr>
                      <a:r>
                        <a:rPr lang="en-US" sz="1150" b="1" kern="0" spc="100" dirty="0">
                          <a:solidFill>
                            <a:srgbClr val="FFFFFF"/>
                          </a:solidFill>
                        </a:rPr>
                        <a:t>NAME</a:t>
                      </a:r>
                      <a:endParaRPr lang="en-US" sz="1150" dirty="0"/>
                    </a:p>
                  </a:txBody>
                  <a:tcPr marL="109728" marR="109728" marT="0" marB="0" anchor="ctr">
                    <a:lnL w="0" cap="flat" cmpd="sng" algn="ctr">
                      <a:noFill/>
                    </a:lnL>
                    <a:lnR w="0" cap="flat" cmpd="sng" algn="ctr">
                      <a:noFill/>
                    </a:lnR>
                    <a:lnT w="0" cap="flat" cmpd="sng" algn="ctr">
                      <a:noFill/>
                    </a:lnT>
                    <a:lnB w="0" cap="flat" cmpd="sng" algn="ctr">
                      <a:noFill/>
                    </a:lnB>
                    <a:solidFill>
                      <a:srgbClr val="1B2A4A"/>
                    </a:solidFill>
                  </a:tcPr>
                </a:tc>
                <a:tc>
                  <a:txBody>
                    <a:bodyPr/>
                    <a:lstStyle/>
                    <a:p>
                      <a:pPr marL="0" indent="0">
                        <a:buNone/>
                      </a:pPr>
                      <a:r>
                        <a:rPr lang="en-US" sz="1150" b="1" kern="0" spc="100" dirty="0">
                          <a:solidFill>
                            <a:srgbClr val="FFFFFF"/>
                          </a:solidFill>
                        </a:rPr>
                        <a:t>DSPY CLASS</a:t>
                      </a:r>
                      <a:endParaRPr lang="en-US" sz="1150" dirty="0"/>
                    </a:p>
                  </a:txBody>
                  <a:tcPr marL="109728" marR="109728" marT="0" marB="0" anchor="ctr">
                    <a:lnL w="0" cap="flat" cmpd="sng" algn="ctr">
                      <a:noFill/>
                    </a:lnL>
                    <a:lnR w="0" cap="flat" cmpd="sng" algn="ctr">
                      <a:noFill/>
                    </a:lnR>
                    <a:lnT w="0" cap="flat" cmpd="sng" algn="ctr">
                      <a:noFill/>
                    </a:lnT>
                    <a:lnB w="0" cap="flat" cmpd="sng" algn="ctr">
                      <a:noFill/>
                    </a:lnB>
                    <a:solidFill>
                      <a:srgbClr val="1B2A4A"/>
                    </a:solidFill>
                  </a:tcPr>
                </a:tc>
                <a:tc>
                  <a:txBody>
                    <a:bodyPr/>
                    <a:lstStyle/>
                    <a:p>
                      <a:pPr marL="0" indent="0">
                        <a:buNone/>
                      </a:pPr>
                      <a:r>
                        <a:rPr lang="en-US" sz="1150" b="1" kern="0" spc="100" dirty="0">
                          <a:solidFill>
                            <a:srgbClr val="FFFFFF"/>
                          </a:solidFill>
                        </a:rPr>
                        <a:t>USE IT FOR</a:t>
                      </a:r>
                      <a:endParaRPr lang="en-US" sz="1150" dirty="0"/>
                    </a:p>
                  </a:txBody>
                  <a:tcPr marL="109728" marR="109728" marT="0" marB="0" anchor="ctr">
                    <a:lnL w="0" cap="flat" cmpd="sng" algn="ctr">
                      <a:noFill/>
                    </a:lnL>
                    <a:lnR w="0" cap="flat" cmpd="sng" algn="ctr">
                      <a:noFill/>
                    </a:lnR>
                    <a:lnT w="0" cap="flat" cmpd="sng" algn="ctr">
                      <a:noFill/>
                    </a:lnT>
                    <a:lnB w="0" cap="flat" cmpd="sng" algn="ctr">
                      <a:noFill/>
                    </a:lnB>
                    <a:solidFill>
                      <a:srgbClr val="1B2A4A"/>
                    </a:solidFill>
                  </a:tcPr>
                </a:tc>
                <a:extLst>
                  <a:ext uri="{0D108BD9-81ED-4DB2-BD59-A6C34878D82A}">
                    <a16:rowId xmlns:a16="http://schemas.microsoft.com/office/drawing/2014/main" val="10000"/>
                  </a:ext>
                </a:extLst>
              </a:tr>
              <a:tr h="420624">
                <a:tc>
                  <a:txBody>
                    <a:bodyPr/>
                    <a:lstStyle/>
                    <a:p>
                      <a:pPr marL="0" indent="0">
                        <a:buNone/>
                      </a:pPr>
                      <a:r>
                        <a:rPr lang="en-US" sz="1300" b="1" dirty="0">
                          <a:solidFill>
                            <a:srgbClr val="1B2A4A"/>
                          </a:solidFill>
                        </a:rPr>
                        <a:t>Predict</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4F6F9"/>
                    </a:solidFill>
                  </a:tcPr>
                </a:tc>
                <a:tc>
                  <a:txBody>
                    <a:bodyPr/>
                    <a:lstStyle/>
                    <a:p>
                      <a:pPr marL="0" indent="0">
                        <a:buNone/>
                      </a:pPr>
                      <a:r>
                        <a:rPr lang="en-US" sz="1100" dirty="0">
                          <a:solidFill>
                            <a:srgbClr val="1B2A4A"/>
                          </a:solidFill>
                          <a:latin typeface="Consolas" pitchFamily="34" charset="0"/>
                          <a:ea typeface="Consolas" pitchFamily="34" charset="-122"/>
                          <a:cs typeface="Consolas" pitchFamily="34" charset="-120"/>
                        </a:rPr>
                        <a:t>dspy.Predict(Sig)</a:t>
                      </a:r>
                      <a:endParaRPr lang="en-US" sz="1100" dirty="0">
                        <a:latin typeface="Consolas" charset="0"/>
                        <a:ea typeface="Consolas" charset="0"/>
                        <a:cs typeface="Consolas"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4F6F9"/>
                    </a:solidFill>
                  </a:tcPr>
                </a:tc>
                <a:tc>
                  <a:txBody>
                    <a:bodyPr/>
                    <a:lstStyle/>
                    <a:p>
                      <a:pPr marL="0" indent="0">
                        <a:buNone/>
                      </a:pPr>
                      <a:r>
                        <a:rPr lang="en-US" sz="1300" dirty="0">
                          <a:solidFill>
                            <a:srgbClr val="1B2A4A"/>
                          </a:solidFill>
                        </a:rPr>
                        <a:t>Classification, extraction</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4F6F9"/>
                    </a:solidFill>
                  </a:tcPr>
                </a:tc>
                <a:extLst>
                  <a:ext uri="{0D108BD9-81ED-4DB2-BD59-A6C34878D82A}">
                    <a16:rowId xmlns:a16="http://schemas.microsoft.com/office/drawing/2014/main" val="10001"/>
                  </a:ext>
                </a:extLst>
              </a:tr>
              <a:tr h="420624">
                <a:tc>
                  <a:txBody>
                    <a:bodyPr/>
                    <a:lstStyle/>
                    <a:p>
                      <a:pPr marL="0" indent="0">
                        <a:buNone/>
                      </a:pPr>
                      <a:r>
                        <a:rPr lang="en-US" sz="1300" b="1" dirty="0">
                          <a:solidFill>
                            <a:srgbClr val="1B2A4A"/>
                          </a:solidFill>
                        </a:rPr>
                        <a:t>ChainOfThought</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100" dirty="0">
                          <a:solidFill>
                            <a:srgbClr val="1B2A4A"/>
                          </a:solidFill>
                          <a:latin typeface="Consolas" pitchFamily="34" charset="0"/>
                          <a:ea typeface="Consolas" pitchFamily="34" charset="-122"/>
                          <a:cs typeface="Consolas" pitchFamily="34" charset="-120"/>
                        </a:rPr>
                        <a:t>dspy.ChainOfThought(Sig)</a:t>
                      </a:r>
                      <a:endParaRPr lang="en-US" sz="1100" dirty="0">
                        <a:latin typeface="Consolas" charset="0"/>
                        <a:ea typeface="Consolas" charset="0"/>
                        <a:cs typeface="Consolas"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300" dirty="0">
                          <a:solidFill>
                            <a:srgbClr val="1B2A4A"/>
                          </a:solidFill>
                        </a:rPr>
                        <a:t>Multi-step reasoning, math</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2"/>
                  </a:ext>
                </a:extLst>
              </a:tr>
              <a:tr h="420624">
                <a:tc>
                  <a:txBody>
                    <a:bodyPr/>
                    <a:lstStyle/>
                    <a:p>
                      <a:pPr marL="0" indent="0">
                        <a:buNone/>
                      </a:pPr>
                      <a:r>
                        <a:rPr lang="en-US" sz="1300" b="1" dirty="0">
                          <a:solidFill>
                            <a:srgbClr val="1B2A4A"/>
                          </a:solidFill>
                        </a:rPr>
                        <a:t>ReAct</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4F6F9"/>
                    </a:solidFill>
                  </a:tcPr>
                </a:tc>
                <a:tc>
                  <a:txBody>
                    <a:bodyPr/>
                    <a:lstStyle/>
                    <a:p>
                      <a:pPr marL="0" indent="0">
                        <a:buNone/>
                      </a:pPr>
                      <a:r>
                        <a:rPr lang="en-US" sz="1100" dirty="0">
                          <a:solidFill>
                            <a:srgbClr val="1B2A4A"/>
                          </a:solidFill>
                          <a:latin typeface="Consolas" pitchFamily="34" charset="0"/>
                          <a:ea typeface="Consolas" pitchFamily="34" charset="-122"/>
                          <a:cs typeface="Consolas" pitchFamily="34" charset="-120"/>
                        </a:rPr>
                        <a:t>dspy.ReAct(Sig, tools)</a:t>
                      </a:r>
                      <a:endParaRPr lang="en-US" sz="1100" dirty="0">
                        <a:latin typeface="Consolas" charset="0"/>
                        <a:ea typeface="Consolas" charset="0"/>
                        <a:cs typeface="Consolas"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4F6F9"/>
                    </a:solidFill>
                  </a:tcPr>
                </a:tc>
                <a:tc>
                  <a:txBody>
                    <a:bodyPr/>
                    <a:lstStyle/>
                    <a:p>
                      <a:pPr marL="0" indent="0">
                        <a:buNone/>
                      </a:pPr>
                      <a:r>
                        <a:rPr lang="en-US" sz="1300" dirty="0">
                          <a:solidFill>
                            <a:srgbClr val="1B2A4A"/>
                          </a:solidFill>
                        </a:rPr>
                        <a:t>Tool-using agents</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4F6F9"/>
                    </a:solidFill>
                  </a:tcPr>
                </a:tc>
                <a:extLst>
                  <a:ext uri="{0D108BD9-81ED-4DB2-BD59-A6C34878D82A}">
                    <a16:rowId xmlns:a16="http://schemas.microsoft.com/office/drawing/2014/main" val="10003"/>
                  </a:ext>
                </a:extLst>
              </a:tr>
              <a:tr h="420624">
                <a:tc>
                  <a:txBody>
                    <a:bodyPr/>
                    <a:lstStyle/>
                    <a:p>
                      <a:pPr marL="0" indent="0">
                        <a:buNone/>
                      </a:pPr>
                      <a:r>
                        <a:rPr lang="en-US" sz="1300" b="1" dirty="0">
                          <a:solidFill>
                            <a:srgbClr val="1B2A4A"/>
                          </a:solidFill>
                        </a:rPr>
                        <a:t>BootstrapFewShot</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100" dirty="0">
                          <a:solidFill>
                            <a:srgbClr val="1B2A4A"/>
                          </a:solidFill>
                          <a:latin typeface="Consolas" pitchFamily="34" charset="0"/>
                          <a:ea typeface="Consolas" pitchFamily="34" charset="-122"/>
                          <a:cs typeface="Consolas" pitchFamily="34" charset="-120"/>
                        </a:rPr>
                        <a:t>BootstrapFewShot(metric)</a:t>
                      </a:r>
                      <a:endParaRPr lang="en-US" sz="1100" dirty="0">
                        <a:latin typeface="Consolas" charset="0"/>
                        <a:ea typeface="Consolas" charset="0"/>
                        <a:cs typeface="Consolas"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300" dirty="0">
                          <a:solidFill>
                            <a:srgbClr val="1B2A4A"/>
                          </a:solidFill>
                        </a:rPr>
                        <a:t>First optimizer to try</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4"/>
                  </a:ext>
                </a:extLst>
              </a:tr>
              <a:tr h="420624">
                <a:tc>
                  <a:txBody>
                    <a:bodyPr/>
                    <a:lstStyle/>
                    <a:p>
                      <a:pPr marL="0" indent="0">
                        <a:buNone/>
                      </a:pPr>
                      <a:r>
                        <a:rPr lang="en-US" sz="1300" b="1" dirty="0">
                          <a:solidFill>
                            <a:srgbClr val="1B2A4A"/>
                          </a:solidFill>
                        </a:rPr>
                        <a:t>MIPRO</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4F6F9"/>
                    </a:solidFill>
                  </a:tcPr>
                </a:tc>
                <a:tc>
                  <a:txBody>
                    <a:bodyPr/>
                    <a:lstStyle/>
                    <a:p>
                      <a:pPr marL="0" indent="0">
                        <a:buNone/>
                      </a:pPr>
                      <a:r>
                        <a:rPr lang="en-US" sz="1100" dirty="0">
                          <a:solidFill>
                            <a:srgbClr val="1B2A4A"/>
                          </a:solidFill>
                          <a:latin typeface="Consolas" pitchFamily="34" charset="0"/>
                          <a:ea typeface="Consolas" pitchFamily="34" charset="-122"/>
                          <a:cs typeface="Consolas" pitchFamily="34" charset="-120"/>
                        </a:rPr>
                        <a:t>MIPROv2(metric, auto=...)</a:t>
                      </a:r>
                      <a:endParaRPr lang="en-US" sz="1100" dirty="0">
                        <a:latin typeface="Consolas" charset="0"/>
                        <a:ea typeface="Consolas" charset="0"/>
                        <a:cs typeface="Consolas"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4F6F9"/>
                    </a:solidFill>
                  </a:tcPr>
                </a:tc>
                <a:tc>
                  <a:txBody>
                    <a:bodyPr/>
                    <a:lstStyle/>
                    <a:p>
                      <a:pPr marL="0" indent="0">
                        <a:buNone/>
                      </a:pPr>
                      <a:r>
                        <a:rPr lang="en-US" sz="1300" dirty="0">
                          <a:solidFill>
                            <a:srgbClr val="1B2A4A"/>
                          </a:solidFill>
                        </a:rPr>
                        <a:t>Max accuracy; needs a val set</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4F6F9"/>
                    </a:solidFill>
                  </a:tcPr>
                </a:tc>
                <a:extLst>
                  <a:ext uri="{0D108BD9-81ED-4DB2-BD59-A6C34878D82A}">
                    <a16:rowId xmlns:a16="http://schemas.microsoft.com/office/drawing/2014/main" val="10005"/>
                  </a:ext>
                </a:extLst>
              </a:tr>
              <a:tr h="420624">
                <a:tc>
                  <a:txBody>
                    <a:bodyPr/>
                    <a:lstStyle/>
                    <a:p>
                      <a:pPr marL="0" indent="0">
                        <a:buNone/>
                      </a:pPr>
                      <a:r>
                        <a:rPr lang="en-US" sz="1300" b="1" dirty="0">
                          <a:solidFill>
                            <a:srgbClr val="1B2A4A"/>
                          </a:solidFill>
                        </a:rPr>
                        <a:t>Evaluate</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100" dirty="0">
                          <a:solidFill>
                            <a:srgbClr val="1B2A4A"/>
                          </a:solidFill>
                          <a:latin typeface="Consolas" pitchFamily="34" charset="0"/>
                          <a:ea typeface="Consolas" pitchFamily="34" charset="-122"/>
                          <a:cs typeface="Consolas" pitchFamily="34" charset="-120"/>
                        </a:rPr>
                        <a:t>Evaluate(devset, metric)</a:t>
                      </a:r>
                      <a:endParaRPr lang="en-US" sz="1100" dirty="0">
                        <a:latin typeface="Consolas" charset="0"/>
                        <a:ea typeface="Consolas" charset="0"/>
                        <a:cs typeface="Consolas"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300" dirty="0">
                          <a:solidFill>
                            <a:srgbClr val="1B2A4A"/>
                          </a:solidFill>
                        </a:rPr>
                        <a:t>Before/after checks, monitoring</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8229600" y="4800600"/>
            <a:ext cx="41148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A0B0C0"/>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02920" y="201168"/>
            <a:ext cx="8138160" cy="256032"/>
          </a:xfrm>
          <a:prstGeom prst="rect">
            <a:avLst/>
          </a:prstGeom>
          <a:noFill/>
          <a:ln/>
        </p:spPr>
        <p:txBody>
          <a:bodyPr wrap="square" lIns="0" tIns="0" rIns="0" bIns="0" rtlCol="0" anchor="ctr"/>
          <a:lstStyle/>
          <a:p>
            <a:pPr marL="0" indent="0">
              <a:buNone/>
            </a:pPr>
            <a:r>
              <a:rPr lang="en-US" sz="1000" b="1" kern="0" spc="300" dirty="0">
                <a:solidFill>
                  <a:srgbClr val="D4824A"/>
                </a:solidFill>
              </a:rPr>
              <a:t>PRACTICAL GUIDANCE</a:t>
            </a:r>
            <a:endParaRPr lang="en-US" sz="1000" dirty="0"/>
          </a:p>
        </p:txBody>
      </p:sp>
      <p:sp>
        <p:nvSpPr>
          <p:cNvPr id="3" name="Text 1"/>
          <p:cNvSpPr>
            <a:spLocks noGrp="1"/>
          </p:cNvSpPr>
          <p:nvPr>
            <p:ph type="title" idx="101" hasCustomPrompt="1"/>
          </p:nvPr>
        </p:nvSpPr>
        <p:spPr>
          <a:xfrm>
            <a:off x="502920" y="457200"/>
            <a:ext cx="8138160" cy="594360"/>
          </a:xfrm>
          <a:prstGeom prst="rect">
            <a:avLst/>
          </a:prstGeom>
          <a:noFill/>
          <a:ln/>
        </p:spPr>
        <p:txBody>
          <a:bodyPr wrap="square" lIns="0" tIns="0" rIns="0" bIns="0" rtlCol="0" anchor="ctr"/>
          <a:lstStyle/>
          <a:p>
            <a:pPr marL="0" indent="0" algn="l">
              <a:buNone/>
            </a:pPr>
            <a:r>
              <a:rPr lang="en-US" sz="2800" b="1" dirty="0">
                <a:solidFill>
                  <a:srgbClr val="1B2A4A"/>
                </a:solidFill>
              </a:rPr>
              <a:t>Common DSPy Mistakes and Fixes</a:t>
            </a:r>
            <a:endParaRPr lang="en-US" sz="2800" dirty="0"/>
          </a:p>
        </p:txBody>
      </p:sp>
      <p:sp>
        <p:nvSpPr>
          <p:cNvPr id="4" name="Shape 2"/>
          <p:cNvSpPr/>
          <p:nvPr/>
        </p:nvSpPr>
        <p:spPr>
          <a:xfrm>
            <a:off x="502920" y="1280160"/>
            <a:ext cx="3200400" cy="603504"/>
          </a:xfrm>
          <a:prstGeom prst="roundRect">
            <a:avLst>
              <a:gd name="adj" fmla="val 12121"/>
            </a:avLst>
          </a:prstGeom>
          <a:solidFill>
            <a:srgbClr val="FBEFE6"/>
          </a:solidFill>
          <a:ln w="12700">
            <a:solidFill>
              <a:srgbClr val="FBEFE6"/>
            </a:solidFill>
            <a:prstDash val="solid"/>
          </a:ln>
        </p:spPr>
      </p:sp>
      <p:sp>
        <p:nvSpPr>
          <p:cNvPr id="5" name="Text 3"/>
          <p:cNvSpPr txBox="1"/>
          <p:nvPr/>
        </p:nvSpPr>
        <p:spPr>
          <a:xfrm>
            <a:off x="685800" y="1280160"/>
            <a:ext cx="2926080" cy="603504"/>
          </a:xfrm>
          <a:prstGeom prst="rect">
            <a:avLst/>
          </a:prstGeom>
          <a:noFill/>
          <a:ln/>
        </p:spPr>
        <p:txBody>
          <a:bodyPr wrap="square" lIns="0" tIns="0" rIns="0" bIns="0" rtlCol="0" anchor="ctr"/>
          <a:lstStyle/>
          <a:p>
            <a:pPr marL="0" indent="0">
              <a:buNone/>
            </a:pPr>
            <a:r>
              <a:rPr lang="en-US" sz="1450" b="1" dirty="0">
                <a:solidFill>
                  <a:srgbClr val="1B2A4A"/>
                </a:solidFill>
              </a:rPr>
              <a:t>Evaluating on training data</a:t>
            </a:r>
            <a:endParaRPr lang="en-US" sz="1450" dirty="0"/>
          </a:p>
        </p:txBody>
      </p:sp>
      <p:sp>
        <p:nvSpPr>
          <p:cNvPr id="6" name="Shape 4"/>
          <p:cNvSpPr/>
          <p:nvPr/>
        </p:nvSpPr>
        <p:spPr>
          <a:xfrm>
            <a:off x="3776472" y="1581912"/>
            <a:ext cx="384048" cy="0"/>
          </a:xfrm>
          <a:prstGeom prst="line">
            <a:avLst/>
          </a:prstGeom>
          <a:noFill/>
          <a:ln w="25400">
            <a:solidFill>
              <a:srgbClr val="D4824A"/>
            </a:solidFill>
            <a:prstDash val="solid"/>
            <a:tailEnd type="triangle"/>
          </a:ln>
        </p:spPr>
      </p:sp>
      <p:sp>
        <p:nvSpPr>
          <p:cNvPr id="7" name="Shape 5"/>
          <p:cNvSpPr/>
          <p:nvPr/>
        </p:nvSpPr>
        <p:spPr>
          <a:xfrm>
            <a:off x="4251960" y="1280160"/>
            <a:ext cx="4389120" cy="603504"/>
          </a:xfrm>
          <a:prstGeom prst="roundRect">
            <a:avLst>
              <a:gd name="adj" fmla="val 12121"/>
            </a:avLst>
          </a:prstGeom>
          <a:solidFill>
            <a:srgbClr val="F4F6F9"/>
          </a:solidFill>
          <a:ln w="12700">
            <a:solidFill>
              <a:srgbClr val="F4F6F9"/>
            </a:solidFill>
            <a:prstDash val="solid"/>
          </a:ln>
        </p:spPr>
      </p:sp>
      <p:sp>
        <p:nvSpPr>
          <p:cNvPr id="8" name="Text 6"/>
          <p:cNvSpPr txBox="1"/>
          <p:nvPr/>
        </p:nvSpPr>
        <p:spPr>
          <a:xfrm>
            <a:off x="4434840" y="1280160"/>
            <a:ext cx="4069080" cy="603504"/>
          </a:xfrm>
          <a:prstGeom prst="rect">
            <a:avLst/>
          </a:prstGeom>
          <a:noFill/>
          <a:ln/>
        </p:spPr>
        <p:txBody>
          <a:bodyPr wrap="square" lIns="0" tIns="0" rIns="0" bIns="0" rtlCol="0" anchor="ctr"/>
          <a:lstStyle/>
          <a:p>
            <a:pPr marL="0" indent="0">
              <a:buNone/>
            </a:pPr>
            <a:r>
              <a:rPr lang="en-US" sz="1300" dirty="0">
                <a:solidFill>
                  <a:srgbClr val="1B2A4A"/>
                </a:solidFill>
              </a:rPr>
              <a:t>Hold out a test set and report only that score</a:t>
            </a:r>
            <a:endParaRPr lang="en-US" sz="1300" dirty="0"/>
          </a:p>
        </p:txBody>
      </p:sp>
      <p:sp>
        <p:nvSpPr>
          <p:cNvPr id="9" name="Shape 7"/>
          <p:cNvSpPr/>
          <p:nvPr/>
        </p:nvSpPr>
        <p:spPr>
          <a:xfrm>
            <a:off x="502920" y="2029968"/>
            <a:ext cx="3200400" cy="603504"/>
          </a:xfrm>
          <a:prstGeom prst="roundRect">
            <a:avLst>
              <a:gd name="adj" fmla="val 12121"/>
            </a:avLst>
          </a:prstGeom>
          <a:solidFill>
            <a:srgbClr val="FBEFE6"/>
          </a:solidFill>
          <a:ln w="12700">
            <a:solidFill>
              <a:srgbClr val="FBEFE6"/>
            </a:solidFill>
            <a:prstDash val="solid"/>
          </a:ln>
        </p:spPr>
      </p:sp>
      <p:sp>
        <p:nvSpPr>
          <p:cNvPr id="10" name="Text 8"/>
          <p:cNvSpPr txBox="1"/>
          <p:nvPr/>
        </p:nvSpPr>
        <p:spPr>
          <a:xfrm>
            <a:off x="685800" y="2029968"/>
            <a:ext cx="2926080" cy="603504"/>
          </a:xfrm>
          <a:prstGeom prst="rect">
            <a:avLst/>
          </a:prstGeom>
          <a:noFill/>
          <a:ln/>
        </p:spPr>
        <p:txBody>
          <a:bodyPr wrap="square" lIns="0" tIns="0" rIns="0" bIns="0" rtlCol="0" anchor="ctr"/>
          <a:lstStyle/>
          <a:p>
            <a:pPr marL="0" indent="0">
              <a:buNone/>
            </a:pPr>
            <a:r>
              <a:rPr lang="en-US" sz="1450" b="1" dirty="0">
                <a:solidFill>
                  <a:srgbClr val="1B2A4A"/>
                </a:solidFill>
              </a:rPr>
              <a:t>Weak or proxy metric</a:t>
            </a:r>
            <a:endParaRPr lang="en-US" sz="1450" dirty="0"/>
          </a:p>
        </p:txBody>
      </p:sp>
      <p:sp>
        <p:nvSpPr>
          <p:cNvPr id="11" name="Shape 9"/>
          <p:cNvSpPr/>
          <p:nvPr/>
        </p:nvSpPr>
        <p:spPr>
          <a:xfrm>
            <a:off x="3776472" y="2331720"/>
            <a:ext cx="384048" cy="0"/>
          </a:xfrm>
          <a:prstGeom prst="line">
            <a:avLst/>
          </a:prstGeom>
          <a:noFill/>
          <a:ln w="25400">
            <a:solidFill>
              <a:srgbClr val="D4824A"/>
            </a:solidFill>
            <a:prstDash val="solid"/>
            <a:tailEnd type="triangle"/>
          </a:ln>
        </p:spPr>
      </p:sp>
      <p:sp>
        <p:nvSpPr>
          <p:cNvPr id="12" name="Shape 10"/>
          <p:cNvSpPr/>
          <p:nvPr/>
        </p:nvSpPr>
        <p:spPr>
          <a:xfrm>
            <a:off x="4251960" y="2029968"/>
            <a:ext cx="4389120" cy="603504"/>
          </a:xfrm>
          <a:prstGeom prst="roundRect">
            <a:avLst>
              <a:gd name="adj" fmla="val 12121"/>
            </a:avLst>
          </a:prstGeom>
          <a:solidFill>
            <a:srgbClr val="F4F6F9"/>
          </a:solidFill>
          <a:ln w="12700">
            <a:solidFill>
              <a:srgbClr val="F4F6F9"/>
            </a:solidFill>
            <a:prstDash val="solid"/>
          </a:ln>
        </p:spPr>
      </p:sp>
      <p:sp>
        <p:nvSpPr>
          <p:cNvPr id="13" name="Text 11"/>
          <p:cNvSpPr txBox="1"/>
          <p:nvPr/>
        </p:nvSpPr>
        <p:spPr>
          <a:xfrm>
            <a:off x="4434840" y="2029968"/>
            <a:ext cx="4069080" cy="603504"/>
          </a:xfrm>
          <a:prstGeom prst="rect">
            <a:avLst/>
          </a:prstGeom>
          <a:noFill/>
          <a:ln/>
        </p:spPr>
        <p:txBody>
          <a:bodyPr wrap="square" lIns="0" tIns="0" rIns="0" bIns="0" rtlCol="0" anchor="ctr"/>
          <a:lstStyle/>
          <a:p>
            <a:pPr marL="0" indent="0">
              <a:buNone/>
            </a:pPr>
            <a:r>
              <a:rPr lang="en-US" sz="1300" dirty="0">
                <a:solidFill>
                  <a:srgbClr val="1B2A4A"/>
                </a:solidFill>
              </a:rPr>
              <a:t>Make the metric match the real user goal</a:t>
            </a:r>
            <a:endParaRPr lang="en-US" sz="1300" dirty="0"/>
          </a:p>
        </p:txBody>
      </p:sp>
      <p:sp>
        <p:nvSpPr>
          <p:cNvPr id="14" name="Shape 12"/>
          <p:cNvSpPr/>
          <p:nvPr/>
        </p:nvSpPr>
        <p:spPr>
          <a:xfrm>
            <a:off x="502920" y="2779776"/>
            <a:ext cx="3200400" cy="603504"/>
          </a:xfrm>
          <a:prstGeom prst="roundRect">
            <a:avLst>
              <a:gd name="adj" fmla="val 12121"/>
            </a:avLst>
          </a:prstGeom>
          <a:solidFill>
            <a:srgbClr val="FBEFE6"/>
          </a:solidFill>
          <a:ln w="12700">
            <a:solidFill>
              <a:srgbClr val="FBEFE6"/>
            </a:solidFill>
            <a:prstDash val="solid"/>
          </a:ln>
        </p:spPr>
      </p:sp>
      <p:sp>
        <p:nvSpPr>
          <p:cNvPr id="15" name="Text 13"/>
          <p:cNvSpPr txBox="1"/>
          <p:nvPr/>
        </p:nvSpPr>
        <p:spPr>
          <a:xfrm>
            <a:off x="685800" y="2779776"/>
            <a:ext cx="2926080" cy="603504"/>
          </a:xfrm>
          <a:prstGeom prst="rect">
            <a:avLst/>
          </a:prstGeom>
          <a:noFill/>
          <a:ln/>
        </p:spPr>
        <p:txBody>
          <a:bodyPr wrap="square" lIns="0" tIns="0" rIns="0" bIns="0" rtlCol="0" anchor="ctr"/>
          <a:lstStyle/>
          <a:p>
            <a:pPr marL="0" indent="0">
              <a:buNone/>
            </a:pPr>
            <a:r>
              <a:rPr lang="en-US" sz="1450" b="1" dirty="0">
                <a:solidFill>
                  <a:srgbClr val="1B2A4A"/>
                </a:solidFill>
              </a:rPr>
              <a:t>Auto-recompiling on model updates</a:t>
            </a:r>
            <a:endParaRPr lang="en-US" sz="1450" dirty="0"/>
          </a:p>
        </p:txBody>
      </p:sp>
      <p:sp>
        <p:nvSpPr>
          <p:cNvPr id="16" name="Shape 14"/>
          <p:cNvSpPr/>
          <p:nvPr/>
        </p:nvSpPr>
        <p:spPr>
          <a:xfrm>
            <a:off x="3776472" y="3081528"/>
            <a:ext cx="384048" cy="0"/>
          </a:xfrm>
          <a:prstGeom prst="line">
            <a:avLst/>
          </a:prstGeom>
          <a:noFill/>
          <a:ln w="25400">
            <a:solidFill>
              <a:srgbClr val="D4824A"/>
            </a:solidFill>
            <a:prstDash val="solid"/>
            <a:tailEnd type="triangle"/>
          </a:ln>
        </p:spPr>
      </p:sp>
      <p:sp>
        <p:nvSpPr>
          <p:cNvPr id="17" name="Shape 15"/>
          <p:cNvSpPr/>
          <p:nvPr/>
        </p:nvSpPr>
        <p:spPr>
          <a:xfrm>
            <a:off x="4251960" y="2779776"/>
            <a:ext cx="4389120" cy="603504"/>
          </a:xfrm>
          <a:prstGeom prst="roundRect">
            <a:avLst>
              <a:gd name="adj" fmla="val 12121"/>
            </a:avLst>
          </a:prstGeom>
          <a:solidFill>
            <a:srgbClr val="F4F6F9"/>
          </a:solidFill>
          <a:ln w="12700">
            <a:solidFill>
              <a:srgbClr val="F4F6F9"/>
            </a:solidFill>
            <a:prstDash val="solid"/>
          </a:ln>
        </p:spPr>
      </p:sp>
      <p:sp>
        <p:nvSpPr>
          <p:cNvPr id="18" name="Text 16"/>
          <p:cNvSpPr txBox="1"/>
          <p:nvPr/>
        </p:nvSpPr>
        <p:spPr>
          <a:xfrm>
            <a:off x="4434840" y="2779776"/>
            <a:ext cx="4069080" cy="603504"/>
          </a:xfrm>
          <a:prstGeom prst="rect">
            <a:avLst/>
          </a:prstGeom>
          <a:noFill/>
          <a:ln/>
        </p:spPr>
        <p:txBody>
          <a:bodyPr wrap="square" lIns="0" tIns="0" rIns="0" bIns="0" rtlCol="0" anchor="ctr"/>
          <a:lstStyle/>
          <a:p>
            <a:pPr marL="0" indent="0">
              <a:buNone/>
            </a:pPr>
            <a:r>
              <a:rPr lang="en-US" sz="1300" dirty="0">
                <a:solidFill>
                  <a:srgbClr val="1B2A4A"/>
                </a:solidFill>
              </a:rPr>
              <a:t>Recompile deliberately, then evaluate before deploying</a:t>
            </a:r>
            <a:endParaRPr lang="en-US" sz="1300" dirty="0"/>
          </a:p>
        </p:txBody>
      </p:sp>
      <p:sp>
        <p:nvSpPr>
          <p:cNvPr id="19" name="Shape 17"/>
          <p:cNvSpPr/>
          <p:nvPr/>
        </p:nvSpPr>
        <p:spPr>
          <a:xfrm>
            <a:off x="502920" y="3529584"/>
            <a:ext cx="3200400" cy="603504"/>
          </a:xfrm>
          <a:prstGeom prst="roundRect">
            <a:avLst>
              <a:gd name="adj" fmla="val 12121"/>
            </a:avLst>
          </a:prstGeom>
          <a:solidFill>
            <a:srgbClr val="FBEFE6"/>
          </a:solidFill>
          <a:ln w="12700">
            <a:solidFill>
              <a:srgbClr val="FBEFE6"/>
            </a:solidFill>
            <a:prstDash val="solid"/>
          </a:ln>
        </p:spPr>
      </p:sp>
      <p:sp>
        <p:nvSpPr>
          <p:cNvPr id="20" name="Text 18"/>
          <p:cNvSpPr txBox="1"/>
          <p:nvPr/>
        </p:nvSpPr>
        <p:spPr>
          <a:xfrm>
            <a:off x="685800" y="3529584"/>
            <a:ext cx="2926080" cy="603504"/>
          </a:xfrm>
          <a:prstGeom prst="rect">
            <a:avLst/>
          </a:prstGeom>
          <a:noFill/>
          <a:ln/>
        </p:spPr>
        <p:txBody>
          <a:bodyPr wrap="square" lIns="0" tIns="0" rIns="0" bIns="0" rtlCol="0" anchor="ctr"/>
          <a:lstStyle/>
          <a:p>
            <a:pPr marL="0" indent="0">
              <a:buNone/>
            </a:pPr>
            <a:r>
              <a:rPr lang="en-US" sz="1450" b="1" dirty="0">
                <a:solidFill>
                  <a:srgbClr val="1B2A4A"/>
                </a:solidFill>
              </a:rPr>
              <a:t>Vague OutputField descriptions</a:t>
            </a:r>
            <a:endParaRPr lang="en-US" sz="1450" dirty="0"/>
          </a:p>
        </p:txBody>
      </p:sp>
      <p:sp>
        <p:nvSpPr>
          <p:cNvPr id="21" name="Shape 19"/>
          <p:cNvSpPr/>
          <p:nvPr/>
        </p:nvSpPr>
        <p:spPr>
          <a:xfrm>
            <a:off x="3776472" y="3831336"/>
            <a:ext cx="384048" cy="0"/>
          </a:xfrm>
          <a:prstGeom prst="line">
            <a:avLst/>
          </a:prstGeom>
          <a:noFill/>
          <a:ln w="25400">
            <a:solidFill>
              <a:srgbClr val="D4824A"/>
            </a:solidFill>
            <a:prstDash val="solid"/>
            <a:tailEnd type="triangle"/>
          </a:ln>
        </p:spPr>
      </p:sp>
      <p:sp>
        <p:nvSpPr>
          <p:cNvPr id="22" name="Shape 20"/>
          <p:cNvSpPr/>
          <p:nvPr/>
        </p:nvSpPr>
        <p:spPr>
          <a:xfrm>
            <a:off x="4251960" y="3529584"/>
            <a:ext cx="4389120" cy="603504"/>
          </a:xfrm>
          <a:prstGeom prst="roundRect">
            <a:avLst>
              <a:gd name="adj" fmla="val 12121"/>
            </a:avLst>
          </a:prstGeom>
          <a:solidFill>
            <a:srgbClr val="F4F6F9"/>
          </a:solidFill>
          <a:ln w="12700">
            <a:solidFill>
              <a:srgbClr val="F4F6F9"/>
            </a:solidFill>
            <a:prstDash val="solid"/>
          </a:ln>
        </p:spPr>
      </p:sp>
      <p:sp>
        <p:nvSpPr>
          <p:cNvPr id="23" name="Text 21"/>
          <p:cNvSpPr txBox="1"/>
          <p:nvPr/>
        </p:nvSpPr>
        <p:spPr>
          <a:xfrm>
            <a:off x="4434840" y="3529584"/>
            <a:ext cx="4069080" cy="603504"/>
          </a:xfrm>
          <a:prstGeom prst="rect">
            <a:avLst/>
          </a:prstGeom>
          <a:noFill/>
          <a:ln/>
        </p:spPr>
        <p:txBody>
          <a:bodyPr wrap="square" lIns="0" tIns="0" rIns="0" bIns="0" rtlCol="0" anchor="ctr"/>
          <a:lstStyle/>
          <a:p>
            <a:pPr marL="0" indent="0">
              <a:buNone/>
            </a:pPr>
            <a:r>
              <a:rPr lang="en-US" sz="1300" dirty="0">
                <a:solidFill>
                  <a:srgbClr val="1B2A4A"/>
                </a:solidFill>
              </a:rPr>
              <a:t>desc="positive, negative or neutral (one word)"</a:t>
            </a:r>
            <a:endParaRPr lang="en-US" sz="1300" dirty="0"/>
          </a:p>
        </p:txBody>
      </p:sp>
      <p:sp>
        <p:nvSpPr>
          <p:cNvPr id="25" name="Slide Number Placeholder 0"/>
          <p:cNvSpPr>
            <a:spLocks noGrp="1"/>
          </p:cNvSpPr>
          <p:nvPr>
            <p:ph type="sldNum" sz="quarter" idx="4294967295"/>
          </p:nvPr>
        </p:nvSpPr>
        <p:spPr>
          <a:xfrm>
            <a:off x="8229600" y="4800600"/>
            <a:ext cx="41148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A0B0C0"/>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02920" y="411480"/>
            <a:ext cx="7315200" cy="274320"/>
          </a:xfrm>
          <a:prstGeom prst="rect">
            <a:avLst/>
          </a:prstGeom>
          <a:noFill/>
          <a:ln/>
        </p:spPr>
        <p:txBody>
          <a:bodyPr wrap="square" lIns="0" tIns="0" rIns="0" bIns="0" rtlCol="0" anchor="ctr"/>
          <a:lstStyle/>
          <a:p>
            <a:pPr marL="0" indent="0">
              <a:buNone/>
            </a:pPr>
            <a:r>
              <a:rPr lang="en-US" sz="1100" b="1" kern="0" spc="400" dirty="0">
                <a:solidFill>
                  <a:srgbClr val="D4824A"/>
                </a:solidFill>
              </a:rPr>
              <a:t>KEY TAKEAWAYS</a:t>
            </a:r>
            <a:endParaRPr lang="en-US" sz="1100" dirty="0"/>
          </a:p>
        </p:txBody>
      </p:sp>
      <p:sp>
        <p:nvSpPr>
          <p:cNvPr id="3" name="Text 1"/>
          <p:cNvSpPr txBox="1"/>
          <p:nvPr/>
        </p:nvSpPr>
        <p:spPr>
          <a:xfrm>
            <a:off x="502920" y="731520"/>
            <a:ext cx="8138160" cy="594360"/>
          </a:xfrm>
          <a:prstGeom prst="rect">
            <a:avLst/>
          </a:prstGeom>
          <a:noFill/>
          <a:ln/>
        </p:spPr>
        <p:txBody>
          <a:bodyPr wrap="square" lIns="0" tIns="0" rIns="0" bIns="0" rtlCol="0" anchor="ctr"/>
          <a:lstStyle/>
          <a:p>
            <a:pPr marL="0" indent="0">
              <a:buNone/>
            </a:pPr>
            <a:r>
              <a:rPr lang="en-US" sz="3000" b="1" dirty="0">
                <a:solidFill>
                  <a:srgbClr val="FFFFFF"/>
                </a:solidFill>
              </a:rPr>
              <a:t>Three Things to Remember</a:t>
            </a:r>
            <a:endParaRPr lang="en-US" sz="3000" dirty="0"/>
          </a:p>
        </p:txBody>
      </p:sp>
      <p:sp>
        <p:nvSpPr>
          <p:cNvPr id="4" name="Shape 2"/>
          <p:cNvSpPr/>
          <p:nvPr/>
        </p:nvSpPr>
        <p:spPr>
          <a:xfrm>
            <a:off x="502920" y="1691640"/>
            <a:ext cx="2514600" cy="2468880"/>
          </a:xfrm>
          <a:prstGeom prst="roundRect">
            <a:avLst>
              <a:gd name="adj" fmla="val 3704"/>
            </a:avLst>
          </a:prstGeom>
          <a:solidFill>
            <a:srgbClr val="243353"/>
          </a:solidFill>
          <a:ln w="12700">
            <a:solidFill>
              <a:srgbClr val="243353"/>
            </a:solidFill>
            <a:prstDash val="solid"/>
          </a:ln>
        </p:spPr>
      </p:sp>
      <p:sp>
        <p:nvSpPr>
          <p:cNvPr id="5" name="Shape 3"/>
          <p:cNvSpPr/>
          <p:nvPr/>
        </p:nvSpPr>
        <p:spPr>
          <a:xfrm>
            <a:off x="777240" y="1920240"/>
            <a:ext cx="548640" cy="548640"/>
          </a:xfrm>
          <a:prstGeom prst="ellipse">
            <a:avLst/>
          </a:prstGeom>
          <a:solidFill>
            <a:srgbClr val="D4824A"/>
          </a:solidFill>
          <a:ln w="12700">
            <a:solidFill>
              <a:srgbClr val="D4824A"/>
            </a:solidFill>
            <a:prstDash val="solid"/>
          </a:ln>
        </p:spPr>
      </p:sp>
      <p:sp>
        <p:nvSpPr>
          <p:cNvPr id="6" name="Text 4"/>
          <p:cNvSpPr txBox="1"/>
          <p:nvPr/>
        </p:nvSpPr>
        <p:spPr>
          <a:xfrm>
            <a:off x="777240" y="192024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rPr>
              <a:t>1</a:t>
            </a:r>
            <a:endParaRPr lang="en-US" sz="1800" dirty="0"/>
          </a:p>
        </p:txBody>
      </p:sp>
      <p:sp>
        <p:nvSpPr>
          <p:cNvPr id="7" name="Text 5"/>
          <p:cNvSpPr txBox="1"/>
          <p:nvPr/>
        </p:nvSpPr>
        <p:spPr>
          <a:xfrm>
            <a:off x="777240" y="2651760"/>
            <a:ext cx="1965960" cy="411480"/>
          </a:xfrm>
          <a:prstGeom prst="rect">
            <a:avLst/>
          </a:prstGeom>
          <a:noFill/>
          <a:ln/>
        </p:spPr>
        <p:txBody>
          <a:bodyPr wrap="square" lIns="0" tIns="0" rIns="0" bIns="0" rtlCol="0" anchor="ctr"/>
          <a:lstStyle/>
          <a:p>
            <a:pPr marL="0" indent="0">
              <a:buNone/>
            </a:pPr>
            <a:r>
              <a:rPr lang="en-US" sz="1800" b="1" dirty="0">
                <a:solidFill>
                  <a:srgbClr val="FFFFFF"/>
                </a:solidFill>
              </a:rPr>
              <a:t>Signatures</a:t>
            </a:r>
            <a:endParaRPr lang="en-US" sz="1800" dirty="0"/>
          </a:p>
        </p:txBody>
      </p:sp>
      <p:sp>
        <p:nvSpPr>
          <p:cNvPr id="8" name="Text 6"/>
          <p:cNvSpPr txBox="1"/>
          <p:nvPr/>
        </p:nvSpPr>
        <p:spPr>
          <a:xfrm>
            <a:off x="777240" y="3108960"/>
            <a:ext cx="1965960" cy="914400"/>
          </a:xfrm>
          <a:prstGeom prst="rect">
            <a:avLst/>
          </a:prstGeom>
          <a:noFill/>
          <a:ln/>
        </p:spPr>
        <p:txBody>
          <a:bodyPr wrap="square" lIns="0" tIns="0" rIns="0" bIns="0" rtlCol="0" anchor="t"/>
          <a:lstStyle/>
          <a:p>
            <a:pPr marL="0" indent="0">
              <a:buNone/>
            </a:pPr>
            <a:r>
              <a:rPr lang="en-US" sz="1350" dirty="0">
                <a:solidFill>
                  <a:srgbClr val="C8D8E8"/>
                </a:solidFill>
              </a:rPr>
              <a:t>Define what goes in and out. DSPy writes the prompt.</a:t>
            </a:r>
            <a:endParaRPr lang="en-US" sz="1350" dirty="0"/>
          </a:p>
        </p:txBody>
      </p:sp>
      <p:sp>
        <p:nvSpPr>
          <p:cNvPr id="9" name="Shape 7"/>
          <p:cNvSpPr/>
          <p:nvPr/>
        </p:nvSpPr>
        <p:spPr>
          <a:xfrm>
            <a:off x="3314700" y="1691640"/>
            <a:ext cx="2514600" cy="2468880"/>
          </a:xfrm>
          <a:prstGeom prst="roundRect">
            <a:avLst>
              <a:gd name="adj" fmla="val 3704"/>
            </a:avLst>
          </a:prstGeom>
          <a:solidFill>
            <a:srgbClr val="243353"/>
          </a:solidFill>
          <a:ln w="12700">
            <a:solidFill>
              <a:srgbClr val="243353"/>
            </a:solidFill>
            <a:prstDash val="solid"/>
          </a:ln>
        </p:spPr>
      </p:sp>
      <p:sp>
        <p:nvSpPr>
          <p:cNvPr id="10" name="Shape 8"/>
          <p:cNvSpPr/>
          <p:nvPr/>
        </p:nvSpPr>
        <p:spPr>
          <a:xfrm>
            <a:off x="3589020" y="1920240"/>
            <a:ext cx="548640" cy="548640"/>
          </a:xfrm>
          <a:prstGeom prst="ellipse">
            <a:avLst/>
          </a:prstGeom>
          <a:solidFill>
            <a:srgbClr val="D4824A"/>
          </a:solidFill>
          <a:ln w="12700">
            <a:solidFill>
              <a:srgbClr val="D4824A"/>
            </a:solidFill>
            <a:prstDash val="solid"/>
          </a:ln>
        </p:spPr>
      </p:sp>
      <p:sp>
        <p:nvSpPr>
          <p:cNvPr id="11" name="Text 9"/>
          <p:cNvSpPr txBox="1"/>
          <p:nvPr/>
        </p:nvSpPr>
        <p:spPr>
          <a:xfrm>
            <a:off x="3589020" y="192024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rPr>
              <a:t>2</a:t>
            </a:r>
            <a:endParaRPr lang="en-US" sz="1800" dirty="0"/>
          </a:p>
        </p:txBody>
      </p:sp>
      <p:sp>
        <p:nvSpPr>
          <p:cNvPr id="12" name="Text 10"/>
          <p:cNvSpPr txBox="1"/>
          <p:nvPr/>
        </p:nvSpPr>
        <p:spPr>
          <a:xfrm>
            <a:off x="3589020" y="2651760"/>
            <a:ext cx="1965960" cy="411480"/>
          </a:xfrm>
          <a:prstGeom prst="rect">
            <a:avLst/>
          </a:prstGeom>
          <a:noFill/>
          <a:ln/>
        </p:spPr>
        <p:txBody>
          <a:bodyPr wrap="square" lIns="0" tIns="0" rIns="0" bIns="0" rtlCol="0" anchor="ctr"/>
          <a:lstStyle/>
          <a:p>
            <a:pPr marL="0" indent="0">
              <a:buNone/>
            </a:pPr>
            <a:r>
              <a:rPr lang="en-US" sz="1800" b="1" dirty="0">
                <a:solidFill>
                  <a:srgbClr val="FFFFFF"/>
                </a:solidFill>
              </a:rPr>
              <a:t>Metrics</a:t>
            </a:r>
            <a:endParaRPr lang="en-US" sz="1800" dirty="0"/>
          </a:p>
        </p:txBody>
      </p:sp>
      <p:sp>
        <p:nvSpPr>
          <p:cNvPr id="13" name="Text 11"/>
          <p:cNvSpPr txBox="1"/>
          <p:nvPr/>
        </p:nvSpPr>
        <p:spPr>
          <a:xfrm>
            <a:off x="3589020" y="3108960"/>
            <a:ext cx="1965960" cy="914400"/>
          </a:xfrm>
          <a:prstGeom prst="rect">
            <a:avLst/>
          </a:prstGeom>
          <a:noFill/>
          <a:ln/>
        </p:spPr>
        <p:txBody>
          <a:bodyPr wrap="square" lIns="0" tIns="0" rIns="0" bIns="0" rtlCol="0" anchor="t"/>
          <a:lstStyle/>
          <a:p>
            <a:pPr marL="0" indent="0">
              <a:buNone/>
            </a:pPr>
            <a:r>
              <a:rPr lang="en-US" sz="1350" dirty="0">
                <a:solidFill>
                  <a:srgbClr val="C8D8E8"/>
                </a:solidFill>
              </a:rPr>
              <a:t>The optimizer is only as good as the metric you give it.</a:t>
            </a:r>
            <a:endParaRPr lang="en-US" sz="1350" dirty="0"/>
          </a:p>
        </p:txBody>
      </p:sp>
      <p:sp>
        <p:nvSpPr>
          <p:cNvPr id="14" name="Shape 12"/>
          <p:cNvSpPr/>
          <p:nvPr/>
        </p:nvSpPr>
        <p:spPr>
          <a:xfrm>
            <a:off x="6126480" y="1691640"/>
            <a:ext cx="2514600" cy="2468880"/>
          </a:xfrm>
          <a:prstGeom prst="roundRect">
            <a:avLst>
              <a:gd name="adj" fmla="val 3704"/>
            </a:avLst>
          </a:prstGeom>
          <a:solidFill>
            <a:srgbClr val="243353"/>
          </a:solidFill>
          <a:ln w="12700">
            <a:solidFill>
              <a:srgbClr val="243353"/>
            </a:solidFill>
            <a:prstDash val="solid"/>
          </a:ln>
        </p:spPr>
      </p:sp>
      <p:sp>
        <p:nvSpPr>
          <p:cNvPr id="15" name="Shape 13"/>
          <p:cNvSpPr/>
          <p:nvPr/>
        </p:nvSpPr>
        <p:spPr>
          <a:xfrm>
            <a:off x="6400800" y="1920240"/>
            <a:ext cx="548640" cy="548640"/>
          </a:xfrm>
          <a:prstGeom prst="ellipse">
            <a:avLst/>
          </a:prstGeom>
          <a:solidFill>
            <a:srgbClr val="D4824A"/>
          </a:solidFill>
          <a:ln w="12700">
            <a:solidFill>
              <a:srgbClr val="D4824A"/>
            </a:solidFill>
            <a:prstDash val="solid"/>
          </a:ln>
        </p:spPr>
      </p:sp>
      <p:sp>
        <p:nvSpPr>
          <p:cNvPr id="16" name="Text 14"/>
          <p:cNvSpPr txBox="1"/>
          <p:nvPr/>
        </p:nvSpPr>
        <p:spPr>
          <a:xfrm>
            <a:off x="6400800" y="192024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rPr>
              <a:t>3</a:t>
            </a:r>
            <a:endParaRPr lang="en-US" sz="1800" dirty="0"/>
          </a:p>
        </p:txBody>
      </p:sp>
      <p:sp>
        <p:nvSpPr>
          <p:cNvPr id="17" name="Text 15"/>
          <p:cNvSpPr txBox="1"/>
          <p:nvPr/>
        </p:nvSpPr>
        <p:spPr>
          <a:xfrm>
            <a:off x="6400800" y="2651760"/>
            <a:ext cx="1965960" cy="411480"/>
          </a:xfrm>
          <a:prstGeom prst="rect">
            <a:avLst/>
          </a:prstGeom>
          <a:noFill/>
          <a:ln/>
        </p:spPr>
        <p:txBody>
          <a:bodyPr wrap="square" lIns="0" tIns="0" rIns="0" bIns="0" rtlCol="0" anchor="ctr"/>
          <a:lstStyle/>
          <a:p>
            <a:pPr marL="0" indent="0">
              <a:buNone/>
            </a:pPr>
            <a:r>
              <a:rPr lang="en-US" sz="1800" b="1" dirty="0">
                <a:solidFill>
                  <a:srgbClr val="FFFFFF"/>
                </a:solidFill>
              </a:rPr>
              <a:t>Compile once</a:t>
            </a:r>
            <a:endParaRPr lang="en-US" sz="1800" dirty="0"/>
          </a:p>
        </p:txBody>
      </p:sp>
      <p:sp>
        <p:nvSpPr>
          <p:cNvPr id="18" name="Text 16"/>
          <p:cNvSpPr txBox="1"/>
          <p:nvPr/>
        </p:nvSpPr>
        <p:spPr>
          <a:xfrm>
            <a:off x="6400800" y="3108960"/>
            <a:ext cx="1965960" cy="914400"/>
          </a:xfrm>
          <a:prstGeom prst="rect">
            <a:avLst/>
          </a:prstGeom>
          <a:noFill/>
          <a:ln/>
        </p:spPr>
        <p:txBody>
          <a:bodyPr wrap="square" lIns="0" tIns="0" rIns="0" bIns="0" rtlCol="0" anchor="t"/>
          <a:lstStyle/>
          <a:p>
            <a:pPr marL="0" indent="0">
              <a:buNone/>
            </a:pPr>
            <a:r>
              <a:rPr lang="en-US" sz="1350" dirty="0">
                <a:solidFill>
                  <a:srgbClr val="C8D8E8"/>
                </a:solidFill>
              </a:rPr>
              <a:t>Compile offline, version the JSON, deploy many times.</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6894</Words>
  <Application>Microsoft Office PowerPoint</Application>
  <PresentationFormat>On-screen Show (16:9)</PresentationFormat>
  <Paragraphs>611</Paragraphs>
  <Slides>26</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Consolas</vt:lpstr>
      <vt:lpstr>Office Theme</vt:lpstr>
      <vt:lpstr>PowerPoint Presentation</vt:lpstr>
      <vt:lpstr>What We'll Cover</vt:lpstr>
      <vt:lpstr>Why DSPy?</vt:lpstr>
      <vt:lpstr>PowerPoint Presentation</vt:lpstr>
      <vt:lpstr>DSPy in One Picture: 4 Building Blocks</vt:lpstr>
      <vt:lpstr>Signature = Input + Output</vt:lpstr>
      <vt:lpstr>Your First DSPy Signature</vt:lpstr>
      <vt:lpstr>Module = How the Task Is Done</vt:lpstr>
      <vt:lpstr>Modules and Signatures</vt:lpstr>
      <vt:lpstr>Predict, ChainOfThought, and ReAct</vt:lpstr>
      <vt:lpstr>What Does "Optimization" Mean?</vt:lpstr>
      <vt:lpstr>BootstrapFewShot</vt:lpstr>
      <vt:lpstr>MIPRO: Instructions + Examples (Multiprompt Instruction PRoposal Optimizer )</vt:lpstr>
      <vt:lpstr>The Complete DSPy Workflow</vt:lpstr>
      <vt:lpstr>Compiling DSPy Programs</vt:lpstr>
      <vt:lpstr>Metric Functions and Evaluation</vt:lpstr>
      <vt:lpstr>Validating DSPy Programs</vt:lpstr>
      <vt:lpstr>DSPy Without the Jargon</vt:lpstr>
      <vt:lpstr>ReAct Modules in DSPy</vt:lpstr>
      <vt:lpstr>DSPy with Multiple LLMs</vt:lpstr>
      <vt:lpstr>Self-Improving Pipelines</vt:lpstr>
      <vt:lpstr>DSPy vs Manual Prompting</vt:lpstr>
      <vt:lpstr>Production Deployment</vt:lpstr>
      <vt:lpstr>Modules and Optimizers at a Glance</vt:lpstr>
      <vt:lpstr>Common DSPy Mistakes and Fixes</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8: Prompt Optimization, Evaluation, and DSPy</dc:title>
  <dc:subject>PptxGenJS Presentation</dc:subject>
  <dc:creator>Atul Kahate</dc:creator>
  <cp:lastModifiedBy>Atul Kahate</cp:lastModifiedBy>
  <cp:revision>3</cp:revision>
  <dcterms:created xsi:type="dcterms:W3CDTF">2026-10-02T09:00:47Z</dcterms:created>
  <dcterms:modified xsi:type="dcterms:W3CDTF">2026-10-04T14:27:48Z</dcterms:modified>
</cp:coreProperties>
</file>