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4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3048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21D33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846320"/>
            <a:ext cx="3840480" cy="3840480"/>
          </a:xfrm>
          <a:prstGeom prst="ellipse">
            <a:avLst/>
          </a:prstGeom>
          <a:solidFill>
            <a:srgbClr val="121D3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40280"/>
            <a:ext cx="9601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Advanced Prompt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822960" y="4297680"/>
            <a:ext cx="1005840" cy="0"/>
          </a:xfrm>
          <a:prstGeom prst="line">
            <a:avLst/>
          </a:prstGeom>
          <a:noFill/>
          <a:ln w="38100">
            <a:solidFill>
              <a:srgbClr val="F2A65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480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Atul Kahate</a:t>
            </a:r>
          </a:p>
          <a:p>
            <a:r>
              <a:rPr lang="en-US" sz="1500" dirty="0">
                <a:solidFill>
                  <a:schemeClr val="bg1"/>
                </a:solidFill>
              </a:rPr>
              <a:t>https://www.linkedin.com/in/atulkahate/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themes, moving from making the model reason better to running prompts safely and at scale.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074920" cy="1920240"/>
          </a:xfrm>
          <a:prstGeom prst="roundRect">
            <a:avLst>
              <a:gd name="adj" fmla="val 4762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434840" y="210312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E8ED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822960" y="2240280"/>
            <a:ext cx="594360" cy="5943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0" descr="/home/claude/icons/sitemap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691" y="2374011"/>
            <a:ext cx="326898" cy="32689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4028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Reasoning Techniques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926080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Chain-of-Thought, Tree-of-Thought, Self-Consistency, Generated Knowledge, Step-Back, and Least-to-Most prompting.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989320" y="1965960"/>
            <a:ext cx="5074920" cy="1920240"/>
          </a:xfrm>
          <a:prstGeom prst="roundRect">
            <a:avLst>
              <a:gd name="adj" fmla="val 4762"/>
            </a:avLst>
          </a:prstGeom>
          <a:solidFill>
            <a:srgbClr val="F7F9F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875520" y="210312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E8ED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3" name="Shape 10"/>
          <p:cNvSpPr/>
          <p:nvPr/>
        </p:nvSpPr>
        <p:spPr>
          <a:xfrm>
            <a:off x="6263640" y="2240280"/>
            <a:ext cx="594360" cy="5943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4" name="Image 1" descr="/home/claude/icons/shiel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7371" y="2374011"/>
            <a:ext cx="326898" cy="32689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040880" y="224028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Prompt Security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6263640" y="2926080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prompting, injection attack patterns, common vulnerabilities, and how to defend against them.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48640" y="4160520"/>
            <a:ext cx="5074920" cy="1920240"/>
          </a:xfrm>
          <a:prstGeom prst="roundRect">
            <a:avLst>
              <a:gd name="adj" fmla="val 4762"/>
            </a:avLst>
          </a:prstGeom>
          <a:solidFill>
            <a:srgbClr val="F7F9F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434840" y="429768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E8ED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19" name="Shape 15"/>
          <p:cNvSpPr/>
          <p:nvPr/>
        </p:nvSpPr>
        <p:spPr>
          <a:xfrm>
            <a:off x="822960" y="4434840"/>
            <a:ext cx="594360" cy="5943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0" name="Image 2" descr="/home/claude/icons/diagram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691" y="4568571"/>
            <a:ext cx="326898" cy="32689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600200" y="44348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Scaling Prompt Engineering</a:t>
            </a:r>
            <a:endParaRPr lang="en-US" sz="1550" dirty="0"/>
          </a:p>
        </p:txBody>
      </p:sp>
      <p:sp>
        <p:nvSpPr>
          <p:cNvPr id="22" name="Text 17"/>
          <p:cNvSpPr txBox="1"/>
          <p:nvPr/>
        </p:nvSpPr>
        <p:spPr>
          <a:xfrm>
            <a:off x="822960" y="5120640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Auto-generating prompts, semantic search for prompt selection, and context window summarization.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5989320" y="4160520"/>
            <a:ext cx="5074920" cy="1920240"/>
          </a:xfrm>
          <a:prstGeom prst="roundRect">
            <a:avLst>
              <a:gd name="adj" fmla="val 4762"/>
            </a:avLst>
          </a:prstGeom>
          <a:solidFill>
            <a:srgbClr val="F7F9FC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9875520" y="429768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E8ED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000" dirty="0"/>
          </a:p>
        </p:txBody>
      </p:sp>
      <p:sp>
        <p:nvSpPr>
          <p:cNvPr id="25" name="Shape 20"/>
          <p:cNvSpPr/>
          <p:nvPr/>
        </p:nvSpPr>
        <p:spPr>
          <a:xfrm>
            <a:off x="6263640" y="4434840"/>
            <a:ext cx="594360" cy="5943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6" name="Image 3" descr="/home/claude/icons/user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7371" y="4568571"/>
            <a:ext cx="326898" cy="32689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040880" y="44348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Human Oversight</a:t>
            </a:r>
            <a:endParaRPr lang="en-US" sz="1550" dirty="0"/>
          </a:p>
        </p:txBody>
      </p:sp>
      <p:sp>
        <p:nvSpPr>
          <p:cNvPr id="28" name="Text 22"/>
          <p:cNvSpPr txBox="1"/>
          <p:nvPr/>
        </p:nvSpPr>
        <p:spPr>
          <a:xfrm>
            <a:off x="6263640" y="5120640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and why a human belongs in the loop, even with strong automated prompting.</a:t>
            </a:r>
            <a:endParaRPr lang="en-US" sz="115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Prompt Engineering</a:t>
            </a:r>
            <a:endParaRPr 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TECHNIQUES · 1 OF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Chain-of-Thought Prompting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the model show its work — instead of jumping to a conclusion, it reasons through the problem first.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 (CoT) prompting asks the model to produce intermediate reasoning steps before its final answer, rather than answering directly. Exposing the reasoning tends to make the final answer more accurate.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31012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310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282696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instruction like “let's think step by step,” or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822192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822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794760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few worked examples that include full reasoning (few-shot CoT).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334256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34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306824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continues the pattern: reasoning first, answer last.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6035040" cy="777240"/>
          </a:xfrm>
          <a:prstGeom prst="roundRect">
            <a:avLst>
              <a:gd name="adj" fmla="val 9412"/>
            </a:avLst>
          </a:prstGeom>
          <a:solidFill>
            <a:srgbClr val="FDF2E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495604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</a:t>
            </a:r>
            <a:r>
              <a:rPr lang="en-US" sz="1150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reasoning chain can look convincing while still being wrong (“unfaithful reasoning”), and it costs more tokens and latency than a direct answer.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949440" y="1874520"/>
            <a:ext cx="4663440" cy="4343400"/>
          </a:xfrm>
          <a:prstGeom prst="roundRect">
            <a:avLst>
              <a:gd name="adj" fmla="val 2526"/>
            </a:avLst>
          </a:prstGeom>
          <a:solidFill>
            <a:srgbClr val="1B2A4A"/>
          </a:solidFill>
          <a:ln/>
        </p:spPr>
      </p:sp>
      <p:sp>
        <p:nvSpPr>
          <p:cNvPr id="19" name="Shape 17"/>
          <p:cNvSpPr/>
          <p:nvPr/>
        </p:nvSpPr>
        <p:spPr>
          <a:xfrm>
            <a:off x="7269480" y="2194560"/>
            <a:ext cx="777240" cy="777240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20" name="Image 0" descr="/home/claude/icons/link_1B2A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4359" y="2369439"/>
            <a:ext cx="427482" cy="42748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2960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2514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 word problem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7269480" y="3246120"/>
            <a:ext cx="4023360" cy="2468880"/>
          </a:xfrm>
          <a:prstGeom prst="roundRect">
            <a:avLst>
              <a:gd name="adj" fmla="val 2963"/>
            </a:avLst>
          </a:prstGeom>
          <a:solidFill>
            <a:srgbClr val="121D33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52360" y="3410712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Prompt: “A store had 23 apples. They sold 15 and received a new shipment of 8. How many apples now? Let's think step by step.”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“23 − 15 = 8 remaining. 8 + 8 new = 16. Answer: 16.”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7269480" y="5715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</a:t>
            </a: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math, logic puzzles, and planning tasks where jumping straight to an answer causes mistakes.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Prompt Engineering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TECHNIQUES · 2 OF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Tree-of-Thought Prompting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several reasoning paths at once, instead of committing to the first one.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Tree-of-Thought (ToT) extends Chain-of-Thought by branching: at each step the model generates several possible next “thoughts,” evaluates them, and expands the most promising ones — backtracking when a path stalls.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31012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310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282696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multiple candidate next-steps (“thoughts”) from the current state.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822192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822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794760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or score each candidate's likelihood of leading to a solution.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334256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34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306824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the strongest branches; prune weak ones (like BFS/DFS search).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846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818888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a branch reaches a complete, valid solution.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468112"/>
            <a:ext cx="6035040" cy="777240"/>
          </a:xfrm>
          <a:prstGeom prst="roundRect">
            <a:avLst>
              <a:gd name="adj" fmla="val 9412"/>
            </a:avLst>
          </a:prstGeom>
          <a:solidFill>
            <a:srgbClr val="FDF2E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5468112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</a:t>
            </a:r>
            <a:r>
              <a:rPr lang="en-US" sz="1150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and scoring multiple branches multiplies the number of model calls, making ToT far more expensive than a single CoT pass.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949440" y="1874520"/>
            <a:ext cx="4663440" cy="4343400"/>
          </a:xfrm>
          <a:prstGeom prst="roundRect">
            <a:avLst>
              <a:gd name="adj" fmla="val 2526"/>
            </a:avLst>
          </a:prstGeom>
          <a:solidFill>
            <a:srgbClr val="1B2A4A"/>
          </a:solidFill>
          <a:ln/>
        </p:spPr>
      </p:sp>
      <p:sp>
        <p:nvSpPr>
          <p:cNvPr id="22" name="Shape 20"/>
          <p:cNvSpPr/>
          <p:nvPr/>
        </p:nvSpPr>
        <p:spPr>
          <a:xfrm>
            <a:off x="7269480" y="2194560"/>
            <a:ext cx="777240" cy="777240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23" name="Image 0" descr="/home/claude/icons/sitemap_1B2A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4359" y="2369439"/>
            <a:ext cx="427482" cy="42748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22960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0" y="2514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Game of 24 puzzle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7269480" y="3246120"/>
            <a:ext cx="4023360" cy="2468880"/>
          </a:xfrm>
          <a:prstGeom prst="roundRect">
            <a:avLst>
              <a:gd name="adj" fmla="val 2963"/>
            </a:avLst>
          </a:prstGeom>
          <a:solidFill>
            <a:srgbClr val="121D33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452360" y="3410712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Task: combine 4, 9, 10, 13 using +,−,×,÷ to reach 24.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explores several first moves (13−9=4, 10−4=6, etc.), scores which look promising, and continues down the branches most likely to reach 24 — backtracking from dead ends.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7269480" y="5715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</a:t>
            </a: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puzzles, planning, and problems with many possible solution paths where backtracking helps.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Prompt Engineering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TECHNIQUES · 3 OF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Self-Consistency Prompting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the answer that shows up most often, not just the first one generated.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Self-consistency samples several independent Chain-of-Thought reasoning paths for the same question, then takes the majority answer across all of them — treating any single chain as unreliable on its own.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31012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310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282696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the model with CoT, sampling with some randomness (temperature &gt; 0).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822192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822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794760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same prompt N times, producing N independent reasoning chains.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334256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34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306824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final answer from each chain.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846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818888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the answer that appears most frequently (majority vote).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468112"/>
            <a:ext cx="6035040" cy="777240"/>
          </a:xfrm>
          <a:prstGeom prst="roundRect">
            <a:avLst>
              <a:gd name="adj" fmla="val 9412"/>
            </a:avLst>
          </a:prstGeom>
          <a:solidFill>
            <a:srgbClr val="FDF2E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5468112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</a:t>
            </a:r>
            <a:r>
              <a:rPr lang="en-US" sz="1150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N samples costs roughly N× the tokens and time of a single generation.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949440" y="1874520"/>
            <a:ext cx="4663440" cy="4343400"/>
          </a:xfrm>
          <a:prstGeom prst="roundRect">
            <a:avLst>
              <a:gd name="adj" fmla="val 2526"/>
            </a:avLst>
          </a:prstGeom>
          <a:solidFill>
            <a:srgbClr val="1B2A4A"/>
          </a:solidFill>
          <a:ln/>
        </p:spPr>
      </p:sp>
      <p:sp>
        <p:nvSpPr>
          <p:cNvPr id="22" name="Shape 20"/>
          <p:cNvSpPr/>
          <p:nvPr/>
        </p:nvSpPr>
        <p:spPr>
          <a:xfrm>
            <a:off x="7269480" y="2194560"/>
            <a:ext cx="777240" cy="777240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23" name="Image 0" descr="/home/claude/icons/checkdouble_1B2A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4359" y="2369439"/>
            <a:ext cx="427482" cy="42748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22960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0" y="2514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Reducing a flawed chain's impact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7269480" y="3246120"/>
            <a:ext cx="4023360" cy="2468880"/>
          </a:xfrm>
          <a:prstGeom prst="roundRect">
            <a:avLst>
              <a:gd name="adj" fmla="val 2963"/>
            </a:avLst>
          </a:prstGeom>
          <a:solidFill>
            <a:srgbClr val="121D33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452360" y="3410712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same math question 5 times: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returned: 16, 16, 14, 16, 16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chain made an arithmetic slip and landed on 14 — the majority vote (16) still wins, correcting for that one bad path.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7269480" y="5715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</a:t>
            </a: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tasks where accuracy matters more than cost, and a single chain can't be fully trusted.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Prompt Engineering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TECHNIQUES · 4 OF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Generated Knowledge Prompting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the model to recall what it knows before asking it to use that knowledge.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Knowledge prompting has the model first generate relevant facts or background about a topic in a separate step, then feeds that generated knowledge back in as context for answering the real question.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31012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310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282696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ask the model to list facts relevant to the topic.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822192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822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794760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pass those generated facts back in as context.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334256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34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306824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ask the original question, now grounded in that context.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6035040" cy="777240"/>
          </a:xfrm>
          <a:prstGeom prst="roundRect">
            <a:avLst>
              <a:gd name="adj" fmla="val 9412"/>
            </a:avLst>
          </a:prstGeom>
          <a:solidFill>
            <a:srgbClr val="FDF2E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495604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</a:t>
            </a:r>
            <a:r>
              <a:rPr lang="en-US" sz="1150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can generate plausible-sounding but incorrect “facts,” which then get treated as trusted context in step three.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949440" y="1874520"/>
            <a:ext cx="4663440" cy="4343400"/>
          </a:xfrm>
          <a:prstGeom prst="roundRect">
            <a:avLst>
              <a:gd name="adj" fmla="val 2526"/>
            </a:avLst>
          </a:prstGeom>
          <a:solidFill>
            <a:srgbClr val="1B2A4A"/>
          </a:solidFill>
          <a:ln/>
        </p:spPr>
      </p:sp>
      <p:sp>
        <p:nvSpPr>
          <p:cNvPr id="19" name="Shape 17"/>
          <p:cNvSpPr/>
          <p:nvPr/>
        </p:nvSpPr>
        <p:spPr>
          <a:xfrm>
            <a:off x="7269480" y="2194560"/>
            <a:ext cx="777240" cy="777240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20" name="Image 0" descr="/home/claude/icons/bookopen_1B2A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4359" y="2369439"/>
            <a:ext cx="427482" cy="42748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2960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2514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Knowledge-intensive question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7269480" y="3246120"/>
            <a:ext cx="4023360" cy="2468880"/>
          </a:xfrm>
          <a:prstGeom prst="roundRect">
            <a:avLst>
              <a:gd name="adj" fmla="val 2963"/>
            </a:avLst>
          </a:prstGeom>
          <a:solidFill>
            <a:srgbClr val="121D33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52360" y="3410712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“List facts relevant to why metal feels colder than wood at the same temperature.”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Model recalls thermal conductivity differences.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“Using those facts, explain the sensation to a beginner.”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7269480" y="5715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</a:t>
            </a: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knowledge-intensive tasks where relevant facts exist in the model but aren't surfaced by a direct question.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Prompt Engineering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TECHNIQUES · 5 OF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Step-Back Prompting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Zooming out to the general principle before zooming back in to the specific case.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Step-Back prompting asks the model to first abstract a broader question or underlying principle from the specific one being asked, answer that general question, and then apply the answer to the original, specific problem.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31012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310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282696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“What general concept or principle applies here?”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822192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822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794760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model answer the general, abstracted question.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334256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34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306824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that general answer back in as context for the original question.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6035040" cy="777240"/>
          </a:xfrm>
          <a:prstGeom prst="roundRect">
            <a:avLst>
              <a:gd name="adj" fmla="val 9412"/>
            </a:avLst>
          </a:prstGeom>
          <a:solidFill>
            <a:srgbClr val="FDF2E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495604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</a:t>
            </a:r>
            <a:r>
              <a:rPr lang="en-US" sz="1150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an extra round trip, and works best when the model can correctly identify the right principle to step back to.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949440" y="1874520"/>
            <a:ext cx="4663440" cy="4343400"/>
          </a:xfrm>
          <a:prstGeom prst="roundRect">
            <a:avLst>
              <a:gd name="adj" fmla="val 2526"/>
            </a:avLst>
          </a:prstGeom>
          <a:solidFill>
            <a:srgbClr val="1B2A4A"/>
          </a:solidFill>
          <a:ln/>
        </p:spPr>
      </p:sp>
      <p:sp>
        <p:nvSpPr>
          <p:cNvPr id="19" name="Shape 17"/>
          <p:cNvSpPr/>
          <p:nvPr/>
        </p:nvSpPr>
        <p:spPr>
          <a:xfrm>
            <a:off x="7269480" y="2194560"/>
            <a:ext cx="777240" cy="777240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20" name="Image 0" descr="/home/claude/icons/searchminus_1B2A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4359" y="2369439"/>
            <a:ext cx="427482" cy="42748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2960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2514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Physics word problem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7269480" y="3246120"/>
            <a:ext cx="4023360" cy="2468880"/>
          </a:xfrm>
          <a:prstGeom prst="roundRect">
            <a:avLst>
              <a:gd name="adj" fmla="val 2963"/>
            </a:avLst>
          </a:prstGeom>
          <a:solidFill>
            <a:srgbClr val="121D33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52360" y="3410712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question: “A 2 kg ball is dropped from 10 m. What is its speed at impact?”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Step-back question: “What principle governs an object's speed in free fall?” → answer: conservation of energy → apply it to solve the specific case.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7269480" y="5715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</a:t>
            </a: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where fixating on surface details causes errors, and a known principle would resolve it cleanly.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Prompt Engineering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TECHNIQUES · 6 OF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Least-to-Most Prompting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the easy piece first, then letting it scaffold the harder pieces.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Least-to-Most prompting decomposes a complex problem into an ordered sequence of simpler subproblems, then solves them one at a time — where each subproblem's solution becomes context for the next.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31012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310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282696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the original problem into an ordered list of simpler subproblems.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822192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822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794760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the first (easiest) subproblem on its own.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334256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34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306824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that solution in as context to solve the next subproblem.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846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818888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the final subproblem yields the original answer.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468112"/>
            <a:ext cx="6035040" cy="777240"/>
          </a:xfrm>
          <a:prstGeom prst="roundRect">
            <a:avLst>
              <a:gd name="adj" fmla="val 9412"/>
            </a:avLst>
          </a:prstGeom>
          <a:solidFill>
            <a:srgbClr val="FDF2E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5468112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</a:t>
            </a:r>
            <a:r>
              <a:rPr lang="en-US" sz="1150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 quality matters — if the subproblems are split poorly, errors in an early step propagate into every step after it.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949440" y="1874520"/>
            <a:ext cx="4663440" cy="4343400"/>
          </a:xfrm>
          <a:prstGeom prst="roundRect">
            <a:avLst>
              <a:gd name="adj" fmla="val 2526"/>
            </a:avLst>
          </a:prstGeom>
          <a:solidFill>
            <a:srgbClr val="1B2A4A"/>
          </a:solidFill>
          <a:ln/>
        </p:spPr>
      </p:sp>
      <p:sp>
        <p:nvSpPr>
          <p:cNvPr id="22" name="Shape 20"/>
          <p:cNvSpPr/>
          <p:nvPr/>
        </p:nvSpPr>
        <p:spPr>
          <a:xfrm>
            <a:off x="7269480" y="2194560"/>
            <a:ext cx="777240" cy="777240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23" name="Image 0" descr="/home/claude/icons/chartbar_1B2A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4359" y="2369439"/>
            <a:ext cx="427482" cy="42748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22960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0" y="2514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Compositional word problem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7269480" y="3246120"/>
            <a:ext cx="4023360" cy="2468880"/>
          </a:xfrm>
          <a:prstGeom prst="roundRect">
            <a:avLst>
              <a:gd name="adj" fmla="val 2963"/>
            </a:avLst>
          </a:prstGeom>
          <a:solidFill>
            <a:srgbClr val="121D33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452360" y="3410712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a train travels 60 km in the first hour and then 15% faster each hour after, how far has it gone after 3 hours?”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Subproblem 1: hour-1 distance. → Subproblem 2: hour-2 distance, using hour-1's result. → Subproblem 3: total.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7269480" y="5715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</a:t>
            </a: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compositional problems that are hard to solve in one shot but straightforward broken into ordered steps.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Prompt Engineering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TECHNIQUES · SUMMARY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Reasoning Techniques at a Glance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trade extra computation for more reliable reasoning — the right choice depends on the task's shape.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0515600" cy="45720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19202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IDEA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183880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377440"/>
            <a:ext cx="10515600" cy="658368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514600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1" name="Image 0" descr="/home/claude/icons/lin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51" y="2601011"/>
            <a:ext cx="211226" cy="21122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325880" y="23774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840480" y="237744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step-by-step before answering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183880" y="237744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math &amp; logic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3035808"/>
            <a:ext cx="1051560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77240" y="3172968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7" name="Image 1" descr="/home/claude/icons/sitemap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651" y="3259379"/>
            <a:ext cx="211226" cy="21122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25880" y="303580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Tree-of-Thought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3840480" y="3035808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Branch, evaluate, and backtrack across paths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8183880" y="30358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planning problems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3694176"/>
            <a:ext cx="10515600" cy="658368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22" name="Shape 18"/>
          <p:cNvSpPr/>
          <p:nvPr/>
        </p:nvSpPr>
        <p:spPr>
          <a:xfrm>
            <a:off x="777240" y="3831336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3" name="Image 2" descr="/home/claude/icons/checkdoubl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651" y="3917747"/>
            <a:ext cx="211226" cy="211226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325880" y="369417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Self-Consistency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3840480" y="3694176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many chains, take the majority answer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8183880" y="3694176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Reducing single-chain errors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548640" y="4352544"/>
            <a:ext cx="1051560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Shape 23"/>
          <p:cNvSpPr/>
          <p:nvPr/>
        </p:nvSpPr>
        <p:spPr>
          <a:xfrm>
            <a:off x="777240" y="4489704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9" name="Image 3" descr="/home/claude/icons/bookopen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651" y="4576115"/>
            <a:ext cx="211226" cy="211226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1325880" y="435254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Knowledge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3840480" y="4352544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facts first, then answer using them</a:t>
            </a:r>
            <a:endParaRPr lang="en-US" sz="1150" dirty="0"/>
          </a:p>
        </p:txBody>
      </p:sp>
      <p:sp>
        <p:nvSpPr>
          <p:cNvPr id="32" name="Text 26"/>
          <p:cNvSpPr txBox="1"/>
          <p:nvPr/>
        </p:nvSpPr>
        <p:spPr>
          <a:xfrm>
            <a:off x="8183880" y="435254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Knowledge-intensive tasks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48640" y="5010912"/>
            <a:ext cx="10515600" cy="658368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34" name="Shape 28"/>
          <p:cNvSpPr/>
          <p:nvPr/>
        </p:nvSpPr>
        <p:spPr>
          <a:xfrm>
            <a:off x="777240" y="5148072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5" name="Image 4" descr="/home/claude/icons/searchminus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3651" y="5234483"/>
            <a:ext cx="211226" cy="211226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1325880" y="501091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Step-Back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3840480" y="5010912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a principle, then apply it</a:t>
            </a:r>
            <a:endParaRPr lang="en-US" sz="1150" dirty="0"/>
          </a:p>
        </p:txBody>
      </p:sp>
      <p:sp>
        <p:nvSpPr>
          <p:cNvPr id="38" name="Text 31"/>
          <p:cNvSpPr txBox="1"/>
          <p:nvPr/>
        </p:nvSpPr>
        <p:spPr>
          <a:xfrm>
            <a:off x="8183880" y="5010912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Principle-based problems</a:t>
            </a:r>
            <a:endParaRPr lang="en-US" sz="1150" dirty="0"/>
          </a:p>
        </p:txBody>
      </p:sp>
      <p:sp>
        <p:nvSpPr>
          <p:cNvPr id="39" name="Shape 32"/>
          <p:cNvSpPr/>
          <p:nvPr/>
        </p:nvSpPr>
        <p:spPr>
          <a:xfrm>
            <a:off x="548640" y="5669280"/>
            <a:ext cx="1051560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3"/>
          <p:cNvSpPr/>
          <p:nvPr/>
        </p:nvSpPr>
        <p:spPr>
          <a:xfrm>
            <a:off x="777240" y="5806440"/>
            <a:ext cx="384048" cy="38404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41" name="Image 5" descr="/home/claude/icons/chartbar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3651" y="5892851"/>
            <a:ext cx="211226" cy="211226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1325880" y="56692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Least-to-Most</a:t>
            </a:r>
            <a:endParaRPr lang="en-US" sz="1200" dirty="0"/>
          </a:p>
        </p:txBody>
      </p:sp>
      <p:sp>
        <p:nvSpPr>
          <p:cNvPr id="43" name="Text 35"/>
          <p:cNvSpPr txBox="1"/>
          <p:nvPr/>
        </p:nvSpPr>
        <p:spPr>
          <a:xfrm>
            <a:off x="3840480" y="566928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into ordered subproblems</a:t>
            </a:r>
            <a:endParaRPr lang="en-US" sz="1150" dirty="0"/>
          </a:p>
        </p:txBody>
      </p:sp>
      <p:sp>
        <p:nvSpPr>
          <p:cNvPr id="44" name="Text 36"/>
          <p:cNvSpPr txBox="1"/>
          <p:nvPr/>
        </p:nvSpPr>
        <p:spPr>
          <a:xfrm>
            <a:off x="8183880" y="566928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Compositional, complex tasks</a:t>
            </a:r>
            <a:endParaRPr lang="en-US" sz="1150" dirty="0"/>
          </a:p>
        </p:txBody>
      </p:sp>
      <p:sp>
        <p:nvSpPr>
          <p:cNvPr id="45" name="Text 37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Prompt Engineering</a:t>
            </a:r>
            <a:endParaRPr lang="en-US" sz="900" dirty="0"/>
          </a:p>
        </p:txBody>
      </p:sp>
      <p:sp>
        <p:nvSpPr>
          <p:cNvPr id="46" name="Text 38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SECURITY · INTRODUCTION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Adversarial Prompting &amp; Injection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models gain tools, memory, and access to data, the prompt itself becomes an attack surface — not just a UX detail.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prompting </a:t>
            </a: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practice of crafting input — by a curious user or a malicious attacker — that manipulates a model into ignoring its instructions, revealing hidden information, or taking unintended actions.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977640"/>
            <a:ext cx="6217920" cy="1508760"/>
          </a:xfrm>
          <a:prstGeom prst="roundRect">
            <a:avLst>
              <a:gd name="adj" fmla="val 6061"/>
            </a:avLst>
          </a:prstGeom>
          <a:solidFill>
            <a:srgbClr val="FDF2E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977640"/>
            <a:ext cx="5760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now: </a:t>
            </a:r>
            <a:r>
              <a:rPr lang="en-US" sz="1250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model can call tools, browse, or access private data, a successful injection isn't just an odd reply — it can leak data or trigger a real action.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223760" y="1280160"/>
            <a:ext cx="4389120" cy="4206240"/>
          </a:xfrm>
          <a:prstGeom prst="roundRect">
            <a:avLst>
              <a:gd name="adj" fmla="val 2609"/>
            </a:avLst>
          </a:prstGeom>
          <a:solidFill>
            <a:srgbClr val="1B2A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543800" y="1508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UP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543800" y="1965960"/>
            <a:ext cx="548640" cy="548640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11" name="Image 0" descr="/home/claude/icons/ban_1B2A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7244" y="2089404"/>
            <a:ext cx="301752" cy="30175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22960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 Patterns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225856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injected instructions are disguised and delivered.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543800" y="3200400"/>
            <a:ext cx="548640" cy="548640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15" name="Image 1" descr="/home/claude/icons/unlock_1B2A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7244" y="3323844"/>
            <a:ext cx="301752" cy="30175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229600" y="31821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Vulnerabilities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229600" y="34930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those attacks are actually trying to exploit.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543800" y="4434840"/>
            <a:ext cx="548640" cy="548640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19" name="Image 2" descr="/home/claude/icons/filter_1B2A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7244" y="4558284"/>
            <a:ext cx="301752" cy="30175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229600" y="44165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Defenses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229600" y="4727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design prompts and pipelines that resist them.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Prompt Engineering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SECURITY · ATTACK PATTERNS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Injection Attack Patterns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common ways attackers disguise instructions so the model follows them instead of yours.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478024" cy="4023360"/>
          </a:xfrm>
          <a:prstGeom prst="roundRect">
            <a:avLst>
              <a:gd name="adj" fmla="val 3690"/>
            </a:avLst>
          </a:prstGeom>
          <a:solidFill>
            <a:srgbClr val="FBEAE9"/>
          </a:solidFill>
          <a:ln/>
        </p:spPr>
      </p:sp>
      <p:sp>
        <p:nvSpPr>
          <p:cNvPr id="6" name="Shape 4"/>
          <p:cNvSpPr/>
          <p:nvPr/>
        </p:nvSpPr>
        <p:spPr>
          <a:xfrm>
            <a:off x="1444752" y="2240280"/>
            <a:ext cx="685800" cy="68580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7" name="Image 0" descr="/home/claude/icons/ban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9057" y="2394585"/>
            <a:ext cx="377190" cy="3771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5800" y="306324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Instruction Override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657600"/>
            <a:ext cx="21122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attacker tells the model to “ignore previous instructions” and follow new ones instead.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27832" y="1965960"/>
            <a:ext cx="2478024" cy="4023360"/>
          </a:xfrm>
          <a:prstGeom prst="roundRect">
            <a:avLst>
              <a:gd name="adj" fmla="val 3690"/>
            </a:avLst>
          </a:prstGeom>
          <a:solidFill>
            <a:srgbClr val="FBEAE9"/>
          </a:solidFill>
          <a:ln/>
        </p:spPr>
      </p:sp>
      <p:sp>
        <p:nvSpPr>
          <p:cNvPr id="11" name="Shape 8"/>
          <p:cNvSpPr/>
          <p:nvPr/>
        </p:nvSpPr>
        <p:spPr>
          <a:xfrm>
            <a:off x="4123944" y="2240280"/>
            <a:ext cx="685800" cy="68580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2" name="Image 1" descr="/home/claude/icons/theat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8249" y="2394585"/>
            <a:ext cx="377190" cy="37719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364992" y="306324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 Confusion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410712" y="3657600"/>
            <a:ext cx="21122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persuaded it's playing a different persona — one with fewer restrictions than its real role.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907024" y="1965960"/>
            <a:ext cx="2478024" cy="4023360"/>
          </a:xfrm>
          <a:prstGeom prst="roundRect">
            <a:avLst>
              <a:gd name="adj" fmla="val 3690"/>
            </a:avLst>
          </a:prstGeom>
          <a:solidFill>
            <a:srgbClr val="FBEAE9"/>
          </a:solidFill>
          <a:ln/>
        </p:spPr>
      </p:sp>
      <p:sp>
        <p:nvSpPr>
          <p:cNvPr id="16" name="Shape 12"/>
          <p:cNvSpPr/>
          <p:nvPr/>
        </p:nvSpPr>
        <p:spPr>
          <a:xfrm>
            <a:off x="6803136" y="2240280"/>
            <a:ext cx="685800" cy="68580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7" name="Image 2" descr="/home/claude/icons/bug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7441" y="2394585"/>
            <a:ext cx="377190" cy="37719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044184" y="306324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 Piggybacking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089904" y="3657600"/>
            <a:ext cx="21122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instructions are hidden inside ordinary-looking data, like a document the model is asked to summarize.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586216" y="1965960"/>
            <a:ext cx="2478024" cy="4023360"/>
          </a:xfrm>
          <a:prstGeom prst="roundRect">
            <a:avLst>
              <a:gd name="adj" fmla="val 3690"/>
            </a:avLst>
          </a:prstGeom>
          <a:solidFill>
            <a:srgbClr val="FBEAE9"/>
          </a:solidFill>
          <a:ln/>
        </p:spPr>
      </p:sp>
      <p:sp>
        <p:nvSpPr>
          <p:cNvPr id="21" name="Shape 16"/>
          <p:cNvSpPr/>
          <p:nvPr/>
        </p:nvSpPr>
        <p:spPr>
          <a:xfrm>
            <a:off x="9482328" y="2240280"/>
            <a:ext cx="685800" cy="68580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22" name="Image 3" descr="/home/claude/icons/eyeslash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6633" y="2394585"/>
            <a:ext cx="377190" cy="37719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23376" y="306324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Steganographic Prompts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69096" y="3657600"/>
            <a:ext cx="21122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are hidden via encoding, unusual formatting, or obfuscated text to slip past filters.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Prompt Engineering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SECURITY · VULNERABILITIES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Vulnerabilities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successful attack pattern is usually trying to exploit once it reaches the model.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478024" cy="4023360"/>
          </a:xfrm>
          <a:prstGeom prst="roundRect">
            <a:avLst>
              <a:gd name="adj" fmla="val 3690"/>
            </a:avLst>
          </a:prstGeom>
          <a:solidFill>
            <a:srgbClr val="FDF2E3"/>
          </a:solidFill>
          <a:ln/>
        </p:spPr>
      </p:sp>
      <p:sp>
        <p:nvSpPr>
          <p:cNvPr id="6" name="Shape 4"/>
          <p:cNvSpPr/>
          <p:nvPr/>
        </p:nvSpPr>
        <p:spPr>
          <a:xfrm>
            <a:off x="1444752" y="2240280"/>
            <a:ext cx="685800" cy="685800"/>
          </a:xfrm>
          <a:prstGeom prst="ellipse">
            <a:avLst/>
          </a:prstGeom>
          <a:solidFill>
            <a:srgbClr val="9A6A22"/>
          </a:solidFill>
          <a:ln/>
        </p:spPr>
      </p:sp>
      <p:pic>
        <p:nvPicPr>
          <p:cNvPr id="7" name="Image 0" descr="/home/claude/icons/unloc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9057" y="2394585"/>
            <a:ext cx="377190" cy="3771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5800" y="306324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Leaks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657600"/>
            <a:ext cx="21122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reveals its system prompt, hidden instructions, or another user's data that it shouldn't disclose.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27832" y="1965960"/>
            <a:ext cx="2478024" cy="4023360"/>
          </a:xfrm>
          <a:prstGeom prst="roundRect">
            <a:avLst>
              <a:gd name="adj" fmla="val 3690"/>
            </a:avLst>
          </a:prstGeom>
          <a:solidFill>
            <a:srgbClr val="FDF2E3"/>
          </a:solidFill>
          <a:ln/>
        </p:spPr>
      </p:sp>
      <p:sp>
        <p:nvSpPr>
          <p:cNvPr id="11" name="Shape 8"/>
          <p:cNvSpPr/>
          <p:nvPr/>
        </p:nvSpPr>
        <p:spPr>
          <a:xfrm>
            <a:off x="4123944" y="2240280"/>
            <a:ext cx="685800" cy="685800"/>
          </a:xfrm>
          <a:prstGeom prst="ellipse">
            <a:avLst/>
          </a:prstGeom>
          <a:solidFill>
            <a:srgbClr val="9A6A22"/>
          </a:solidFill>
          <a:ln/>
        </p:spPr>
      </p:sp>
      <p:pic>
        <p:nvPicPr>
          <p:cNvPr id="12" name="Image 1" descr="/home/claude/icons/exchang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8249" y="2394585"/>
            <a:ext cx="377190" cy="37719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364992" y="306324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Hijacking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410712" y="3657600"/>
            <a:ext cx="21122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attacker redirects the model's task entirely, replacing the original goal with their own.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907024" y="1965960"/>
            <a:ext cx="2478024" cy="4023360"/>
          </a:xfrm>
          <a:prstGeom prst="roundRect">
            <a:avLst>
              <a:gd name="adj" fmla="val 3690"/>
            </a:avLst>
          </a:prstGeom>
          <a:solidFill>
            <a:srgbClr val="FDF2E3"/>
          </a:solidFill>
          <a:ln/>
        </p:spPr>
      </p:sp>
      <p:sp>
        <p:nvSpPr>
          <p:cNvPr id="16" name="Shape 12"/>
          <p:cNvSpPr/>
          <p:nvPr/>
        </p:nvSpPr>
        <p:spPr>
          <a:xfrm>
            <a:off x="6803136" y="2240280"/>
            <a:ext cx="685800" cy="685800"/>
          </a:xfrm>
          <a:prstGeom prst="ellipse">
            <a:avLst/>
          </a:prstGeom>
          <a:solidFill>
            <a:srgbClr val="9A6A22"/>
          </a:solidFill>
          <a:ln/>
        </p:spPr>
      </p:sp>
      <p:pic>
        <p:nvPicPr>
          <p:cNvPr id="17" name="Image 2" descr="/home/claude/icons/expand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7441" y="2394585"/>
            <a:ext cx="377190" cy="37719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044184" y="306324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Expansion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089904" y="3657600"/>
            <a:ext cx="21122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tricked into taking actions or tool calls that go beyond its intended permissions.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586216" y="1965960"/>
            <a:ext cx="2478024" cy="4023360"/>
          </a:xfrm>
          <a:prstGeom prst="roundRect">
            <a:avLst>
              <a:gd name="adj" fmla="val 3690"/>
            </a:avLst>
          </a:prstGeom>
          <a:solidFill>
            <a:srgbClr val="FDF2E3"/>
          </a:solidFill>
          <a:ln/>
        </p:spPr>
      </p:sp>
      <p:sp>
        <p:nvSpPr>
          <p:cNvPr id="21" name="Shape 16"/>
          <p:cNvSpPr/>
          <p:nvPr/>
        </p:nvSpPr>
        <p:spPr>
          <a:xfrm>
            <a:off x="9482328" y="2240280"/>
            <a:ext cx="685800" cy="685800"/>
          </a:xfrm>
          <a:prstGeom prst="ellipse">
            <a:avLst/>
          </a:prstGeom>
          <a:solidFill>
            <a:srgbClr val="9A6A22"/>
          </a:solidFill>
          <a:ln/>
        </p:spPr>
      </p:sp>
      <p:pic>
        <p:nvPicPr>
          <p:cNvPr id="22" name="Image 3" descr="/home/claude/icons/theater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6633" y="2394585"/>
            <a:ext cx="377190" cy="37719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23376" y="3063240"/>
            <a:ext cx="2203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False Roleplay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69096" y="3657600"/>
            <a:ext cx="21122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“pretend” scenario is used to bypass safety behavior the model would normally apply.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Prompt Engineering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SECURITY · DEFENSES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Defending Against Prompt Injection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defense is complete on its own — layer them across the input, the prompt structure, and the output.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319272" cy="2468880"/>
          </a:xfrm>
          <a:prstGeom prst="roundRect">
            <a:avLst>
              <a:gd name="adj" fmla="val 3704"/>
            </a:avLst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1865376" y="2240280"/>
            <a:ext cx="685800" cy="685800"/>
          </a:xfrm>
          <a:prstGeom prst="ellipse">
            <a:avLst/>
          </a:prstGeom>
          <a:solidFill>
            <a:srgbClr val="2E7D46"/>
          </a:solidFill>
          <a:ln/>
        </p:spPr>
      </p:sp>
      <p:pic>
        <p:nvPicPr>
          <p:cNvPr id="7" name="Image 0" descr="/home/claude/icons/filt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681" y="2394585"/>
            <a:ext cx="377190" cy="3771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5800" y="3063240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 User Input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611880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Sanitize and filter incoming input; flag suspicious patterns (e.g., “ignore instructions” phrasing) before it reaches the model.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050792" y="1965960"/>
            <a:ext cx="3319272" cy="2468880"/>
          </a:xfrm>
          <a:prstGeom prst="roundRect">
            <a:avLst>
              <a:gd name="adj" fmla="val 3704"/>
            </a:avLst>
          </a:prstGeom>
          <a:solidFill>
            <a:srgbClr val="F7F9FC"/>
          </a:solidFill>
          <a:ln/>
        </p:spPr>
      </p:sp>
      <p:sp>
        <p:nvSpPr>
          <p:cNvPr id="11" name="Shape 8"/>
          <p:cNvSpPr/>
          <p:nvPr/>
        </p:nvSpPr>
        <p:spPr>
          <a:xfrm>
            <a:off x="5367528" y="2240280"/>
            <a:ext cx="685800" cy="685800"/>
          </a:xfrm>
          <a:prstGeom prst="ellipse">
            <a:avLst/>
          </a:prstGeom>
          <a:solidFill>
            <a:srgbClr val="2E7D46"/>
          </a:solidFill>
          <a:ln/>
        </p:spPr>
      </p:sp>
      <p:pic>
        <p:nvPicPr>
          <p:cNvPr id="12" name="Image 1" descr="/home/claude/icons/column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1833" y="2394585"/>
            <a:ext cx="377190" cy="37719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87952" y="3063240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Separate System &amp; User Prompts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4233672" y="3611880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instructions and untrusted content in clearly delimited, structurally distinct channels so the model can tell them apart.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7552944" y="1965960"/>
            <a:ext cx="3319272" cy="2468880"/>
          </a:xfrm>
          <a:prstGeom prst="roundRect">
            <a:avLst>
              <a:gd name="adj" fmla="val 3704"/>
            </a:avLst>
          </a:prstGeom>
          <a:solidFill>
            <a:srgbClr val="F7F9FC"/>
          </a:solidFill>
          <a:ln/>
        </p:spPr>
      </p:sp>
      <p:sp>
        <p:nvSpPr>
          <p:cNvPr id="16" name="Shape 12"/>
          <p:cNvSpPr/>
          <p:nvPr/>
        </p:nvSpPr>
        <p:spPr>
          <a:xfrm>
            <a:off x="8869680" y="2240280"/>
            <a:ext cx="685800" cy="685800"/>
          </a:xfrm>
          <a:prstGeom prst="ellipse">
            <a:avLst/>
          </a:prstGeom>
          <a:solidFill>
            <a:srgbClr val="2E7D46"/>
          </a:solidFill>
          <a:ln/>
        </p:spPr>
      </p:sp>
      <p:pic>
        <p:nvPicPr>
          <p:cNvPr id="17" name="Image 2" descr="/home/claude/icons/ey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3985" y="2394585"/>
            <a:ext cx="377190" cy="37719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690104" y="3063240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 Responses for Red Flags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7735824" y="3611880"/>
            <a:ext cx="2953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outputs for signs of leaked instructions, off-scope actions, or a sudden change in behavior mid-conversation.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48640" y="4709160"/>
            <a:ext cx="10515600" cy="1280160"/>
          </a:xfrm>
          <a:prstGeom prst="roundRect">
            <a:avLst>
              <a:gd name="adj" fmla="val 7143"/>
            </a:avLst>
          </a:prstGeom>
          <a:solidFill>
            <a:srgbClr val="1B2A4A"/>
          </a:solidFill>
          <a:ln/>
        </p:spPr>
      </p:sp>
      <p:sp>
        <p:nvSpPr>
          <p:cNvPr id="21" name="Shape 16"/>
          <p:cNvSpPr/>
          <p:nvPr/>
        </p:nvSpPr>
        <p:spPr>
          <a:xfrm>
            <a:off x="777240" y="498348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22960" y="49834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2651760" y="4983480"/>
            <a:ext cx="128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2779776" y="498348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2A65A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2825496" y="49834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4654296" y="4983480"/>
            <a:ext cx="128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4782312" y="498348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4828032" y="49834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+ User Prompt (separated)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6656832" y="4983480"/>
            <a:ext cx="128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6784848" y="498348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6830568" y="49834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8659368" y="4983480"/>
            <a:ext cx="128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8787384" y="498348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2A65A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8833104" y="49834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Output</a:t>
            </a:r>
            <a:endParaRPr lang="en-US" sz="950" dirty="0"/>
          </a:p>
        </p:txBody>
      </p:sp>
      <p:sp>
        <p:nvSpPr>
          <p:cNvPr id="35" name="Text 30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Prompt Engineering</a:t>
            </a:r>
            <a:endParaRPr lang="en-US" sz="900" dirty="0"/>
          </a:p>
        </p:txBody>
      </p:sp>
      <p:sp>
        <p:nvSpPr>
          <p:cNvPr id="36" name="Text 31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PROMPT ENGINEERING · 1 OF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Auto-Prompt Generation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Letting search and optimization write and refine prompts instead of hand-tuning every word.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Auto-prompt generation uses an algorithm — or a model itself — to generate, search over, or optimize prompt phrasings, rather than relying entirely on manual trial and error.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31012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310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282696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many candidate prompt phrasings for the same task.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822192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822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794760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each candidate against a validation set of examples.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334256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34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306824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best performer, or use it to seed a new generation (evolutionary search).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846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818888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Optionally, use meta-prompting: have an LLM critique and rewrite its own prompt.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468112"/>
            <a:ext cx="6035040" cy="777240"/>
          </a:xfrm>
          <a:prstGeom prst="roundRect">
            <a:avLst>
              <a:gd name="adj" fmla="val 9412"/>
            </a:avLst>
          </a:prstGeom>
          <a:solidFill>
            <a:srgbClr val="FDF2E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5468112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</a:t>
            </a:r>
            <a:r>
              <a:rPr lang="en-US" sz="1150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prompts can overfit to the validation set and quietly stop generalizing to new inputs.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949440" y="1874520"/>
            <a:ext cx="4663440" cy="4343400"/>
          </a:xfrm>
          <a:prstGeom prst="roundRect">
            <a:avLst>
              <a:gd name="adj" fmla="val 2526"/>
            </a:avLst>
          </a:prstGeom>
          <a:solidFill>
            <a:srgbClr val="1B2A4A"/>
          </a:solidFill>
          <a:ln/>
        </p:spPr>
      </p:sp>
      <p:sp>
        <p:nvSpPr>
          <p:cNvPr id="22" name="Shape 20"/>
          <p:cNvSpPr/>
          <p:nvPr/>
        </p:nvSpPr>
        <p:spPr>
          <a:xfrm>
            <a:off x="7269480" y="2194560"/>
            <a:ext cx="777240" cy="777240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23" name="Image 0" descr="/home/claude/icons/magic_1B2A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4359" y="2369439"/>
            <a:ext cx="427482" cy="42748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22960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0" y="2514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Optimizing a classifier prompt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7269480" y="3246120"/>
            <a:ext cx="4023360" cy="2468880"/>
          </a:xfrm>
          <a:prstGeom prst="roundRect">
            <a:avLst>
              <a:gd name="adj" fmla="val 2963"/>
            </a:avLst>
          </a:prstGeom>
          <a:solidFill>
            <a:srgbClr val="121D33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452360" y="3410712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generates 40 phrasings of a sentiment-classification instruction, runs each against 200 labeled reviews, and keeps the phrasing with the highest accuracy — no human wrote that exact wording.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7269480" y="5715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</a:t>
            </a: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prompt development across many tasks, or squeezing out gains beyond what manual tuning found.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Prompt Engineering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PROMPT ENGINEERING · 2 OF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Semantic Search for Prompt Selection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a request to the right prompt or example by meaning, not by keyword.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one static prompt for every case, semantic search uses embeddings to retrieve the most relevant prompt template or few-shot example from a library, based on the meaning of the incoming request.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31012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310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282696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a library of prompt templates or worked examples in advance.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822192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822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794760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the incoming request using the same embedding model.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334256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34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306824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the nearest neighbors by similarity (e.g., cosine similarity).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846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818888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the best-matching template or examples into the live prompt.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468112"/>
            <a:ext cx="6035040" cy="777240"/>
          </a:xfrm>
          <a:prstGeom prst="roundRect">
            <a:avLst>
              <a:gd name="adj" fmla="val 9412"/>
            </a:avLst>
          </a:prstGeom>
          <a:solidFill>
            <a:srgbClr val="FDF2E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5468112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</a:t>
            </a:r>
            <a:r>
              <a:rPr lang="en-US" sz="1150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quality depends entirely on the embedding model and the coverage of the library — poor coverage means poor matches.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949440" y="1874520"/>
            <a:ext cx="4663440" cy="4343400"/>
          </a:xfrm>
          <a:prstGeom prst="roundRect">
            <a:avLst>
              <a:gd name="adj" fmla="val 2526"/>
            </a:avLst>
          </a:prstGeom>
          <a:solidFill>
            <a:srgbClr val="1B2A4A"/>
          </a:solidFill>
          <a:ln/>
        </p:spPr>
      </p:sp>
      <p:sp>
        <p:nvSpPr>
          <p:cNvPr id="22" name="Shape 20"/>
          <p:cNvSpPr/>
          <p:nvPr/>
        </p:nvSpPr>
        <p:spPr>
          <a:xfrm>
            <a:off x="7269480" y="2194560"/>
            <a:ext cx="777240" cy="777240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23" name="Image 0" descr="/home/claude/icons/search_1B2A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4359" y="2369439"/>
            <a:ext cx="427482" cy="42748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22960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0" y="2514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Support-ticket routing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7269480" y="3246120"/>
            <a:ext cx="4023360" cy="2468880"/>
          </a:xfrm>
          <a:prstGeom prst="roundRect">
            <a:avLst>
              <a:gd name="adj" fmla="val 2963"/>
            </a:avLst>
          </a:prstGeom>
          <a:solidFill>
            <a:srgbClr val="121D33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452360" y="3410712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support bot embeds a library of 500 past resolved tickets. A new ticket about a “failed refund” is embedded and matched to the 3 most semantically similar past tickets, which are inserted as few-shot examples.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7269480" y="5715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</a:t>
            </a: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prompt or example libraries where no single static template fits every incoming case.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Prompt Engineering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PROMPT ENGINEERING · 3 OF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Window Summarization Strategies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pipeline for fitting documents larger than the model's context window without losing what matters.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319272" cy="2834640"/>
          </a:xfrm>
          <a:prstGeom prst="roundRect">
            <a:avLst>
              <a:gd name="adj" fmla="val 3226"/>
            </a:avLst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456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99232" y="2148840"/>
            <a:ext cx="548640" cy="548640"/>
          </a:xfrm>
          <a:prstGeom prst="ellipse">
            <a:avLst/>
          </a:prstGeom>
          <a:solidFill>
            <a:srgbClr val="E8EDF5"/>
          </a:solidFill>
          <a:ln/>
        </p:spPr>
      </p:sp>
      <p:pic>
        <p:nvPicPr>
          <p:cNvPr id="9" name="Image 0" descr="/home/claude/icons/compress_1B2A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2676" y="2272284"/>
            <a:ext cx="301752" cy="30175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49808" y="2834640"/>
            <a:ext cx="29169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Prune Irrelevant Input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3429000"/>
            <a:ext cx="29169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content that doesn't bear on the task before it consumes context budget — the cheapest way to buy back room.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867912" y="31546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050792" y="1965960"/>
            <a:ext cx="3319272" cy="2834640"/>
          </a:xfrm>
          <a:prstGeom prst="roundRect">
            <a:avLst>
              <a:gd name="adj" fmla="val 3226"/>
            </a:avLst>
          </a:prstGeom>
          <a:solidFill>
            <a:srgbClr val="F7F9FC"/>
          </a:solidFill>
          <a:ln/>
        </p:spPr>
      </p:sp>
      <p:sp>
        <p:nvSpPr>
          <p:cNvPr id="14" name="Shape 11"/>
          <p:cNvSpPr/>
          <p:nvPr/>
        </p:nvSpPr>
        <p:spPr>
          <a:xfrm>
            <a:off x="4279392" y="219456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279392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501384" y="2148840"/>
            <a:ext cx="548640" cy="548640"/>
          </a:xfrm>
          <a:prstGeom prst="ellipse">
            <a:avLst/>
          </a:prstGeom>
          <a:solidFill>
            <a:srgbClr val="E8EDF5"/>
          </a:solidFill>
          <a:ln/>
        </p:spPr>
      </p:sp>
      <p:pic>
        <p:nvPicPr>
          <p:cNvPr id="17" name="Image 1" descr="/home/claude/icons/alignleft_1B2A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4828" y="2272284"/>
            <a:ext cx="301752" cy="30175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51960" y="2834640"/>
            <a:ext cx="29169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Summarization Prompts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4251960" y="3429000"/>
            <a:ext cx="29169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 long content into a shorter summary the model can reason over directly, preserving the key facts.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7370064" y="31546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552944" y="1965960"/>
            <a:ext cx="3319272" cy="2834640"/>
          </a:xfrm>
          <a:prstGeom prst="roundRect">
            <a:avLst>
              <a:gd name="adj" fmla="val 3226"/>
            </a:avLst>
          </a:prstGeom>
          <a:solidFill>
            <a:srgbClr val="F7F9FC"/>
          </a:solidFill>
          <a:ln/>
        </p:spPr>
      </p:sp>
      <p:sp>
        <p:nvSpPr>
          <p:cNvPr id="22" name="Shape 18"/>
          <p:cNvSpPr/>
          <p:nvPr/>
        </p:nvSpPr>
        <p:spPr>
          <a:xfrm>
            <a:off x="7781544" y="219456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7781544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10003536" y="2148840"/>
            <a:ext cx="548640" cy="548640"/>
          </a:xfrm>
          <a:prstGeom prst="ellipse">
            <a:avLst/>
          </a:prstGeom>
          <a:solidFill>
            <a:srgbClr val="E8EDF5"/>
          </a:solidFill>
          <a:ln/>
        </p:spPr>
      </p:sp>
      <p:pic>
        <p:nvPicPr>
          <p:cNvPr id="25" name="Image 2" descr="/home/claude/icons/clone_1B2A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26980" y="2272284"/>
            <a:ext cx="301752" cy="301752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754112" y="2834640"/>
            <a:ext cx="29169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 with Overlap, Merge Later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7754112" y="3429000"/>
            <a:ext cx="29169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oversized documents into overlapping chunks, process each independently, then merge and reconcile the results.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548640" y="507492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77240" y="50749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practice: </a:t>
            </a:r>
            <a:r>
              <a:rPr lang="en-US" sz="1250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three combine — prune first, summarize what survives, and chunk only what's still too large after that.</a:t>
            </a:r>
            <a:endParaRPr lang="en-US" sz="1250" dirty="0"/>
          </a:p>
        </p:txBody>
      </p:sp>
      <p:sp>
        <p:nvSpPr>
          <p:cNvPr id="30" name="Text 25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Prompt Engineering</a:t>
            </a:r>
            <a:endParaRPr lang="en-US" sz="900" dirty="0"/>
          </a:p>
        </p:txBody>
      </p:sp>
      <p:sp>
        <p:nvSpPr>
          <p:cNvPr id="31" name="Text 26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OVERSIGHT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Human-in-the-Loop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technique so far makes the model more capable — none of them makes it infallible.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(HITL) </a:t>
            </a: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a person in the workflow to check, approve, or correct model output before it takes effect — especially for decisions that are high-stakes, ambiguous, or hard to verify automatically.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FITS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364992"/>
            <a:ext cx="109728" cy="109728"/>
          </a:xfrm>
          <a:prstGeom prst="ellipse">
            <a:avLst/>
          </a:prstGeom>
          <a:solidFill>
            <a:srgbClr val="F2A65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21868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gates before an action executes — sending an email, placing a trade, deploying code.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109728" cy="109728"/>
          </a:xfrm>
          <a:prstGeom prst="ellipse">
            <a:avLst/>
          </a:prstGeom>
          <a:solidFill>
            <a:srgbClr val="F2A65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78561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Flagging low-confidence outputs for review instead of auto-shipping them.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498848"/>
            <a:ext cx="109728" cy="109728"/>
          </a:xfrm>
          <a:prstGeom prst="ellipse">
            <a:avLst/>
          </a:prstGeom>
          <a:solidFill>
            <a:srgbClr val="F2A65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35254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Collecting human feedback that feeds back into prompt or fine-tuning improvements.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5257800"/>
            <a:ext cx="6126480" cy="868680"/>
          </a:xfrm>
          <a:prstGeom prst="roundRect">
            <a:avLst>
              <a:gd name="adj" fmla="val 8421"/>
            </a:avLst>
          </a:prstGeom>
          <a:solidFill>
            <a:srgbClr val="FDF2E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525780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</a:t>
            </a:r>
            <a:r>
              <a:rPr lang="en-US" sz="1150" dirty="0">
                <a:solidFill>
                  <a:srgbClr val="9A6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adds latency and cost — reserve it for decisions where being wrong is genuinely expensive, not every output.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040880" y="1600200"/>
            <a:ext cx="4572000" cy="4526280"/>
          </a:xfrm>
          <a:prstGeom prst="roundRect">
            <a:avLst>
              <a:gd name="adj" fmla="val 2424"/>
            </a:avLst>
          </a:prstGeom>
          <a:solidFill>
            <a:srgbClr val="1B2A4A"/>
          </a:solidFill>
          <a:ln/>
        </p:spPr>
      </p:sp>
      <p:sp>
        <p:nvSpPr>
          <p:cNvPr id="16" name="Shape 14"/>
          <p:cNvSpPr/>
          <p:nvPr/>
        </p:nvSpPr>
        <p:spPr>
          <a:xfrm>
            <a:off x="8869680" y="1965960"/>
            <a:ext cx="914400" cy="914400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17" name="Image 0" descr="/home/claude/icons/usercheck_1B2A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420" y="2171700"/>
            <a:ext cx="502920" cy="5029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315200" y="30632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Risk-based triggering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60920" y="36576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stakes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7360920" y="395935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transactions, medical or legal content, irreversible actions.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7360920" y="4526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confidence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7360920" y="482803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itself signals uncertainty, or output falls outside expected bounds.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7360920" y="5394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 situations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360920" y="569671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unlike anything in testing or training data.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Prompt Engineering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389120"/>
            <a:ext cx="4114800" cy="4114800"/>
          </a:xfrm>
          <a:prstGeom prst="ellipse">
            <a:avLst/>
          </a:prstGeom>
          <a:solidFill>
            <a:srgbClr val="121D3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685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0515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to Remember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3319272" cy="3566160"/>
          </a:xfrm>
          <a:prstGeom prst="roundRect">
            <a:avLst>
              <a:gd name="adj" fmla="val 2755"/>
            </a:avLst>
          </a:prstGeom>
          <a:solidFill>
            <a:srgbClr val="121D33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2423160"/>
            <a:ext cx="685800" cy="685800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7" name="Image 0" descr="/home/claude/icons/balance_1B2A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585" y="2577465"/>
            <a:ext cx="377190" cy="3771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8992" y="3291840"/>
            <a:ext cx="2807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Reasoning is a spending decision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78992" y="4023360"/>
            <a:ext cx="28072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CoT, ToT, and self-consistency all trade extra compute for reliability — use the cheapest one that solves the task.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5112" y="2148840"/>
            <a:ext cx="3319272" cy="3566160"/>
          </a:xfrm>
          <a:prstGeom prst="roundRect">
            <a:avLst>
              <a:gd name="adj" fmla="val 2755"/>
            </a:avLst>
          </a:prstGeom>
          <a:solidFill>
            <a:srgbClr val="121D33"/>
          </a:solidFill>
          <a:ln/>
        </p:spPr>
      </p:sp>
      <p:sp>
        <p:nvSpPr>
          <p:cNvPr id="11" name="Shape 8"/>
          <p:cNvSpPr/>
          <p:nvPr/>
        </p:nvSpPr>
        <p:spPr>
          <a:xfrm>
            <a:off x="4599432" y="2423160"/>
            <a:ext cx="685800" cy="685800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12" name="Image 1" descr="/home/claude/icons/shield_1B2A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3737" y="2577465"/>
            <a:ext cx="377190" cy="37719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1144" y="3291840"/>
            <a:ext cx="2807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 the prompt as an attack surface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581144" y="4023360"/>
            <a:ext cx="28072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instructions from untrusted data, validate input, and monitor output — injection is a real vulnerability, not a novelty.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827264" y="2148840"/>
            <a:ext cx="3319272" cy="3566160"/>
          </a:xfrm>
          <a:prstGeom prst="roundRect">
            <a:avLst>
              <a:gd name="adj" fmla="val 2755"/>
            </a:avLst>
          </a:prstGeom>
          <a:solidFill>
            <a:srgbClr val="121D33"/>
          </a:solidFill>
          <a:ln/>
        </p:spPr>
      </p:sp>
      <p:sp>
        <p:nvSpPr>
          <p:cNvPr id="16" name="Shape 12"/>
          <p:cNvSpPr/>
          <p:nvPr/>
        </p:nvSpPr>
        <p:spPr>
          <a:xfrm>
            <a:off x="8101584" y="2423160"/>
            <a:ext cx="685800" cy="685800"/>
          </a:xfrm>
          <a:prstGeom prst="ellipse">
            <a:avLst/>
          </a:prstGeom>
          <a:solidFill>
            <a:srgbClr val="F2A65A"/>
          </a:solidFill>
          <a:ln/>
        </p:spPr>
      </p:sp>
      <p:pic>
        <p:nvPicPr>
          <p:cNvPr id="17" name="Image 2" descr="/home/claude/icons/userscog_1B2A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5889" y="2577465"/>
            <a:ext cx="377190" cy="37719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083296" y="3291840"/>
            <a:ext cx="2807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scale, prompting becomes engineering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083296" y="4023360"/>
            <a:ext cx="28072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generation and selection where it helps, but keep a human in the loop for the decisions that are genuinely high-stakes.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Prompt Engineering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2792</Words>
  <Application>Microsoft Office PowerPoint</Application>
  <PresentationFormat>Widescreen</PresentationFormat>
  <Paragraphs>339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Atul Kahate</cp:lastModifiedBy>
  <cp:revision>2</cp:revision>
  <dcterms:created xsi:type="dcterms:W3CDTF">2026-09-13T09:45:55Z</dcterms:created>
  <dcterms:modified xsi:type="dcterms:W3CDTF">2026-09-13T09:49:43Z</dcterms:modified>
</cp:coreProperties>
</file>