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1625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23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21D33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846320"/>
            <a:ext cx="3840480" cy="3840480"/>
          </a:xfrm>
          <a:prstGeom prst="ellipse">
            <a:avLst/>
          </a:prstGeom>
          <a:solidFill>
            <a:srgbClr val="121D3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86000"/>
            <a:ext cx="9601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Engineering</a:t>
            </a:r>
            <a:endParaRPr lang="en-US" sz="48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343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Atul Kahate</a:t>
            </a:r>
          </a:p>
          <a:p>
            <a:r>
              <a:rPr lang="en-US" sz="1500" dirty="0">
                <a:solidFill>
                  <a:schemeClr val="bg1"/>
                </a:solidFill>
              </a:rPr>
              <a:t>https://www.linkedin.com/in/atulkahate/</a:t>
            </a:r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005840" cy="0"/>
          </a:xfrm>
          <a:prstGeom prst="line">
            <a:avLst/>
          </a:prstGeom>
          <a:noFill/>
          <a:ln w="38100">
            <a:solidFill>
              <a:srgbClr val="F2A65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Prompt Engineering?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</a:t>
            </a:r>
            <a:r>
              <a:rPr lang="en-US" sz="15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practice of designing instructions that guide an AI model toward a useful, reliable output. It sits between you and the model — the quality of that instruction shapes the quality of everything the model returns.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3273552"/>
            <a:ext cx="146304" cy="146304"/>
          </a:xfrm>
          <a:prstGeom prst="ellipse">
            <a:avLst/>
          </a:prstGeom>
          <a:solidFill>
            <a:srgbClr val="F2A6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1272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ambiguity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290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wording leaves less room for the model to guess what you meant.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142232"/>
            <a:ext cx="146304" cy="146304"/>
          </a:xfrm>
          <a:prstGeom prst="ellipse">
            <a:avLst/>
          </a:prstGeom>
          <a:solidFill>
            <a:srgbClr val="F2A6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99592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relevant context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2976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the model needs — audience, purpose, situation — shapes a fitting response.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5010912"/>
            <a:ext cx="146304" cy="146304"/>
          </a:xfrm>
          <a:prstGeom prst="ellipse">
            <a:avLst/>
          </a:prstGeom>
          <a:solidFill>
            <a:srgbClr val="F2A6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86460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output clear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51663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Stating the expected format up front avoids a second round of edits.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269480" y="1554480"/>
            <a:ext cx="4343400" cy="4343400"/>
          </a:xfrm>
          <a:prstGeom prst="roundRect">
            <a:avLst>
              <a:gd name="adj" fmla="val 2526"/>
            </a:avLst>
          </a:prstGeom>
          <a:solidFill>
            <a:srgbClr val="E8EDF5"/>
          </a:solidFill>
          <a:ln/>
        </p:spPr>
      </p:sp>
      <p:sp>
        <p:nvSpPr>
          <p:cNvPr id="15" name="Shape 13"/>
          <p:cNvSpPr/>
          <p:nvPr/>
        </p:nvSpPr>
        <p:spPr>
          <a:xfrm>
            <a:off x="7635240" y="187452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6" name="Image 0" descr="/home/claude/icons/brain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258" y="2018538"/>
            <a:ext cx="352044" cy="352044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635240" y="26517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prompt is composable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635240" y="306324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prompt can combine several building blocks at once: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635240" y="361188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2A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35240" y="3611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635240" y="4096512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2A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635240" y="40965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635240" y="4581144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2A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35240" y="45811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7635240" y="5065776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2A4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35240" y="50657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635240" y="5550408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2A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635240" y="55504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Formatting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Elements of a Prompt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well-formed prompt answers four questions. Missing any one of them is the most common cause of a vague or unusable response.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06040" cy="393192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2286000"/>
            <a:ext cx="777240" cy="7772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home/claude/icons/listo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7919" y="2460879"/>
            <a:ext cx="427482" cy="42748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13232" y="324612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74904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the model do?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14400" y="4754880"/>
            <a:ext cx="1874520" cy="0"/>
          </a:xfrm>
          <a:prstGeom prst="line">
            <a:avLst/>
          </a:prstGeom>
          <a:noFill/>
          <a:ln w="19050">
            <a:solidFill>
              <a:srgbClr val="F2A6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489204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“Summarize the following report.”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83280" y="1965960"/>
            <a:ext cx="2606040" cy="393192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297680" y="2286000"/>
            <a:ext cx="777240" cy="7772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4" name="Image 1" descr="/home/claude/icons/info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2559" y="2460879"/>
            <a:ext cx="427482" cy="42748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547872" y="324612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584448" y="374904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information needed to understand the task.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3749040" y="4754880"/>
            <a:ext cx="1874520" cy="0"/>
          </a:xfrm>
          <a:prstGeom prst="line">
            <a:avLst/>
          </a:prstGeom>
          <a:noFill/>
          <a:ln w="19050">
            <a:solidFill>
              <a:srgbClr val="F2A65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584448" y="489204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audience, purpose, situation.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965960"/>
            <a:ext cx="2606040" cy="393192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</p:sp>
      <p:sp>
        <p:nvSpPr>
          <p:cNvPr id="20" name="Shape 16"/>
          <p:cNvSpPr/>
          <p:nvPr/>
        </p:nvSpPr>
        <p:spPr>
          <a:xfrm>
            <a:off x="7132320" y="2286000"/>
            <a:ext cx="777240" cy="7772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1" name="Image 2" descr="/home/claude/icons/databas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7199" y="2460879"/>
            <a:ext cx="427482" cy="42748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382512" y="324612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Data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6419088" y="374904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information the model should work with.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583680" y="4754880"/>
            <a:ext cx="1874520" cy="0"/>
          </a:xfrm>
          <a:prstGeom prst="line">
            <a:avLst/>
          </a:prstGeom>
          <a:noFill/>
          <a:ln w="19050">
            <a:solidFill>
              <a:srgbClr val="F2A65A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419088" y="489204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text, a table, code, an image.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9052560" y="1965960"/>
            <a:ext cx="2606040" cy="393192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</p:sp>
      <p:sp>
        <p:nvSpPr>
          <p:cNvPr id="27" name="Shape 22"/>
          <p:cNvSpPr/>
          <p:nvPr/>
        </p:nvSpPr>
        <p:spPr>
          <a:xfrm>
            <a:off x="9966960" y="2286000"/>
            <a:ext cx="777240" cy="7772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8" name="Image 3" descr="/home/claude/icons/bullsey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1839" y="2460879"/>
            <a:ext cx="427482" cy="42748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217152" y="324612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Indicator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9253728" y="374904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the response look like?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9418320" y="4754880"/>
            <a:ext cx="1874520" cy="0"/>
          </a:xfrm>
          <a:prstGeom prst="line">
            <a:avLst/>
          </a:prstGeom>
          <a:noFill/>
          <a:ln w="19050">
            <a:solidFill>
              <a:srgbClr val="F2A65A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9253728" y="489204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“Return 5 bullet points.”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Prompt Elements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four core elements, these refinements sharpen a prompt further — most professional prompts use at least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89404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home/claude/icons/userti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3" y="2229307"/>
            <a:ext cx="341986" cy="34198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1984248"/>
            <a:ext cx="24688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4251960" y="1984248"/>
            <a:ext cx="37033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a role or perspective for the model to adopt.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1984248"/>
            <a:ext cx="27889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 as a Python instructor.”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3035808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250692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home/claude/icons/lightbulb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143" y="3390595"/>
            <a:ext cx="341986" cy="34198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91640" y="3145536"/>
            <a:ext cx="24688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4251960" y="3145536"/>
            <a:ext cx="37033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desired pattern directly, rather than describing it.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3145536"/>
            <a:ext cx="27889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one-shot and few-shot prompting.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48640" y="4197096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F7F9FC"/>
          </a:solidFill>
          <a:ln/>
        </p:spPr>
      </p:sp>
      <p:sp>
        <p:nvSpPr>
          <p:cNvPr id="18" name="Shape 14"/>
          <p:cNvSpPr/>
          <p:nvPr/>
        </p:nvSpPr>
        <p:spPr>
          <a:xfrm>
            <a:off x="777240" y="441198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9" name="Image 2" descr="/home/claude/icons/slider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43" y="4551883"/>
            <a:ext cx="341986" cy="34198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91640" y="4306824"/>
            <a:ext cx="24688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Tone &amp; Constraints</a:t>
            </a:r>
            <a:endParaRPr lang="en-US" sz="1550" dirty="0"/>
          </a:p>
        </p:txBody>
      </p:sp>
      <p:sp>
        <p:nvSpPr>
          <p:cNvPr id="21" name="Text 16"/>
          <p:cNvSpPr txBox="1"/>
          <p:nvPr/>
        </p:nvSpPr>
        <p:spPr>
          <a:xfrm>
            <a:off x="4251960" y="4306824"/>
            <a:ext cx="37033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voice and the boundaries of the response.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092440" y="4306824"/>
            <a:ext cx="27889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Tone: formal, friendly, concise. Constraints: length, format, audience.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548640" y="5358384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</p:spPr>
      </p:sp>
      <p:sp>
        <p:nvSpPr>
          <p:cNvPr id="24" name="Shape 19"/>
          <p:cNvSpPr/>
          <p:nvPr/>
        </p:nvSpPr>
        <p:spPr>
          <a:xfrm>
            <a:off x="777240" y="5573268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5" name="Image 3" descr="/home/claude/icons/cod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143" y="5713171"/>
            <a:ext cx="341986" cy="34198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1640" y="5468112"/>
            <a:ext cx="24688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Delimiters &amp; Syntax</a:t>
            </a:r>
            <a:endParaRPr lang="en-US" sz="1550" dirty="0"/>
          </a:p>
        </p:txBody>
      </p:sp>
      <p:sp>
        <p:nvSpPr>
          <p:cNvPr id="27" name="Text 21"/>
          <p:cNvSpPr txBox="1"/>
          <p:nvPr/>
        </p:nvSpPr>
        <p:spPr>
          <a:xfrm>
            <a:off x="4251960" y="5468112"/>
            <a:ext cx="37033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separates instructions from data so the model can't confuse the two.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8092440" y="5468112"/>
            <a:ext cx="27889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XML tags, Markdown, triple quotes.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Ineffective vs. Effective Prompts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is rarely the topic — it's whether the prompt defines audience, purpose, scope, and format.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120640" cy="3931920"/>
          </a:xfrm>
          <a:prstGeom prst="roundRect">
            <a:avLst>
              <a:gd name="adj" fmla="val 2326"/>
            </a:avLst>
          </a:prstGeom>
          <a:solidFill>
            <a:srgbClr val="FBEAE9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240280"/>
            <a:ext cx="594360" cy="59436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7" name="Image 0" descr="/home/claude/icons/timescircl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11" y="2374011"/>
            <a:ext cx="326898" cy="32689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3042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Ineffective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68680" y="3063240"/>
            <a:ext cx="44805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51560" y="30632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“Tell me about AI.”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4178808"/>
            <a:ext cx="91440" cy="914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97280" y="4041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broad — “AI” covers dozens of subfields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8680" y="4562856"/>
            <a:ext cx="91440" cy="914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97280" y="44256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audience specified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68680" y="4946904"/>
            <a:ext cx="91440" cy="914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97280" y="48097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purpose or scope defined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68680" y="5330952"/>
            <a:ext cx="91440" cy="914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97280" y="51937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output format requested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943600" y="1920240"/>
            <a:ext cx="5120640" cy="3931920"/>
          </a:xfrm>
          <a:prstGeom prst="roundRect">
            <a:avLst>
              <a:gd name="adj" fmla="val 2326"/>
            </a:avLst>
          </a:prstGeom>
          <a:solidFill>
            <a:srgbClr val="E9F6EC"/>
          </a:solidFill>
          <a:ln/>
        </p:spPr>
      </p:sp>
      <p:sp>
        <p:nvSpPr>
          <p:cNvPr id="20" name="Shape 17"/>
          <p:cNvSpPr/>
          <p:nvPr/>
        </p:nvSpPr>
        <p:spPr>
          <a:xfrm>
            <a:off x="6263640" y="2240280"/>
            <a:ext cx="594360" cy="594360"/>
          </a:xfrm>
          <a:prstGeom prst="ellipse">
            <a:avLst/>
          </a:prstGeom>
          <a:solidFill>
            <a:srgbClr val="2E7D46"/>
          </a:solidFill>
          <a:ln/>
        </p:spPr>
      </p:sp>
      <p:pic>
        <p:nvPicPr>
          <p:cNvPr id="21" name="Image 1" descr="/home/claude/icons/checkcircl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7371" y="2374011"/>
            <a:ext cx="326898" cy="32689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995160" y="23042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D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Effective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263640" y="3063240"/>
            <a:ext cx="44805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446520" y="30632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“Explain generative AI to first-year engineering students in 150 words.”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6263640" y="4178808"/>
            <a:ext cx="91440" cy="91440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492240" y="4041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defined: first-year engineering students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6263640" y="4562856"/>
            <a:ext cx="91440" cy="91440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492240" y="44256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scoped: generative AI specifically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263640" y="4946904"/>
            <a:ext cx="91440" cy="91440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492240" y="48097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set: 150 words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6263640" y="5330952"/>
            <a:ext cx="91440" cy="91440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6492240" y="51937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implied: an explanation, not a debate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Techniques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examples you show the model changes how reliably it follows the pattern you want.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319272" cy="3977640"/>
          </a:xfrm>
          <a:prstGeom prst="roundRect">
            <a:avLst>
              <a:gd name="adj" fmla="val 2755"/>
            </a:avLst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1796796" y="224028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796796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200400"/>
            <a:ext cx="2990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Zero-shot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657600"/>
            <a:ext cx="2862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example is provided — the model relies only on the instruction.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286207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434840"/>
            <a:ext cx="2679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“Classify this review as positive or negative.”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349240"/>
            <a:ext cx="2862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simple, well-known tasks.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50792" y="1965960"/>
            <a:ext cx="3319272" cy="3977640"/>
          </a:xfrm>
          <a:prstGeom prst="roundRect">
            <a:avLst>
              <a:gd name="adj" fmla="val 2755"/>
            </a:avLst>
          </a:prstGeom>
          <a:solidFill>
            <a:srgbClr val="F7F9FC"/>
          </a:solidFill>
          <a:ln/>
        </p:spPr>
      </p:sp>
      <p:sp>
        <p:nvSpPr>
          <p:cNvPr id="14" name="Shape 12"/>
          <p:cNvSpPr/>
          <p:nvPr/>
        </p:nvSpPr>
        <p:spPr>
          <a:xfrm>
            <a:off x="5298948" y="224028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98948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215384" y="3200400"/>
            <a:ext cx="2990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One-shot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279392" y="3657600"/>
            <a:ext cx="2862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 is provided to anchor the expected pattern.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79392" y="4434840"/>
            <a:ext cx="286207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70832" y="4434840"/>
            <a:ext cx="2679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→ expected classification → new input.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279392" y="5349240"/>
            <a:ext cx="2862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 format matters more than variety.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52944" y="1965960"/>
            <a:ext cx="3319272" cy="3977640"/>
          </a:xfrm>
          <a:prstGeom prst="roundRect">
            <a:avLst>
              <a:gd name="adj" fmla="val 2755"/>
            </a:avLst>
          </a:prstGeom>
          <a:solidFill>
            <a:srgbClr val="F7F9FC"/>
          </a:solidFill>
          <a:ln/>
        </p:spPr>
      </p:sp>
      <p:sp>
        <p:nvSpPr>
          <p:cNvPr id="22" name="Shape 20"/>
          <p:cNvSpPr/>
          <p:nvPr/>
        </p:nvSpPr>
        <p:spPr>
          <a:xfrm>
            <a:off x="8801100" y="224028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801100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7717536" y="3200400"/>
            <a:ext cx="2990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Few-shot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781544" y="3657600"/>
            <a:ext cx="2862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examples are provided to demonstrate the pattern.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81544" y="4434840"/>
            <a:ext cx="286207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72984" y="4434840"/>
            <a:ext cx="2679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span different cases of the same task.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781544" y="5349240"/>
            <a:ext cx="2862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nuanced or inconsistent tasks.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Templates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make prompts reusable and consistent across an application rather than hand-written each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319272" cy="3977640"/>
          </a:xfrm>
          <a:prstGeom prst="roundRect">
            <a:avLst>
              <a:gd name="adj" fmla="val 2755"/>
            </a:avLst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1819656" y="2286000"/>
            <a:ext cx="777240" cy="7772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home/claude/icons/quo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4535" y="2460879"/>
            <a:ext cx="427482" cy="42748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13232" y="3246120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 Template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749040"/>
            <a:ext cx="2862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text pattern with variables filled in at run time.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05840" y="4846320"/>
            <a:ext cx="2404872" cy="0"/>
          </a:xfrm>
          <a:prstGeom prst="line">
            <a:avLst/>
          </a:prstGeom>
          <a:noFill/>
          <a:ln w="19050">
            <a:solidFill>
              <a:srgbClr val="F2A6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983480"/>
            <a:ext cx="2862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“Summarize this text: {text}”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050792" y="1965960"/>
            <a:ext cx="3319272" cy="3977640"/>
          </a:xfrm>
          <a:prstGeom prst="roundRect">
            <a:avLst>
              <a:gd name="adj" fmla="val 2755"/>
            </a:avLst>
          </a:prstGeom>
          <a:solidFill>
            <a:srgbClr val="F7F9FC"/>
          </a:solidFill>
          <a:ln/>
        </p:spPr>
      </p:sp>
      <p:sp>
        <p:nvSpPr>
          <p:cNvPr id="13" name="Shape 10"/>
          <p:cNvSpPr/>
          <p:nvPr/>
        </p:nvSpPr>
        <p:spPr>
          <a:xfrm>
            <a:off x="5321808" y="2286000"/>
            <a:ext cx="777240" cy="7772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4" name="Image 1" descr="/home/claude/icons/comment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6687" y="2460879"/>
            <a:ext cx="427482" cy="42748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215384" y="3246120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 Template</a:t>
            </a:r>
            <a:endParaRPr lang="en-US" sz="1650" dirty="0"/>
          </a:p>
        </p:txBody>
      </p:sp>
      <p:sp>
        <p:nvSpPr>
          <p:cNvPr id="16" name="Text 12"/>
          <p:cNvSpPr txBox="1"/>
          <p:nvPr/>
        </p:nvSpPr>
        <p:spPr>
          <a:xfrm>
            <a:off x="4279392" y="3749040"/>
            <a:ext cx="2862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conversational roles so the model knows who is speaking.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507992" y="4846320"/>
            <a:ext cx="2404872" cy="0"/>
          </a:xfrm>
          <a:prstGeom prst="line">
            <a:avLst/>
          </a:prstGeom>
          <a:noFill/>
          <a:ln w="19050">
            <a:solidFill>
              <a:srgbClr val="F2A65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79392" y="4983480"/>
            <a:ext cx="2862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→ User → Assistant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552944" y="1965960"/>
            <a:ext cx="3319272" cy="3977640"/>
          </a:xfrm>
          <a:prstGeom prst="roundRect">
            <a:avLst>
              <a:gd name="adj" fmla="val 2755"/>
            </a:avLst>
          </a:prstGeom>
          <a:solidFill>
            <a:srgbClr val="F7F9FC"/>
          </a:solidFill>
          <a:ln/>
        </p:spPr>
      </p:sp>
      <p:sp>
        <p:nvSpPr>
          <p:cNvPr id="20" name="Shape 16"/>
          <p:cNvSpPr/>
          <p:nvPr/>
        </p:nvSpPr>
        <p:spPr>
          <a:xfrm>
            <a:off x="8823960" y="2286000"/>
            <a:ext cx="777240" cy="7772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1" name="Image 2" descr="/home/claude/icons/listu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8839" y="2460879"/>
            <a:ext cx="427482" cy="42748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717536" y="3246120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Messages</a:t>
            </a:r>
            <a:endParaRPr lang="en-US" sz="1650" dirty="0"/>
          </a:p>
        </p:txBody>
      </p:sp>
      <p:sp>
        <p:nvSpPr>
          <p:cNvPr id="23" name="Text 18"/>
          <p:cNvSpPr txBox="1"/>
          <p:nvPr/>
        </p:nvSpPr>
        <p:spPr>
          <a:xfrm>
            <a:off x="7781544" y="3749040"/>
            <a:ext cx="2862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list of messages, each carrying a role and content.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010144" y="4846320"/>
            <a:ext cx="2404872" cy="0"/>
          </a:xfrm>
          <a:prstGeom prst="line">
            <a:avLst/>
          </a:prstGeom>
          <a:noFill/>
          <a:ln w="19050">
            <a:solidFill>
              <a:srgbClr val="F2A65A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81544" y="4983480"/>
            <a:ext cx="2862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 API-based applications.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Engineering vs. Model Fine-Tuning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levers for improving model behavior — and they're often used together, not as alternatives.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120640" cy="3383280"/>
          </a:xfrm>
          <a:prstGeom prst="roundRect">
            <a:avLst>
              <a:gd name="adj" fmla="val 2703"/>
            </a:avLst>
          </a:prstGeom>
          <a:solidFill>
            <a:srgbClr val="E8EDF5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24028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home/claude/icons/commentdot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698" y="2384298"/>
            <a:ext cx="352044" cy="3520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4592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Engineering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108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instructions given to the model. Nothing about the model itself is modified.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88620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Faster and cheaper to experiment with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training data or infrastructure needed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Changes take effect immediately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43600" y="1920240"/>
            <a:ext cx="5120640" cy="3383280"/>
          </a:xfrm>
          <a:prstGeom prst="roundRect">
            <a:avLst>
              <a:gd name="adj" fmla="val 2703"/>
            </a:avLst>
          </a:prstGeom>
          <a:solidFill>
            <a:srgbClr val="1B2A4A"/>
          </a:solidFill>
          <a:ln/>
        </p:spPr>
      </p:sp>
      <p:sp>
        <p:nvSpPr>
          <p:cNvPr id="12" name="Shape 9"/>
          <p:cNvSpPr/>
          <p:nvPr/>
        </p:nvSpPr>
        <p:spPr>
          <a:xfrm>
            <a:off x="6263640" y="2240280"/>
            <a:ext cx="640080" cy="64008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3" name="Image 1" descr="/home/claude/icons/cogs_1B2A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658" y="2384298"/>
            <a:ext cx="352044" cy="3520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Fine-Tuning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263640" y="3108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model itself by training it further on a task- or domain-specific dataset.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263640" y="388620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Useful when specialized behavior is needed repeatedly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Can bake in style, format, or domain knowledge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Higher upfront cost in data and compute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5486400"/>
            <a:ext cx="10515600" cy="685800"/>
          </a:xfrm>
          <a:prstGeom prst="roundRect">
            <a:avLst>
              <a:gd name="adj" fmla="val 10667"/>
            </a:avLst>
          </a:prstGeom>
          <a:solidFill>
            <a:srgbClr val="FDF2E3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77240" y="54864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practice: </a:t>
            </a:r>
            <a:r>
              <a:rPr lang="en-US" sz="12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prompt engineering to explore what's possible, then layer in fine-tuning once a specific behavior needs to be consistent at scale.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Testing &amp; Evaluation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that works once isn't proven — these five practices build confidence that it works consistently.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487168" cy="2331720"/>
          </a:xfrm>
          <a:prstGeom prst="roundRect">
            <a:avLst>
              <a:gd name="adj" fmla="val 3922"/>
            </a:avLst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1472184" y="2221992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home/claude/icons/triangl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6202" y="2366010"/>
            <a:ext cx="352044" cy="3520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" y="2971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Cases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3447288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unusual, ambiguous, incomplete, or adversarial inputs.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36976" y="1965960"/>
            <a:ext cx="2487168" cy="2331720"/>
          </a:xfrm>
          <a:prstGeom prst="roundRect">
            <a:avLst>
              <a:gd name="adj" fmla="val 3922"/>
            </a:avLst>
          </a:prstGeom>
          <a:solidFill>
            <a:srgbClr val="F7F9FC"/>
          </a:solidFill>
          <a:ln/>
        </p:spPr>
      </p:sp>
      <p:sp>
        <p:nvSpPr>
          <p:cNvPr id="11" name="Shape 8"/>
          <p:cNvSpPr/>
          <p:nvPr/>
        </p:nvSpPr>
        <p:spPr>
          <a:xfrm>
            <a:off x="4160520" y="2221992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2" name="Image 1" descr="/home/claude/icons/clipboar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538" y="2366010"/>
            <a:ext cx="352044" cy="3520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64992" y="2971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Systematic Evaluation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3401568" y="3447288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defined criteria and a representative set of test cases.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925312" y="1965960"/>
            <a:ext cx="2487168" cy="2331720"/>
          </a:xfrm>
          <a:prstGeom prst="roundRect">
            <a:avLst>
              <a:gd name="adj" fmla="val 3922"/>
            </a:avLst>
          </a:prstGeom>
          <a:solidFill>
            <a:srgbClr val="F7F9FC"/>
          </a:solidFill>
          <a:ln/>
        </p:spPr>
      </p:sp>
      <p:sp>
        <p:nvSpPr>
          <p:cNvPr id="16" name="Shape 12"/>
          <p:cNvSpPr/>
          <p:nvPr/>
        </p:nvSpPr>
        <p:spPr>
          <a:xfrm>
            <a:off x="6848856" y="2221992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7" name="Image 2" descr="/home/claude/icons/user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874" y="2366010"/>
            <a:ext cx="352044" cy="3520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053328" y="2971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Simulation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6089904" y="3447288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realistic users and the interactions they'd actually have.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613648" y="1965960"/>
            <a:ext cx="2487168" cy="2331720"/>
          </a:xfrm>
          <a:prstGeom prst="roundRect">
            <a:avLst>
              <a:gd name="adj" fmla="val 3922"/>
            </a:avLst>
          </a:prstGeom>
          <a:solidFill>
            <a:srgbClr val="F7F9FC"/>
          </a:solidFill>
          <a:ln/>
        </p:spPr>
      </p:sp>
      <p:sp>
        <p:nvSpPr>
          <p:cNvPr id="21" name="Shape 16"/>
          <p:cNvSpPr/>
          <p:nvPr/>
        </p:nvSpPr>
        <p:spPr>
          <a:xfrm>
            <a:off x="9537192" y="2221992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2" name="Image 3" descr="/home/claude/icons/balanc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1210" y="2366010"/>
            <a:ext cx="352044" cy="3520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41664" y="2971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Analysis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8778240" y="3447288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outputs from different prompts or prompt versions.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48640" y="461772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</p:sp>
      <p:sp>
        <p:nvSpPr>
          <p:cNvPr id="26" name="Shape 20"/>
          <p:cNvSpPr/>
          <p:nvPr/>
        </p:nvSpPr>
        <p:spPr>
          <a:xfrm>
            <a:off x="868680" y="4892040"/>
            <a:ext cx="822960" cy="82296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27" name="Image 4" descr="/home/claude/icons/sync_1B2A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846" y="5077206"/>
            <a:ext cx="452628" cy="45262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965960" y="48280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Iterative Refinement</a:t>
            </a:r>
            <a:endParaRPr lang="en-US" sz="1550" dirty="0"/>
          </a:p>
        </p:txBody>
      </p:sp>
      <p:sp>
        <p:nvSpPr>
          <p:cNvPr id="29" name="Text 22"/>
          <p:cNvSpPr txBox="1"/>
          <p:nvPr/>
        </p:nvSpPr>
        <p:spPr>
          <a:xfrm>
            <a:off x="1965960" y="523036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cycle that ties the other four together: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257800" y="5029200"/>
            <a:ext cx="1188720" cy="594360"/>
          </a:xfrm>
          <a:prstGeom prst="roundRect">
            <a:avLst>
              <a:gd name="adj" fmla="val 49231"/>
            </a:avLst>
          </a:prstGeom>
          <a:solidFill>
            <a:srgbClr val="FFFFFF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5285232" y="5029200"/>
            <a:ext cx="1133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950" dirty="0"/>
          </a:p>
        </p:txBody>
      </p:sp>
      <p:sp>
        <p:nvSpPr>
          <p:cNvPr id="32" name="Text 25"/>
          <p:cNvSpPr txBox="1"/>
          <p:nvPr/>
        </p:nvSpPr>
        <p:spPr>
          <a:xfrm>
            <a:off x="6446520" y="5029200"/>
            <a:ext cx="182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6629400" y="5029200"/>
            <a:ext cx="1188720" cy="594360"/>
          </a:xfrm>
          <a:prstGeom prst="roundRect">
            <a:avLst>
              <a:gd name="adj" fmla="val 49231"/>
            </a:avLst>
          </a:prstGeom>
          <a:solidFill>
            <a:srgbClr val="FFFFFF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656832" y="5029200"/>
            <a:ext cx="1133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problems</a:t>
            </a:r>
            <a:endParaRPr lang="en-US" sz="950" dirty="0"/>
          </a:p>
        </p:txBody>
      </p:sp>
      <p:sp>
        <p:nvSpPr>
          <p:cNvPr id="35" name="Text 28"/>
          <p:cNvSpPr txBox="1"/>
          <p:nvPr/>
        </p:nvSpPr>
        <p:spPr>
          <a:xfrm>
            <a:off x="7818120" y="5029200"/>
            <a:ext cx="182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001000" y="5029200"/>
            <a:ext cx="1188720" cy="594360"/>
          </a:xfrm>
          <a:prstGeom prst="roundRect">
            <a:avLst>
              <a:gd name="adj" fmla="val 49231"/>
            </a:avLst>
          </a:prstGeom>
          <a:solidFill>
            <a:srgbClr val="FFFFFF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8028432" y="5029200"/>
            <a:ext cx="1133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 prompt</a:t>
            </a:r>
            <a:endParaRPr lang="en-US" sz="950" dirty="0"/>
          </a:p>
        </p:txBody>
      </p:sp>
      <p:sp>
        <p:nvSpPr>
          <p:cNvPr id="38" name="Text 31"/>
          <p:cNvSpPr txBox="1"/>
          <p:nvPr/>
        </p:nvSpPr>
        <p:spPr>
          <a:xfrm>
            <a:off x="9189720" y="5029200"/>
            <a:ext cx="182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9372600" y="5029200"/>
            <a:ext cx="1188720" cy="594360"/>
          </a:xfrm>
          <a:prstGeom prst="roundRect">
            <a:avLst>
              <a:gd name="adj" fmla="val 49231"/>
            </a:avLst>
          </a:prstGeom>
          <a:solidFill>
            <a:srgbClr val="FFFFFF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9400032" y="5029200"/>
            <a:ext cx="1133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again</a:t>
            </a:r>
            <a:endParaRPr lang="en-US" sz="950" dirty="0"/>
          </a:p>
        </p:txBody>
      </p:sp>
      <p:sp>
        <p:nvSpPr>
          <p:cNvPr id="41" name="Text 34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42" name="Text 35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Testing Methods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methods that put the evaluation practices from the previous slide into action.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487168" cy="1783080"/>
          </a:xfrm>
          <a:prstGeom prst="roundRect">
            <a:avLst>
              <a:gd name="adj" fmla="val 5128"/>
            </a:avLst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1214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home/claude/icons/random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77" y="2234565"/>
            <a:ext cx="276606" cy="2766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13232" y="26974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A/B Testing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3035808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Prompt A against Prompt B on the same task.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36976" y="1920240"/>
            <a:ext cx="2487168" cy="1783080"/>
          </a:xfrm>
          <a:prstGeom prst="roundRect">
            <a:avLst>
              <a:gd name="adj" fmla="val 5128"/>
            </a:avLst>
          </a:prstGeom>
          <a:solidFill>
            <a:srgbClr val="F7F9FC"/>
          </a:solidFill>
          <a:ln/>
        </p:spPr>
      </p:sp>
      <p:sp>
        <p:nvSpPr>
          <p:cNvPr id="11" name="Shape 8"/>
          <p:cNvSpPr/>
          <p:nvPr/>
        </p:nvSpPr>
        <p:spPr>
          <a:xfrm>
            <a:off x="3419856" y="21214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2" name="Image 1" descr="/home/claude/icons/bol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3013" y="2234565"/>
            <a:ext cx="276606" cy="27660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01568" y="26974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 Testing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3401568" y="3035808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prompt with difficult or extreme inputs.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925312" y="1920240"/>
            <a:ext cx="2487168" cy="1783080"/>
          </a:xfrm>
          <a:prstGeom prst="roundRect">
            <a:avLst>
              <a:gd name="adj" fmla="val 5128"/>
            </a:avLst>
          </a:prstGeom>
          <a:solidFill>
            <a:srgbClr val="F7F9FC"/>
          </a:solidFill>
          <a:ln/>
        </p:spPr>
      </p:sp>
      <p:sp>
        <p:nvSpPr>
          <p:cNvPr id="16" name="Shape 12"/>
          <p:cNvSpPr/>
          <p:nvPr/>
        </p:nvSpPr>
        <p:spPr>
          <a:xfrm>
            <a:off x="6108192" y="21214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7" name="Image 2" descr="/home/claude/icons/brain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1349" y="2234565"/>
            <a:ext cx="276606" cy="27660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089904" y="26974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Analysis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6089904" y="3035808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whether the output preserves the intended meaning.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8613648" y="1920240"/>
            <a:ext cx="2487168" cy="1783080"/>
          </a:xfrm>
          <a:prstGeom prst="roundRect">
            <a:avLst>
              <a:gd name="adj" fmla="val 5128"/>
            </a:avLst>
          </a:prstGeom>
          <a:solidFill>
            <a:srgbClr val="F7F9FC"/>
          </a:solidFill>
          <a:ln/>
        </p:spPr>
      </p:sp>
      <p:sp>
        <p:nvSpPr>
          <p:cNvPr id="21" name="Shape 16"/>
          <p:cNvSpPr/>
          <p:nvPr/>
        </p:nvSpPr>
        <p:spPr>
          <a:xfrm>
            <a:off x="8796528" y="21214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2" name="Image 3" descr="/home/claude/icons/commentdots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9685" y="2234565"/>
            <a:ext cx="276606" cy="27660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0" y="26974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Feedback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8778240" y="3035808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ratings, comments, and task-success feedback.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48640" y="3886200"/>
            <a:ext cx="2487168" cy="1783080"/>
          </a:xfrm>
          <a:prstGeom prst="roundRect">
            <a:avLst>
              <a:gd name="adj" fmla="val 5128"/>
            </a:avLst>
          </a:prstGeom>
          <a:solidFill>
            <a:srgbClr val="E8EDF5"/>
          </a:solidFill>
          <a:ln/>
        </p:spPr>
      </p:sp>
      <p:sp>
        <p:nvSpPr>
          <p:cNvPr id="26" name="Shape 20"/>
          <p:cNvSpPr/>
          <p:nvPr/>
        </p:nvSpPr>
        <p:spPr>
          <a:xfrm>
            <a:off x="731520" y="408736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7" name="Image 4" descr="/home/claude/icons/robo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677" y="4200525"/>
            <a:ext cx="276606" cy="27660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13232" y="466344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Testing</a:t>
            </a:r>
            <a:endParaRPr lang="en-US" sz="1250" dirty="0"/>
          </a:p>
        </p:txBody>
      </p:sp>
      <p:sp>
        <p:nvSpPr>
          <p:cNvPr id="29" name="Text 22"/>
          <p:cNvSpPr txBox="1"/>
          <p:nvPr/>
        </p:nvSpPr>
        <p:spPr>
          <a:xfrm>
            <a:off x="713232" y="5001768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repeatable test set and score outputs automatically.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3236976" y="3886200"/>
            <a:ext cx="2487168" cy="1783080"/>
          </a:xfrm>
          <a:prstGeom prst="roundRect">
            <a:avLst>
              <a:gd name="adj" fmla="val 5128"/>
            </a:avLst>
          </a:prstGeom>
          <a:solidFill>
            <a:srgbClr val="E8EDF5"/>
          </a:solidFill>
          <a:ln/>
        </p:spPr>
      </p:sp>
      <p:sp>
        <p:nvSpPr>
          <p:cNvPr id="31" name="Shape 24"/>
          <p:cNvSpPr/>
          <p:nvPr/>
        </p:nvSpPr>
        <p:spPr>
          <a:xfrm>
            <a:off x="3419856" y="408736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2" name="Image 5" descr="/home/claude/icons/exchange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33013" y="4200525"/>
            <a:ext cx="276606" cy="276606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401568" y="466344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Cross-Model Testing</a:t>
            </a:r>
            <a:endParaRPr lang="en-US" sz="1250" dirty="0"/>
          </a:p>
        </p:txBody>
      </p:sp>
      <p:sp>
        <p:nvSpPr>
          <p:cNvPr id="34" name="Text 26"/>
          <p:cNvSpPr txBox="1"/>
          <p:nvPr/>
        </p:nvSpPr>
        <p:spPr>
          <a:xfrm>
            <a:off x="3401568" y="5001768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same prompt across different models.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5925312" y="3886200"/>
            <a:ext cx="2487168" cy="1783080"/>
          </a:xfrm>
          <a:prstGeom prst="roundRect">
            <a:avLst>
              <a:gd name="adj" fmla="val 5128"/>
            </a:avLst>
          </a:prstGeom>
          <a:solidFill>
            <a:srgbClr val="E8EDF5"/>
          </a:solidFill>
          <a:ln/>
        </p:spPr>
      </p:sp>
      <p:sp>
        <p:nvSpPr>
          <p:cNvPr id="36" name="Shape 28"/>
          <p:cNvSpPr/>
          <p:nvPr/>
        </p:nvSpPr>
        <p:spPr>
          <a:xfrm>
            <a:off x="6108192" y="408736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7" name="Image 6" descr="/home/claude/icons/theater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1349" y="4200525"/>
            <a:ext cx="276606" cy="276606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089904" y="466344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Scenario-Based Testing</a:t>
            </a:r>
            <a:endParaRPr lang="en-US" sz="1250" dirty="0"/>
          </a:p>
        </p:txBody>
      </p:sp>
      <p:sp>
        <p:nvSpPr>
          <p:cNvPr id="39" name="Text 30"/>
          <p:cNvSpPr txBox="1"/>
          <p:nvPr/>
        </p:nvSpPr>
        <p:spPr>
          <a:xfrm>
            <a:off x="6089904" y="5001768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realistic scenarios representing actual use cases.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41" name="Text 32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Engineering 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of the ecosystem that has grown up around writing, testing, and running prompts at scale.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487168" cy="3566160"/>
          </a:xfrm>
          <a:prstGeom prst="roundRect">
            <a:avLst>
              <a:gd name="adj" fmla="val 3676"/>
            </a:avLst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1449324" y="2258568"/>
            <a:ext cx="685800" cy="6858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home/claude/icons/stor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629" y="2412873"/>
            <a:ext cx="377190" cy="3771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" y="3108960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PromptBase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56616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marketplace to browse, buy, and sell ready-made prompts for different use cases.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36976" y="1965960"/>
            <a:ext cx="2487168" cy="3566160"/>
          </a:xfrm>
          <a:prstGeom prst="roundRect">
            <a:avLst>
              <a:gd name="adj" fmla="val 3676"/>
            </a:avLst>
          </a:prstGeom>
          <a:solidFill>
            <a:srgbClr val="F7F9FC"/>
          </a:solidFill>
          <a:ln/>
        </p:spPr>
      </p:sp>
      <p:sp>
        <p:nvSpPr>
          <p:cNvPr id="11" name="Shape 8"/>
          <p:cNvSpPr/>
          <p:nvPr/>
        </p:nvSpPr>
        <p:spPr>
          <a:xfrm>
            <a:off x="4137660" y="2258568"/>
            <a:ext cx="685800" cy="6858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2" name="Image 1" descr="/home/claude/icons/cub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1965" y="2412873"/>
            <a:ext cx="377190" cy="3771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64992" y="3108960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OpenPrompt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3419856" y="356616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framework for building and experimenting with prompt-based NLP pipelines.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925312" y="1965960"/>
            <a:ext cx="2487168" cy="3566160"/>
          </a:xfrm>
          <a:prstGeom prst="roundRect">
            <a:avLst>
              <a:gd name="adj" fmla="val 3676"/>
            </a:avLst>
          </a:prstGeom>
          <a:solidFill>
            <a:srgbClr val="F7F9FC"/>
          </a:solidFill>
          <a:ln/>
        </p:spPr>
      </p:sp>
      <p:sp>
        <p:nvSpPr>
          <p:cNvPr id="16" name="Shape 12"/>
          <p:cNvSpPr/>
          <p:nvPr/>
        </p:nvSpPr>
        <p:spPr>
          <a:xfrm>
            <a:off x="6825996" y="2258568"/>
            <a:ext cx="685800" cy="6858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7" name="Image 2" descr="/home/claude/icons/magic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0301" y="2412873"/>
            <a:ext cx="377190" cy="37719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053328" y="3108960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PromptPerfect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6108192" y="356616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rewrites and tunes prompts to improve clarity and performance.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613648" y="1965960"/>
            <a:ext cx="2487168" cy="3566160"/>
          </a:xfrm>
          <a:prstGeom prst="roundRect">
            <a:avLst>
              <a:gd name="adj" fmla="val 3676"/>
            </a:avLst>
          </a:prstGeom>
          <a:solidFill>
            <a:srgbClr val="F7F9FC"/>
          </a:solidFill>
          <a:ln/>
        </p:spPr>
      </p:sp>
      <p:sp>
        <p:nvSpPr>
          <p:cNvPr id="21" name="Shape 16"/>
          <p:cNvSpPr/>
          <p:nvPr/>
        </p:nvSpPr>
        <p:spPr>
          <a:xfrm>
            <a:off x="9514332" y="2258568"/>
            <a:ext cx="685800" cy="6858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2" name="Image 3" descr="/home/claude/icons/chartlin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8637" y="2412873"/>
            <a:ext cx="377190" cy="37719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41664" y="3108960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Agenta</a:t>
            </a:r>
            <a:endParaRPr lang="en-US" sz="1450" dirty="0"/>
          </a:p>
        </p:txBody>
      </p:sp>
      <p:sp>
        <p:nvSpPr>
          <p:cNvPr id="24" name="Text 18"/>
          <p:cNvSpPr txBox="1"/>
          <p:nvPr/>
        </p:nvSpPr>
        <p:spPr>
          <a:xfrm>
            <a:off x="8796528" y="356616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platform for prompt experimentation, evaluation, and observability.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It Together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sequence for building a prompt from scratch and hardening it over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920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task clearly.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25856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exactly what you want the model to do.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89864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98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529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relevant context and input data.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19125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what it needs to understand the situation.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856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the expected output.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12394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length, and structure — stated up front.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764024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7640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7183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persona, examples, tone, constraints, and delimiters when useful.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05663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 refinements once the basics are solid.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09360" y="19659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19202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normal inputs and edge cases.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3865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it holds up outside the happy path.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9360" y="289864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09360" y="2898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285292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results and refine the prompt.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331927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A/B or comparison analysis to pick a winner.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0" y="3831336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09360" y="38313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78561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fine-tuning when prompting alone isn't sufficient.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949440" y="42519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training only once prompting hits its ceiling.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389120"/>
            <a:ext cx="4114800" cy="4114800"/>
          </a:xfrm>
          <a:prstGeom prst="ellipse">
            <a:avLst/>
          </a:prstGeom>
          <a:solidFill>
            <a:srgbClr val="121D3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685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0515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19272" cy="3566160"/>
          </a:xfrm>
          <a:prstGeom prst="roundRect">
            <a:avLst>
              <a:gd name="adj" fmla="val 2755"/>
            </a:avLst>
          </a:prstGeom>
          <a:solidFill>
            <a:srgbClr val="121D33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2423160"/>
            <a:ext cx="685800" cy="68580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7" name="Image 0" descr="/home/claude/icons/rocket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585" y="2577465"/>
            <a:ext cx="377190" cy="3771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3291840"/>
            <a:ext cx="2807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beats length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78992" y="3931920"/>
            <a:ext cx="2807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prompt that defines instruction, context, data, and output format outperforms a long, vague one.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5112" y="2148840"/>
            <a:ext cx="3319272" cy="3566160"/>
          </a:xfrm>
          <a:prstGeom prst="roundRect">
            <a:avLst>
              <a:gd name="adj" fmla="val 2755"/>
            </a:avLst>
          </a:prstGeom>
          <a:solidFill>
            <a:srgbClr val="121D33"/>
          </a:solidFill>
          <a:ln/>
        </p:spPr>
      </p:sp>
      <p:sp>
        <p:nvSpPr>
          <p:cNvPr id="11" name="Shape 8"/>
          <p:cNvSpPr/>
          <p:nvPr/>
        </p:nvSpPr>
        <p:spPr>
          <a:xfrm>
            <a:off x="4599432" y="2423160"/>
            <a:ext cx="685800" cy="68580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2" name="Image 1" descr="/home/claude/icons/sync_1B2A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737" y="2577465"/>
            <a:ext cx="377190" cy="3771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1144" y="3291840"/>
            <a:ext cx="2807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 prompts as testable code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81144" y="3931920"/>
            <a:ext cx="2807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them, run them against edge cases, and compare results before shipping.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27264" y="2148840"/>
            <a:ext cx="3319272" cy="3566160"/>
          </a:xfrm>
          <a:prstGeom prst="roundRect">
            <a:avLst>
              <a:gd name="adj" fmla="val 2755"/>
            </a:avLst>
          </a:prstGeom>
          <a:solidFill>
            <a:srgbClr val="121D33"/>
          </a:solidFill>
          <a:ln/>
        </p:spPr>
      </p:sp>
      <p:sp>
        <p:nvSpPr>
          <p:cNvPr id="16" name="Shape 12"/>
          <p:cNvSpPr/>
          <p:nvPr/>
        </p:nvSpPr>
        <p:spPr>
          <a:xfrm>
            <a:off x="8101584" y="2423160"/>
            <a:ext cx="685800" cy="68580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7" name="Image 2" descr="/home/claude/icons/cogs_1B2A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5889" y="2577465"/>
            <a:ext cx="377190" cy="37719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083296" y="3291840"/>
            <a:ext cx="2807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and fine-tuning are complementary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083296" y="3931920"/>
            <a:ext cx="2807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prompting to explore; reach for fine-tuning only when consistency at scale is required.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Essentials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1336</Words>
  <Application>Microsoft Office PowerPoint</Application>
  <PresentationFormat>Widescreen</PresentationFormat>
  <Paragraphs>227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Atul Kahate</cp:lastModifiedBy>
  <cp:revision>2</cp:revision>
  <dcterms:created xsi:type="dcterms:W3CDTF">2026-09-13T09:07:33Z</dcterms:created>
  <dcterms:modified xsi:type="dcterms:W3CDTF">2026-09-13T09:10:47Z</dcterms:modified>
</cp:coreProperties>
</file>