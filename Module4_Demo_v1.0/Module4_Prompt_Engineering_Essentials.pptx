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625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Kahate</a:t>
            </a:r>
          </a:p>
          <a:p>
            <a:r>
              <a:rPr lang="en-US" sz="1500" dirty="0">
                <a:solidFill>
                  <a:schemeClr val="bg1"/>
                </a:solidFill>
              </a:rPr>
              <a:t>https://www.linkedin.com/in/atulkahate/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00584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Prompt Engineering?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</a:t>
            </a:r>
            <a:r>
              <a:rPr lang="en-US" sz="15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practice of designing instructions that guide an AI model toward a useful, reliable output. It sits between you and the model — the quality of that instruction shapes the quality of everything the model returns.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273552"/>
            <a:ext cx="146304" cy="14630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1272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ambiguity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wording leaves less room for the model to guess what you meant.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142232"/>
            <a:ext cx="146304" cy="14630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9959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relevant context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976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the model needs — audience, purpose, situation — shapes a fitting response.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010912"/>
            <a:ext cx="146304" cy="14630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8646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output clear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1663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the expected format up front avoids a second round of edits.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1554480"/>
            <a:ext cx="4343400" cy="4343400"/>
          </a:xfrm>
          <a:prstGeom prst="roundRect">
            <a:avLst>
              <a:gd name="adj" fmla="val 2526"/>
            </a:avLst>
          </a:prstGeom>
          <a:solidFill>
            <a:srgbClr val="E8ED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635240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0" descr="/home/claude/icons/bra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258" y="2018538"/>
            <a:ext cx="352044" cy="3520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635240" y="26517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is composable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3063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prompt can combine several building blocks at once: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635240" y="361188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35240" y="3611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635240" y="4096512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35240" y="40965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635240" y="4581144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35240" y="45811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635240" y="5065776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635240" y="50657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635240" y="555040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635240" y="5550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Elements of a Prompt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well-formed prompt answers four questions. Missing any one of them is the most common cause of a vague or unusable response.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2860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icons/listo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919" y="2460879"/>
            <a:ext cx="427482" cy="4274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" y="324612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7490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model do?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4754880"/>
            <a:ext cx="187452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489204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the following report.”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9659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22860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/home/claude/icons/info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559" y="2460879"/>
            <a:ext cx="427482" cy="42748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47872" y="324612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84448" y="37490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information needed to understand the task.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749040" y="4754880"/>
            <a:ext cx="187452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584448" y="489204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audience, purpose, situation.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19659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20" name="Shape 16"/>
          <p:cNvSpPr/>
          <p:nvPr/>
        </p:nvSpPr>
        <p:spPr>
          <a:xfrm>
            <a:off x="7132320" y="22860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2" descr="/home/claude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199" y="2460879"/>
            <a:ext cx="427482" cy="42748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82512" y="324612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Data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419088" y="37490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information the model should work with.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583680" y="4754880"/>
            <a:ext cx="187452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419088" y="489204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text, a table, code, an image.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9052560" y="19659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27" name="Shape 22"/>
          <p:cNvSpPr/>
          <p:nvPr/>
        </p:nvSpPr>
        <p:spPr>
          <a:xfrm>
            <a:off x="9966960" y="22860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8" name="Image 3" descr="/home/claude/icons/bulls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839" y="2460879"/>
            <a:ext cx="427482" cy="42748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217152" y="324612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Indicator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253728" y="37490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response look like?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9418320" y="4754880"/>
            <a:ext cx="187452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253728" y="489204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“Return 5 bullet points.”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Prompt Elements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four core elements, these refinements sharpen a prompt further — most professional prompts use at least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89404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icons/userti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43" y="2229307"/>
            <a:ext cx="341986" cy="3419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984248"/>
            <a:ext cx="2468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4251960" y="1984248"/>
            <a:ext cx="3703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role or perspective for the model to adopt.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1984248"/>
            <a:ext cx="2788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as a Python instructor.”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035808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3250692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/home/claude/icons/lightbul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3" y="3390595"/>
            <a:ext cx="341986" cy="3419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91640" y="3145536"/>
            <a:ext cx="2468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251960" y="3145536"/>
            <a:ext cx="3703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desired pattern directly, rather than describing it.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3145536"/>
            <a:ext cx="2788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one-shot and few-shot prompting.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197096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F7F9FC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41198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2" descr="/home/claude/icons/slid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3" y="4551883"/>
            <a:ext cx="341986" cy="34198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91640" y="4306824"/>
            <a:ext cx="2468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Tone &amp; Constraints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4251960" y="4306824"/>
            <a:ext cx="3703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voice and the boundaries of the response.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092440" y="4306824"/>
            <a:ext cx="2788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formal, friendly, concise. Constraints: length, format, audience.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5358384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777240" y="5573268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5" name="Image 3" descr="/home/claude/icons/cod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43" y="5713171"/>
            <a:ext cx="341986" cy="34198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91640" y="5468112"/>
            <a:ext cx="2468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Delimiters &amp; Syntax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4251960" y="5468112"/>
            <a:ext cx="3703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separates instructions from data so the model can't confuse the two.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092440" y="5468112"/>
            <a:ext cx="2788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XML tags, Markdown, triple quotes.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Ineffective vs. Effective Prompts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rarely the topic — it's whether the prompt defines audience, purpose, scope, and format.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BEAE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/home/claude/icons/times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11" y="2374011"/>
            <a:ext cx="326898" cy="3268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3042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Ineffective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306324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30632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AI.”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417880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0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broad — “AI” covers dozens of subfields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562856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7280" y="4425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 specified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4946904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7280" y="4809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purpose or scope defined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5330952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97280" y="5193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format requested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0" y="192024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E9F6EC"/>
          </a:solidFill>
          <a:ln/>
        </p:spPr>
      </p:sp>
      <p:sp>
        <p:nvSpPr>
          <p:cNvPr id="20" name="Shape 17"/>
          <p:cNvSpPr/>
          <p:nvPr/>
        </p:nvSpPr>
        <p:spPr>
          <a:xfrm>
            <a:off x="6263640" y="2240280"/>
            <a:ext cx="594360" cy="594360"/>
          </a:xfrm>
          <a:prstGeom prst="ellipse">
            <a:avLst/>
          </a:prstGeom>
          <a:solidFill>
            <a:srgbClr val="2E7D46"/>
          </a:solidFill>
          <a:ln/>
        </p:spPr>
      </p:sp>
      <p:pic>
        <p:nvPicPr>
          <p:cNvPr id="21" name="Image 1" descr="/home/claude/icons/checkcirc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371" y="2374011"/>
            <a:ext cx="326898" cy="32689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95160" y="23042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263640" y="306324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446520" y="30632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generative AI to first-year engineering students in 150 words.”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263640" y="4178808"/>
            <a:ext cx="91440" cy="9144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492240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defined: first-year engineering students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263640" y="4562856"/>
            <a:ext cx="91440" cy="9144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492240" y="4425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scoped: generative AI specifically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263640" y="4946904"/>
            <a:ext cx="91440" cy="9144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492240" y="4809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set: 150 words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263640" y="5330952"/>
            <a:ext cx="91440" cy="9144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492240" y="5193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implied: an explanation, not a debate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Techniques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examples you show the model changes how reliably it follows the pattern you want.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19272" cy="3977640"/>
          </a:xfrm>
          <a:prstGeom prst="roundRect">
            <a:avLst>
              <a:gd name="adj" fmla="val 2755"/>
            </a:avLst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1796796" y="22402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96796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20040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 is provided — the model relies only on the instruction.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434840"/>
            <a:ext cx="28620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4348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“Classify this review as positive or negative.”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34924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simple, well-known tasks.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50792" y="1965960"/>
            <a:ext cx="3319272" cy="3977640"/>
          </a:xfrm>
          <a:prstGeom prst="roundRect">
            <a:avLst>
              <a:gd name="adj" fmla="val 2755"/>
            </a:avLst>
          </a:prstGeom>
          <a:solidFill>
            <a:srgbClr val="F7F9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298948" y="22402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98948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215384" y="320040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279392" y="365760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is provided to anchor the expected pattern.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79392" y="4434840"/>
            <a:ext cx="28620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70832" y="44348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→ expected classification → new input.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279392" y="534924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format matters more than variety.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52944" y="1965960"/>
            <a:ext cx="3319272" cy="3977640"/>
          </a:xfrm>
          <a:prstGeom prst="roundRect">
            <a:avLst>
              <a:gd name="adj" fmla="val 2755"/>
            </a:avLst>
          </a:prstGeom>
          <a:solidFill>
            <a:srgbClr val="F7F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8801100" y="22402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011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717536" y="320040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781544" y="365760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examples are provided to demonstrate the pattern.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81544" y="4434840"/>
            <a:ext cx="28620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72984" y="44348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span different cases of the same task.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781544" y="534924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nuanced or inconsistent tasks.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Templates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make prompts reusable and consistent across an application rather than hand-written each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19272" cy="3977640"/>
          </a:xfrm>
          <a:prstGeom prst="roundRect">
            <a:avLst>
              <a:gd name="adj" fmla="val 2755"/>
            </a:avLst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1819656" y="22860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icons/quo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535" y="2460879"/>
            <a:ext cx="427482" cy="4274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" y="32461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Template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4904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text pattern with variables filled in at run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4846320"/>
            <a:ext cx="2404872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98348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this text: {text}”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50792" y="1965960"/>
            <a:ext cx="3319272" cy="3977640"/>
          </a:xfrm>
          <a:prstGeom prst="roundRect">
            <a:avLst>
              <a:gd name="adj" fmla="val 2755"/>
            </a:avLst>
          </a:prstGeom>
          <a:solidFill>
            <a:srgbClr val="F7F9FC"/>
          </a:solidFill>
          <a:ln/>
        </p:spPr>
      </p:sp>
      <p:sp>
        <p:nvSpPr>
          <p:cNvPr id="13" name="Shape 10"/>
          <p:cNvSpPr/>
          <p:nvPr/>
        </p:nvSpPr>
        <p:spPr>
          <a:xfrm>
            <a:off x="5321808" y="22860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/home/claude/icons/comment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687" y="2460879"/>
            <a:ext cx="427482" cy="42748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15384" y="32461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Template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4279392" y="374904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conversational roles so the model knows who is speaking.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07992" y="4846320"/>
            <a:ext cx="2404872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279392" y="498348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→ User → Assistant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552944" y="1965960"/>
            <a:ext cx="3319272" cy="3977640"/>
          </a:xfrm>
          <a:prstGeom prst="roundRect">
            <a:avLst>
              <a:gd name="adj" fmla="val 2755"/>
            </a:avLst>
          </a:prstGeom>
          <a:solidFill>
            <a:srgbClr val="F7F9FC"/>
          </a:solidFill>
          <a:ln/>
        </p:spPr>
      </p:sp>
      <p:sp>
        <p:nvSpPr>
          <p:cNvPr id="20" name="Shape 16"/>
          <p:cNvSpPr/>
          <p:nvPr/>
        </p:nvSpPr>
        <p:spPr>
          <a:xfrm>
            <a:off x="8823960" y="22860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2" descr="/home/claude/icons/listu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8839" y="2460879"/>
            <a:ext cx="427482" cy="42748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717536" y="32461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</a:t>
            </a:r>
            <a:endParaRPr lang="en-US" sz="1650" dirty="0"/>
          </a:p>
        </p:txBody>
      </p:sp>
      <p:sp>
        <p:nvSpPr>
          <p:cNvPr id="23" name="Text 18"/>
          <p:cNvSpPr txBox="1"/>
          <p:nvPr/>
        </p:nvSpPr>
        <p:spPr>
          <a:xfrm>
            <a:off x="7781544" y="374904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list of messages, each carrying a role and content.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010144" y="4846320"/>
            <a:ext cx="2404872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781544" y="498348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API-based applications.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vs. Model Fine-Tuning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levers for improving model behavior — and they're often used together, not as alternatives.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E8EDF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icons/commentdo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23842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108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instructions given to the model. Nothing about the model itself is modified.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8862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and cheaper to experiment with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training data or infrastructure needed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Changes take effect immediately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192024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1B2A4A"/>
          </a:solidFill>
          <a:ln/>
        </p:spPr>
      </p:sp>
      <p:sp>
        <p:nvSpPr>
          <p:cNvPr id="12" name="Shape 9"/>
          <p:cNvSpPr/>
          <p:nvPr/>
        </p:nvSpPr>
        <p:spPr>
          <a:xfrm>
            <a:off x="6263640" y="224028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3" name="Image 1" descr="/home/claude/icons/cogs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658" y="238429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4088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Fine-Tuning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263640" y="3108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model itself by training it further on a task- or domain-specific dataset.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38862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Useful when specialized behavior is needed repeatedly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bake in style, format, or domain knowledge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Higher upfront cost in data and compute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548640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DF2E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7240" y="54864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</a:t>
            </a:r>
            <a:r>
              <a:rPr lang="en-US" sz="12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prompt engineering to explore what's possible, then layer in fine-tuning once a specific behavior needs to be consistent at scale.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Testing &amp; Evaluation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that works once isn't proven — these five practices build confidence that it works consistently.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87168" cy="2331720"/>
          </a:xfrm>
          <a:prstGeom prst="roundRect">
            <a:avLst>
              <a:gd name="adj" fmla="val 3922"/>
            </a:avLst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1472184" y="222199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icons/trian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202" y="2366010"/>
            <a:ext cx="352044" cy="3520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" y="2971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44728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unusual, ambiguous, incomplete, or adversarial inputs.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36976" y="1965960"/>
            <a:ext cx="2487168" cy="2331720"/>
          </a:xfrm>
          <a:prstGeom prst="roundRect">
            <a:avLst>
              <a:gd name="adj" fmla="val 3922"/>
            </a:avLst>
          </a:prstGeom>
          <a:solidFill>
            <a:srgbClr val="F7F9FC"/>
          </a:solidFill>
          <a:ln/>
        </p:spPr>
      </p:sp>
      <p:sp>
        <p:nvSpPr>
          <p:cNvPr id="11" name="Shape 8"/>
          <p:cNvSpPr/>
          <p:nvPr/>
        </p:nvSpPr>
        <p:spPr>
          <a:xfrm>
            <a:off x="4160520" y="222199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icons/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538" y="2366010"/>
            <a:ext cx="352044" cy="3520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64992" y="2971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Evaluation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401568" y="344728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defined criteria and a representative set of test cases.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25312" y="1965960"/>
            <a:ext cx="2487168" cy="2331720"/>
          </a:xfrm>
          <a:prstGeom prst="roundRect">
            <a:avLst>
              <a:gd name="adj" fmla="val 3922"/>
            </a:avLst>
          </a:prstGeom>
          <a:solidFill>
            <a:srgbClr val="F7F9FC"/>
          </a:solidFill>
          <a:ln/>
        </p:spPr>
      </p:sp>
      <p:sp>
        <p:nvSpPr>
          <p:cNvPr id="16" name="Shape 12"/>
          <p:cNvSpPr/>
          <p:nvPr/>
        </p:nvSpPr>
        <p:spPr>
          <a:xfrm>
            <a:off x="6848856" y="222199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/home/claude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874" y="2366010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53328" y="2971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Simulation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089904" y="344728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realistic users and the interactions they'd actually have.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613648" y="1965960"/>
            <a:ext cx="2487168" cy="2331720"/>
          </a:xfrm>
          <a:prstGeom prst="roundRect">
            <a:avLst>
              <a:gd name="adj" fmla="val 3922"/>
            </a:avLst>
          </a:prstGeom>
          <a:solidFill>
            <a:srgbClr val="F7F9FC"/>
          </a:solidFill>
          <a:ln/>
        </p:spPr>
      </p:sp>
      <p:sp>
        <p:nvSpPr>
          <p:cNvPr id="21" name="Shape 16"/>
          <p:cNvSpPr/>
          <p:nvPr/>
        </p:nvSpPr>
        <p:spPr>
          <a:xfrm>
            <a:off x="9537192" y="222199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3" descr="/home/claude/icons/balanc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1210" y="2366010"/>
            <a:ext cx="352044" cy="3520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41664" y="2971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Analysis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8778240" y="344728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 from different prompts or prompt versions.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61772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4892040"/>
            <a:ext cx="822960" cy="8229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7" name="Image 4" descr="/home/claude/icons/sync_1B2A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846" y="5077206"/>
            <a:ext cx="452628" cy="45262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965960" y="4828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Refinement</a:t>
            </a:r>
            <a:endParaRPr lang="en-US" sz="1550" dirty="0"/>
          </a:p>
        </p:txBody>
      </p:sp>
      <p:sp>
        <p:nvSpPr>
          <p:cNvPr id="29" name="Text 22"/>
          <p:cNvSpPr txBox="1"/>
          <p:nvPr/>
        </p:nvSpPr>
        <p:spPr>
          <a:xfrm>
            <a:off x="1965960" y="52303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that ties the other four together: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257800" y="5029200"/>
            <a:ext cx="118872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5285232" y="502920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6446520" y="502920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629400" y="5029200"/>
            <a:ext cx="118872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656832" y="502920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problems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7818120" y="502920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001000" y="5029200"/>
            <a:ext cx="118872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8028432" y="502920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prompt</a:t>
            </a:r>
            <a:endParaRPr lang="en-US" sz="950" dirty="0"/>
          </a:p>
        </p:txBody>
      </p:sp>
      <p:sp>
        <p:nvSpPr>
          <p:cNvPr id="38" name="Text 31"/>
          <p:cNvSpPr txBox="1"/>
          <p:nvPr/>
        </p:nvSpPr>
        <p:spPr>
          <a:xfrm>
            <a:off x="9189720" y="502920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9372600" y="5029200"/>
            <a:ext cx="118872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9400032" y="5029200"/>
            <a:ext cx="1133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</a:t>
            </a:r>
            <a:endParaRPr lang="en-US" sz="950" dirty="0"/>
          </a:p>
        </p:txBody>
      </p:sp>
      <p:sp>
        <p:nvSpPr>
          <p:cNvPr id="41" name="Text 3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Testing Methods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methods that put the evaluation practices from the previous slide into action.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87168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214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icons/rando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" y="2234565"/>
            <a:ext cx="276606" cy="2766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Testing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03580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Prompt A against Prompt B on the same task.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36976" y="1920240"/>
            <a:ext cx="2487168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/>
        </p:spPr>
      </p:sp>
      <p:sp>
        <p:nvSpPr>
          <p:cNvPr id="11" name="Shape 8"/>
          <p:cNvSpPr/>
          <p:nvPr/>
        </p:nvSpPr>
        <p:spPr>
          <a:xfrm>
            <a:off x="3419856" y="21214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icons/bo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013" y="2234565"/>
            <a:ext cx="276606" cy="27660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01568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Testing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401568" y="303580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prompt with difficult or extreme inputs.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25312" y="1920240"/>
            <a:ext cx="2487168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/>
        </p:spPr>
      </p:sp>
      <p:sp>
        <p:nvSpPr>
          <p:cNvPr id="16" name="Shape 12"/>
          <p:cNvSpPr/>
          <p:nvPr/>
        </p:nvSpPr>
        <p:spPr>
          <a:xfrm>
            <a:off x="6108192" y="21214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/home/claude/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349" y="2234565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89904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Analysis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089904" y="303580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output preserves the intended meaning.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613648" y="1920240"/>
            <a:ext cx="2487168" cy="1783080"/>
          </a:xfrm>
          <a:prstGeom prst="roundRect">
            <a:avLst>
              <a:gd name="adj" fmla="val 5128"/>
            </a:avLst>
          </a:prstGeom>
          <a:solidFill>
            <a:srgbClr val="F7F9FC"/>
          </a:solidFill>
          <a:ln/>
        </p:spPr>
      </p:sp>
      <p:sp>
        <p:nvSpPr>
          <p:cNvPr id="21" name="Shape 16"/>
          <p:cNvSpPr/>
          <p:nvPr/>
        </p:nvSpPr>
        <p:spPr>
          <a:xfrm>
            <a:off x="8796528" y="21214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3" descr="/home/claude/icons/commentdot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9685" y="2234565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78240" y="26974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Feedback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8778240" y="303580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ratings, comments, and task-success feedback.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3886200"/>
            <a:ext cx="2487168" cy="1783080"/>
          </a:xfrm>
          <a:prstGeom prst="roundRect">
            <a:avLst>
              <a:gd name="adj" fmla="val 5128"/>
            </a:avLst>
          </a:prstGeom>
          <a:solidFill>
            <a:srgbClr val="E8EDF5"/>
          </a:solidFill>
          <a:ln/>
        </p:spPr>
      </p:sp>
      <p:sp>
        <p:nvSpPr>
          <p:cNvPr id="26" name="Shape 20"/>
          <p:cNvSpPr/>
          <p:nvPr/>
        </p:nvSpPr>
        <p:spPr>
          <a:xfrm>
            <a:off x="731520" y="40873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7" name="Image 4" descr="/home/claude/icons/robo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677" y="4200525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13232" y="46634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713232" y="50017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repeatable test set and score outputs automatically.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236976" y="3886200"/>
            <a:ext cx="2487168" cy="1783080"/>
          </a:xfrm>
          <a:prstGeom prst="roundRect">
            <a:avLst>
              <a:gd name="adj" fmla="val 5128"/>
            </a:avLst>
          </a:prstGeom>
          <a:solidFill>
            <a:srgbClr val="E8EDF5"/>
          </a:solidFill>
          <a:ln/>
        </p:spPr>
      </p:sp>
      <p:sp>
        <p:nvSpPr>
          <p:cNvPr id="31" name="Shape 24"/>
          <p:cNvSpPr/>
          <p:nvPr/>
        </p:nvSpPr>
        <p:spPr>
          <a:xfrm>
            <a:off x="3419856" y="40873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2" name="Image 5" descr="/home/claude/icons/exchang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3013" y="4200525"/>
            <a:ext cx="276606" cy="27660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401568" y="46634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Cross-Model Testing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3401568" y="50017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same prompt across different models.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925312" y="3886200"/>
            <a:ext cx="2487168" cy="1783080"/>
          </a:xfrm>
          <a:prstGeom prst="roundRect">
            <a:avLst>
              <a:gd name="adj" fmla="val 5128"/>
            </a:avLst>
          </a:prstGeom>
          <a:solidFill>
            <a:srgbClr val="E8EDF5"/>
          </a:solidFill>
          <a:ln/>
        </p:spPr>
      </p:sp>
      <p:sp>
        <p:nvSpPr>
          <p:cNvPr id="36" name="Shape 28"/>
          <p:cNvSpPr/>
          <p:nvPr/>
        </p:nvSpPr>
        <p:spPr>
          <a:xfrm>
            <a:off x="6108192" y="40873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7" name="Image 6" descr="/home/claude/icons/theater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1349" y="4200525"/>
            <a:ext cx="276606" cy="27660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089904" y="46634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Scenario-Based Testing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6089904" y="50017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realistic scenarios representing actual use cases.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7CD7D-5906-ED1E-38B3-49BC3662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761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178EDF-6CFA-DD2C-6458-205A3C37B6AE}"/>
              </a:ext>
            </a:extLst>
          </p:cNvPr>
          <p:cNvSpPr txBox="1"/>
          <p:nvPr/>
        </p:nvSpPr>
        <p:spPr>
          <a:xfrm>
            <a:off x="46383" y="1497496"/>
            <a:ext cx="141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Embedding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570743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8F314-F5D4-780E-7784-8F72769EA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C3D02E-9919-B4DE-2024-7D8F50BCB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508" y="0"/>
            <a:ext cx="10287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7180D2-AAD8-E2BD-3718-A303F2895728}"/>
              </a:ext>
            </a:extLst>
          </p:cNvPr>
          <p:cNvSpPr txBox="1"/>
          <p:nvPr/>
        </p:nvSpPr>
        <p:spPr>
          <a:xfrm>
            <a:off x="46383" y="1497496"/>
            <a:ext cx="141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RAG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20126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sequence for building a prompt from scratch and hardening it over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task clearly.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585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exactly what you want the model to do.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52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relevant context and input data.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912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what it needs to understand the situation.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856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expected output.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1239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length, and structure — stated up front.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6402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7183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persona, examples, tone, constraints, and delimiters when useful.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056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refinements once the basics are solid.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19659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920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normal inputs and edge cases.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3865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 holds up outside the happy path.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289864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2852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 and refine the prompt.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33192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A/B or comparison analysis to pick a winner.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83133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7856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fine-tuning when prompting alone isn't sufficient.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251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training only once prompting hits its ceiling.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51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19272" cy="3566160"/>
          </a:xfrm>
          <a:prstGeom prst="roundRect">
            <a:avLst>
              <a:gd name="adj" fmla="val 2755"/>
            </a:avLst>
          </a:prstGeom>
          <a:solidFill>
            <a:srgbClr val="121D33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42316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0" descr="/home/claude/icons/rocket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585" y="2577465"/>
            <a:ext cx="377190" cy="3771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78992" y="329184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beats length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3931920"/>
            <a:ext cx="2807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prompt that defines instruction, context, data, and output format outperforms a long, vague 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2148840"/>
            <a:ext cx="3319272" cy="3566160"/>
          </a:xfrm>
          <a:prstGeom prst="roundRect">
            <a:avLst>
              <a:gd name="adj" fmla="val 2755"/>
            </a:avLst>
          </a:prstGeom>
          <a:solidFill>
            <a:srgbClr val="121D33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242316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2" name="Image 1" descr="/home/claude/icons/sync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37" y="257746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81144" y="329184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prompts as testable code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81144" y="3931920"/>
            <a:ext cx="2807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them, run them against edge cases, and compare results before shipping.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27264" y="2148840"/>
            <a:ext cx="3319272" cy="3566160"/>
          </a:xfrm>
          <a:prstGeom prst="roundRect">
            <a:avLst>
              <a:gd name="adj" fmla="val 2755"/>
            </a:avLst>
          </a:prstGeom>
          <a:solidFill>
            <a:srgbClr val="121D33"/>
          </a:solidFill>
          <a:ln/>
        </p:spPr>
      </p:sp>
      <p:sp>
        <p:nvSpPr>
          <p:cNvPr id="16" name="Shape 12"/>
          <p:cNvSpPr/>
          <p:nvPr/>
        </p:nvSpPr>
        <p:spPr>
          <a:xfrm>
            <a:off x="8101584" y="242316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2" descr="/home/claude/icons/cogs_1B2A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889" y="257746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83296" y="329184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and fine-tuning are complementary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083296" y="3931920"/>
            <a:ext cx="2807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prompting to explore; reach for fine-tuning only when consistency at scale is required.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1253</Words>
  <Application>Microsoft Office PowerPoint</Application>
  <PresentationFormat>Widescreen</PresentationFormat>
  <Paragraphs>215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Atul Kahate</cp:lastModifiedBy>
  <cp:revision>4</cp:revision>
  <dcterms:created xsi:type="dcterms:W3CDTF">2026-09-13T09:07:33Z</dcterms:created>
  <dcterms:modified xsi:type="dcterms:W3CDTF">2026-09-22T06:49:52Z</dcterms:modified>
</cp:coreProperties>
</file>