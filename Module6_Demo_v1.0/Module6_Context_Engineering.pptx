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74" r:id="rId12"/>
    <p:sldId id="266" r:id="rId13"/>
    <p:sldId id="267" r:id="rId14"/>
    <p:sldId id="268" r:id="rId15"/>
    <p:sldId id="269"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794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21D33"/>
          </a:solidFill>
          <a:ln/>
        </p:spPr>
      </p:sp>
      <p:sp>
        <p:nvSpPr>
          <p:cNvPr id="3" name="Shape 1"/>
          <p:cNvSpPr/>
          <p:nvPr/>
        </p:nvSpPr>
        <p:spPr>
          <a:xfrm>
            <a:off x="-1645920" y="4846320"/>
            <a:ext cx="3840480" cy="3840480"/>
          </a:xfrm>
          <a:prstGeom prst="ellipse">
            <a:avLst/>
          </a:prstGeom>
          <a:solidFill>
            <a:srgbClr val="121D33"/>
          </a:solidFill>
          <a:ln/>
        </p:spPr>
      </p:sp>
      <p:sp>
        <p:nvSpPr>
          <p:cNvPr id="4" name="Text 2"/>
          <p:cNvSpPr txBox="1"/>
          <p:nvPr/>
        </p:nvSpPr>
        <p:spPr>
          <a:xfrm>
            <a:off x="822960" y="1828800"/>
            <a:ext cx="5486400" cy="365760"/>
          </a:xfrm>
          <a:prstGeom prst="rect">
            <a:avLst/>
          </a:prstGeom>
          <a:noFill/>
          <a:ln/>
        </p:spPr>
        <p:txBody>
          <a:bodyPr wrap="square" lIns="0" tIns="0" rIns="0" bIns="0" rtlCol="0" anchor="ctr"/>
          <a:lstStyle/>
          <a:p>
            <a:pPr marL="0" indent="0">
              <a:buNone/>
            </a:pPr>
            <a:r>
              <a:rPr lang="en-US" sz="1400" b="1" kern="0" spc="300" dirty="0">
                <a:solidFill>
                  <a:srgbClr val="F2A65A"/>
                </a:solidFill>
                <a:latin typeface="Calibri" pitchFamily="34" charset="0"/>
                <a:ea typeface="Calibri" pitchFamily="34" charset="-122"/>
                <a:cs typeface="Calibri" pitchFamily="34" charset="-120"/>
              </a:rPr>
              <a:t>MODULE 6</a:t>
            </a:r>
            <a:endParaRPr lang="en-US" sz="1400" dirty="0"/>
          </a:p>
        </p:txBody>
      </p:sp>
      <p:sp>
        <p:nvSpPr>
          <p:cNvPr id="5" name="Text 3"/>
          <p:cNvSpPr txBox="1"/>
          <p:nvPr/>
        </p:nvSpPr>
        <p:spPr>
          <a:xfrm>
            <a:off x="777240" y="2240280"/>
            <a:ext cx="100584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Context Engineering</a:t>
            </a:r>
            <a:endParaRPr lang="en-US" sz="4600" dirty="0"/>
          </a:p>
        </p:txBody>
      </p:sp>
      <p:sp>
        <p:nvSpPr>
          <p:cNvPr id="6" name="Shape 4"/>
          <p:cNvSpPr/>
          <p:nvPr/>
        </p:nvSpPr>
        <p:spPr>
          <a:xfrm>
            <a:off x="822960" y="3429000"/>
            <a:ext cx="1005840" cy="0"/>
          </a:xfrm>
          <a:prstGeom prst="line">
            <a:avLst/>
          </a:prstGeom>
          <a:noFill/>
          <a:ln w="38100">
            <a:solidFill>
              <a:srgbClr val="F2A65A"/>
            </a:solidFill>
            <a:prstDash val="solid"/>
          </a:ln>
        </p:spPr>
      </p:sp>
      <p:sp>
        <p:nvSpPr>
          <p:cNvPr id="7" name="Text 5"/>
          <p:cNvSpPr txBox="1"/>
          <p:nvPr/>
        </p:nvSpPr>
        <p:spPr>
          <a:xfrm>
            <a:off x="822960" y="3611880"/>
            <a:ext cx="8138160" cy="822960"/>
          </a:xfrm>
          <a:prstGeom prst="rect">
            <a:avLst/>
          </a:prstGeom>
          <a:noFill/>
          <a:ln/>
        </p:spPr>
        <p:txBody>
          <a:bodyPr wrap="square" lIns="0" tIns="0" rIns="0" bIns="0" rtlCol="0" anchor="ctr"/>
          <a:lstStyle/>
          <a:p>
            <a:pPr marL="0" indent="0">
              <a:buNone/>
            </a:pPr>
            <a:r>
              <a:rPr lang="en-US" sz="1500" dirty="0">
                <a:solidFill>
                  <a:srgbClr val="E8EDF5"/>
                </a:solidFill>
                <a:latin typeface="Calibri" pitchFamily="34" charset="0"/>
                <a:ea typeface="Calibri" pitchFamily="34" charset="-122"/>
                <a:cs typeface="Calibri" pitchFamily="34" charset="-120"/>
              </a:rPr>
              <a:t>Atul Kahate</a:t>
            </a:r>
          </a:p>
          <a:p>
            <a:r>
              <a:rPr lang="en-US" sz="1500">
                <a:solidFill>
                  <a:srgbClr val="E8EDF5"/>
                </a:solidFill>
                <a:latin typeface="Calibri" pitchFamily="34" charset="0"/>
                <a:ea typeface="Calibri" pitchFamily="34" charset="-122"/>
                <a:cs typeface="Calibri" pitchFamily="34" charset="-120"/>
              </a:rPr>
              <a:t>https://www.linkedin.com/in/atulkahate/</a:t>
            </a:r>
            <a:endParaRPr lang="en-US" sz="1500" dirty="0">
              <a:solidFill>
                <a:srgbClr val="E8EDF5"/>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We'll Cover</a:t>
            </a:r>
            <a:endParaRPr lang="en-US" sz="32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Four themes, moving from the basic constraint to the systems built to work within it.</a:t>
            </a:r>
            <a:endParaRPr lang="en-US" sz="1350" dirty="0"/>
          </a:p>
        </p:txBody>
      </p:sp>
      <p:sp>
        <p:nvSpPr>
          <p:cNvPr id="5" name="Shape 3"/>
          <p:cNvSpPr/>
          <p:nvPr/>
        </p:nvSpPr>
        <p:spPr>
          <a:xfrm>
            <a:off x="548640" y="1965960"/>
            <a:ext cx="5074920" cy="1920240"/>
          </a:xfrm>
          <a:prstGeom prst="roundRect">
            <a:avLst>
              <a:gd name="adj" fmla="val 4762"/>
            </a:avLst>
          </a:prstGeom>
          <a:solidFill>
            <a:srgbClr val="F7F9FC"/>
          </a:solidFill>
          <a:ln/>
        </p:spPr>
      </p:sp>
      <p:sp>
        <p:nvSpPr>
          <p:cNvPr id="6" name="Text 4"/>
          <p:cNvSpPr txBox="1"/>
          <p:nvPr/>
        </p:nvSpPr>
        <p:spPr>
          <a:xfrm>
            <a:off x="4434840" y="2103120"/>
            <a:ext cx="1005840" cy="822960"/>
          </a:xfrm>
          <a:prstGeom prst="rect">
            <a:avLst/>
          </a:prstGeom>
          <a:noFill/>
          <a:ln/>
        </p:spPr>
        <p:txBody>
          <a:bodyPr wrap="square" lIns="0" tIns="0" rIns="0" bIns="0" rtlCol="0" anchor="ctr"/>
          <a:lstStyle/>
          <a:p>
            <a:pPr marL="0" indent="0" algn="r">
              <a:buNone/>
            </a:pPr>
            <a:r>
              <a:rPr lang="en-US" sz="4000" b="1" dirty="0">
                <a:solidFill>
                  <a:srgbClr val="E8EDF5"/>
                </a:solidFill>
                <a:latin typeface="Cambria" pitchFamily="34" charset="0"/>
                <a:ea typeface="Cambria" pitchFamily="34" charset="-122"/>
                <a:cs typeface="Cambria" pitchFamily="34" charset="-120"/>
              </a:rPr>
              <a:t>01</a:t>
            </a:r>
            <a:endParaRPr lang="en-US" sz="4000" dirty="0"/>
          </a:p>
        </p:txBody>
      </p:sp>
      <p:sp>
        <p:nvSpPr>
          <p:cNvPr id="7" name="Shape 5"/>
          <p:cNvSpPr/>
          <p:nvPr/>
        </p:nvSpPr>
        <p:spPr>
          <a:xfrm>
            <a:off x="822960" y="2240280"/>
            <a:ext cx="594360" cy="594360"/>
          </a:xfrm>
          <a:prstGeom prst="ellipse">
            <a:avLst/>
          </a:prstGeom>
          <a:solidFill>
            <a:srgbClr val="1B2A4A"/>
          </a:solidFill>
          <a:ln/>
        </p:spPr>
      </p:sp>
      <p:pic>
        <p:nvPicPr>
          <p:cNvPr id="8" name="Image 0" descr="/home/claude/icons/window_FFFFFF.png"/>
          <p:cNvPicPr>
            <a:picLocks noChangeAspect="1"/>
          </p:cNvPicPr>
          <p:nvPr/>
        </p:nvPicPr>
        <p:blipFill>
          <a:blip r:embed="rId3"/>
          <a:stretch>
            <a:fillRect/>
          </a:stretch>
        </p:blipFill>
        <p:spPr>
          <a:xfrm>
            <a:off x="956691" y="2374011"/>
            <a:ext cx="326898" cy="326898"/>
          </a:xfrm>
          <a:prstGeom prst="rect">
            <a:avLst/>
          </a:prstGeom>
        </p:spPr>
      </p:pic>
      <p:sp>
        <p:nvSpPr>
          <p:cNvPr id="9" name="Text 6"/>
          <p:cNvSpPr txBox="1"/>
          <p:nvPr/>
        </p:nvSpPr>
        <p:spPr>
          <a:xfrm>
            <a:off x="1600200" y="2240280"/>
            <a:ext cx="3703320" cy="41148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1. Context Fundamentals</a:t>
            </a:r>
            <a:endParaRPr lang="en-US" sz="1550" dirty="0"/>
          </a:p>
        </p:txBody>
      </p:sp>
      <p:sp>
        <p:nvSpPr>
          <p:cNvPr id="10" name="Text 7"/>
          <p:cNvSpPr txBox="1"/>
          <p:nvPr/>
        </p:nvSpPr>
        <p:spPr>
          <a:xfrm>
            <a:off x="822960" y="2926080"/>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The context window, token costs, and why multi-turn conversations grow the way they do.</a:t>
            </a:r>
            <a:endParaRPr lang="en-US" sz="1150" dirty="0"/>
          </a:p>
        </p:txBody>
      </p:sp>
      <p:sp>
        <p:nvSpPr>
          <p:cNvPr id="11" name="Shape 8"/>
          <p:cNvSpPr/>
          <p:nvPr/>
        </p:nvSpPr>
        <p:spPr>
          <a:xfrm>
            <a:off x="5989320" y="1965960"/>
            <a:ext cx="5074920" cy="1920240"/>
          </a:xfrm>
          <a:prstGeom prst="roundRect">
            <a:avLst>
              <a:gd name="adj" fmla="val 4762"/>
            </a:avLst>
          </a:prstGeom>
          <a:solidFill>
            <a:srgbClr val="F7F9FC"/>
          </a:solidFill>
          <a:ln/>
        </p:spPr>
      </p:sp>
      <p:sp>
        <p:nvSpPr>
          <p:cNvPr id="12" name="Text 9"/>
          <p:cNvSpPr txBox="1"/>
          <p:nvPr/>
        </p:nvSpPr>
        <p:spPr>
          <a:xfrm>
            <a:off x="9875520" y="2103120"/>
            <a:ext cx="1005840" cy="822960"/>
          </a:xfrm>
          <a:prstGeom prst="rect">
            <a:avLst/>
          </a:prstGeom>
          <a:noFill/>
          <a:ln/>
        </p:spPr>
        <p:txBody>
          <a:bodyPr wrap="square" lIns="0" tIns="0" rIns="0" bIns="0" rtlCol="0" anchor="ctr"/>
          <a:lstStyle/>
          <a:p>
            <a:pPr marL="0" indent="0" algn="r">
              <a:buNone/>
            </a:pPr>
            <a:r>
              <a:rPr lang="en-US" sz="4000" b="1" dirty="0">
                <a:solidFill>
                  <a:srgbClr val="E8EDF5"/>
                </a:solidFill>
                <a:latin typeface="Cambria" pitchFamily="34" charset="0"/>
                <a:ea typeface="Cambria" pitchFamily="34" charset="-122"/>
                <a:cs typeface="Cambria" pitchFamily="34" charset="-120"/>
              </a:rPr>
              <a:t>02</a:t>
            </a:r>
            <a:endParaRPr lang="en-US" sz="4000" dirty="0"/>
          </a:p>
        </p:txBody>
      </p:sp>
      <p:sp>
        <p:nvSpPr>
          <p:cNvPr id="13" name="Shape 10"/>
          <p:cNvSpPr/>
          <p:nvPr/>
        </p:nvSpPr>
        <p:spPr>
          <a:xfrm>
            <a:off x="6263640" y="2240280"/>
            <a:ext cx="594360" cy="594360"/>
          </a:xfrm>
          <a:prstGeom prst="ellipse">
            <a:avLst/>
          </a:prstGeom>
          <a:solidFill>
            <a:srgbClr val="1B2A4A"/>
          </a:solidFill>
          <a:ln/>
        </p:spPr>
      </p:sp>
      <p:pic>
        <p:nvPicPr>
          <p:cNvPr id="14" name="Image 1" descr="/home/claude/icons/inbox_FFFFFF.png"/>
          <p:cNvPicPr>
            <a:picLocks noChangeAspect="1"/>
          </p:cNvPicPr>
          <p:nvPr/>
        </p:nvPicPr>
        <p:blipFill>
          <a:blip r:embed="rId4"/>
          <a:stretch>
            <a:fillRect/>
          </a:stretch>
        </p:blipFill>
        <p:spPr>
          <a:xfrm>
            <a:off x="6397371" y="2374011"/>
            <a:ext cx="326898" cy="326898"/>
          </a:xfrm>
          <a:prstGeom prst="rect">
            <a:avLst/>
          </a:prstGeom>
        </p:spPr>
      </p:pic>
      <p:sp>
        <p:nvSpPr>
          <p:cNvPr id="15" name="Text 11"/>
          <p:cNvSpPr txBox="1"/>
          <p:nvPr/>
        </p:nvSpPr>
        <p:spPr>
          <a:xfrm>
            <a:off x="7040880" y="2240280"/>
            <a:ext cx="3703320" cy="41148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2. Context &amp; Memory Management</a:t>
            </a:r>
            <a:endParaRPr lang="en-US" sz="1550" dirty="0"/>
          </a:p>
        </p:txBody>
      </p:sp>
      <p:sp>
        <p:nvSpPr>
          <p:cNvPr id="16" name="Text 12"/>
          <p:cNvSpPr txBox="1"/>
          <p:nvPr/>
        </p:nvSpPr>
        <p:spPr>
          <a:xfrm>
            <a:off x="6263640" y="2926080"/>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Chunking, summarization, windowing, and the three flavors of conversational memory.</a:t>
            </a:r>
            <a:endParaRPr lang="en-US" sz="1150" dirty="0"/>
          </a:p>
        </p:txBody>
      </p:sp>
      <p:sp>
        <p:nvSpPr>
          <p:cNvPr id="17" name="Shape 13"/>
          <p:cNvSpPr/>
          <p:nvPr/>
        </p:nvSpPr>
        <p:spPr>
          <a:xfrm>
            <a:off x="548640" y="4160520"/>
            <a:ext cx="5074920" cy="1920240"/>
          </a:xfrm>
          <a:prstGeom prst="roundRect">
            <a:avLst>
              <a:gd name="adj" fmla="val 4762"/>
            </a:avLst>
          </a:prstGeom>
          <a:solidFill>
            <a:srgbClr val="F7F9FC"/>
          </a:solidFill>
          <a:ln/>
        </p:spPr>
      </p:sp>
      <p:sp>
        <p:nvSpPr>
          <p:cNvPr id="18" name="Text 14"/>
          <p:cNvSpPr txBox="1"/>
          <p:nvPr/>
        </p:nvSpPr>
        <p:spPr>
          <a:xfrm>
            <a:off x="4434840" y="4297680"/>
            <a:ext cx="1005840" cy="822960"/>
          </a:xfrm>
          <a:prstGeom prst="rect">
            <a:avLst/>
          </a:prstGeom>
          <a:noFill/>
          <a:ln/>
        </p:spPr>
        <p:txBody>
          <a:bodyPr wrap="square" lIns="0" tIns="0" rIns="0" bIns="0" rtlCol="0" anchor="ctr"/>
          <a:lstStyle/>
          <a:p>
            <a:pPr marL="0" indent="0" algn="r">
              <a:buNone/>
            </a:pPr>
            <a:r>
              <a:rPr lang="en-US" sz="4000" b="1" dirty="0">
                <a:solidFill>
                  <a:srgbClr val="E8EDF5"/>
                </a:solidFill>
                <a:latin typeface="Cambria" pitchFamily="34" charset="0"/>
                <a:ea typeface="Cambria" pitchFamily="34" charset="-122"/>
                <a:cs typeface="Cambria" pitchFamily="34" charset="-120"/>
              </a:rPr>
              <a:t>03</a:t>
            </a:r>
            <a:endParaRPr lang="en-US" sz="4000" dirty="0"/>
          </a:p>
        </p:txBody>
      </p:sp>
      <p:sp>
        <p:nvSpPr>
          <p:cNvPr id="19" name="Shape 15"/>
          <p:cNvSpPr/>
          <p:nvPr/>
        </p:nvSpPr>
        <p:spPr>
          <a:xfrm>
            <a:off x="822960" y="4434840"/>
            <a:ext cx="594360" cy="594360"/>
          </a:xfrm>
          <a:prstGeom prst="ellipse">
            <a:avLst/>
          </a:prstGeom>
          <a:solidFill>
            <a:srgbClr val="1B2A4A"/>
          </a:solidFill>
          <a:ln/>
        </p:spPr>
      </p:sp>
      <p:pic>
        <p:nvPicPr>
          <p:cNvPr id="20" name="Image 2" descr="/home/claude/icons/search_FFFFFF.png"/>
          <p:cNvPicPr>
            <a:picLocks noChangeAspect="1"/>
          </p:cNvPicPr>
          <p:nvPr/>
        </p:nvPicPr>
        <p:blipFill>
          <a:blip r:embed="rId5"/>
          <a:stretch>
            <a:fillRect/>
          </a:stretch>
        </p:blipFill>
        <p:spPr>
          <a:xfrm>
            <a:off x="956691" y="4568571"/>
            <a:ext cx="326898" cy="326898"/>
          </a:xfrm>
          <a:prstGeom prst="rect">
            <a:avLst/>
          </a:prstGeom>
        </p:spPr>
      </p:pic>
      <p:sp>
        <p:nvSpPr>
          <p:cNvPr id="21" name="Text 16"/>
          <p:cNvSpPr txBox="1"/>
          <p:nvPr/>
        </p:nvSpPr>
        <p:spPr>
          <a:xfrm>
            <a:off x="1600200" y="4434840"/>
            <a:ext cx="3703320" cy="41148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3. Retrieval &amp; Document Chunking</a:t>
            </a:r>
            <a:endParaRPr lang="en-US" sz="1550" dirty="0"/>
          </a:p>
        </p:txBody>
      </p:sp>
      <p:sp>
        <p:nvSpPr>
          <p:cNvPr id="22" name="Text 17"/>
          <p:cNvSpPr txBox="1"/>
          <p:nvPr/>
        </p:nvSpPr>
        <p:spPr>
          <a:xfrm>
            <a:off x="822960" y="5120640"/>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Loading documents, splitting them well, and retrieving only what's relevant as context.</a:t>
            </a:r>
            <a:endParaRPr lang="en-US" sz="1150" dirty="0"/>
          </a:p>
        </p:txBody>
      </p:sp>
      <p:sp>
        <p:nvSpPr>
          <p:cNvPr id="23" name="Shape 18"/>
          <p:cNvSpPr/>
          <p:nvPr/>
        </p:nvSpPr>
        <p:spPr>
          <a:xfrm>
            <a:off x="5989320" y="4160520"/>
            <a:ext cx="5074920" cy="1920240"/>
          </a:xfrm>
          <a:prstGeom prst="roundRect">
            <a:avLst>
              <a:gd name="adj" fmla="val 4762"/>
            </a:avLst>
          </a:prstGeom>
          <a:solidFill>
            <a:srgbClr val="F7F9FC"/>
          </a:solidFill>
          <a:ln/>
        </p:spPr>
      </p:sp>
      <p:sp>
        <p:nvSpPr>
          <p:cNvPr id="24" name="Text 19"/>
          <p:cNvSpPr txBox="1"/>
          <p:nvPr/>
        </p:nvSpPr>
        <p:spPr>
          <a:xfrm>
            <a:off x="9875520" y="4297680"/>
            <a:ext cx="1005840" cy="822960"/>
          </a:xfrm>
          <a:prstGeom prst="rect">
            <a:avLst/>
          </a:prstGeom>
          <a:noFill/>
          <a:ln/>
        </p:spPr>
        <p:txBody>
          <a:bodyPr wrap="square" lIns="0" tIns="0" rIns="0" bIns="0" rtlCol="0" anchor="ctr"/>
          <a:lstStyle/>
          <a:p>
            <a:pPr marL="0" indent="0" algn="r">
              <a:buNone/>
            </a:pPr>
            <a:r>
              <a:rPr lang="en-US" sz="4000" b="1" dirty="0">
                <a:solidFill>
                  <a:srgbClr val="E8EDF5"/>
                </a:solidFill>
                <a:latin typeface="Cambria" pitchFamily="34" charset="0"/>
                <a:ea typeface="Cambria" pitchFamily="34" charset="-122"/>
                <a:cs typeface="Cambria" pitchFamily="34" charset="-120"/>
              </a:rPr>
              <a:t>04</a:t>
            </a:r>
            <a:endParaRPr lang="en-US" sz="4000" dirty="0"/>
          </a:p>
        </p:txBody>
      </p:sp>
      <p:sp>
        <p:nvSpPr>
          <p:cNvPr id="25" name="Shape 20"/>
          <p:cNvSpPr/>
          <p:nvPr/>
        </p:nvSpPr>
        <p:spPr>
          <a:xfrm>
            <a:off x="6263640" y="4434840"/>
            <a:ext cx="594360" cy="594360"/>
          </a:xfrm>
          <a:prstGeom prst="ellipse">
            <a:avLst/>
          </a:prstGeom>
          <a:solidFill>
            <a:srgbClr val="1B2A4A"/>
          </a:solidFill>
          <a:ln/>
        </p:spPr>
      </p:sp>
      <p:pic>
        <p:nvPicPr>
          <p:cNvPr id="26" name="Image 3" descr="/home/claude/icons/history_FFFFFF.png"/>
          <p:cNvPicPr>
            <a:picLocks noChangeAspect="1"/>
          </p:cNvPicPr>
          <p:nvPr/>
        </p:nvPicPr>
        <p:blipFill>
          <a:blip r:embed="rId6"/>
          <a:stretch>
            <a:fillRect/>
          </a:stretch>
        </p:blipFill>
        <p:spPr>
          <a:xfrm>
            <a:off x="6397371" y="4568571"/>
            <a:ext cx="326898" cy="326898"/>
          </a:xfrm>
          <a:prstGeom prst="rect">
            <a:avLst/>
          </a:prstGeom>
        </p:spPr>
      </p:pic>
      <p:sp>
        <p:nvSpPr>
          <p:cNvPr id="27" name="Text 21"/>
          <p:cNvSpPr txBox="1"/>
          <p:nvPr/>
        </p:nvSpPr>
        <p:spPr>
          <a:xfrm>
            <a:off x="7040880" y="4434840"/>
            <a:ext cx="3703320" cy="41148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4. Context at Scale</a:t>
            </a:r>
            <a:endParaRPr lang="en-US" sz="1550" dirty="0"/>
          </a:p>
        </p:txBody>
      </p:sp>
      <p:sp>
        <p:nvSpPr>
          <p:cNvPr id="28" name="Text 22"/>
          <p:cNvSpPr txBox="1"/>
          <p:nvPr/>
        </p:nvSpPr>
        <p:spPr>
          <a:xfrm>
            <a:off x="6263640" y="5120640"/>
            <a:ext cx="4526280" cy="868680"/>
          </a:xfrm>
          <a:prstGeom prst="rect">
            <a:avLst/>
          </a:prstGeom>
          <a:noFill/>
          <a:ln/>
        </p:spPr>
        <p:txBody>
          <a:bodyPr wrap="square" lIns="0" tIns="0" rIns="0" bIns="0"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Structuring multi-turn history, resuming across sessions, and measuring token usage precisely.</a:t>
            </a:r>
            <a:endParaRPr lang="en-US" sz="1150" dirty="0"/>
          </a:p>
        </p:txBody>
      </p:sp>
      <p:sp>
        <p:nvSpPr>
          <p:cNvPr id="29" name="Text 23"/>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4"/>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FUNDAMENTALS · 1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The Context Window</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The single budget every instruction, message, and retrieved document has to share.</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The context window is the maximum number of tokens a model can process in a single call — covering the system prompt, the conversation so far, any retrieved documents, and the response it's about to generate. Content beyond that limit is simply invisible to the model.</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WHAT COUNTS AGAINST IT</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The system prompt and instructions.</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The full conversation history sent with the request.</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Any retrieved documents or tool outputs inserted as context.</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The model's own response, generated within the same window.</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models don't attend to every position equally well — content buried in the middle of a long context is more likely to get missed than content near the start or end.</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window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CONTEXT WINDOW MATH</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What fits in 128K tokens</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300 pages of plain text</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15 average research papers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A multi-hour chat transcript</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Once a conversation exceeds the window, older content must be dropped, summarized, or moved into retrieval.</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the window is shared — instructions, history, retrieved text, and the response all draw from one fixed budget.</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FUNDAMENTALS · 2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Token Costs: Input, Output, and Total</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Every call has two separate bills — and they're usually priced differently.</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API pricing is typically metered separately for input tokens (everything sent to the model) and output tokens (what it generates back). Total cost per call is the sum of both, and output tokens are often priced higher than input.</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IT'S CALCULATED</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Input tokens: system prompt + conversation history + retrieved context.</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Output tokens: the model's generated response.</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Total cost = (input tokens × input rate) + (output tokens × output rate).</a:t>
            </a:r>
            <a:endParaRPr lang="en-US" sz="1150" dirty="0"/>
          </a:p>
        </p:txBody>
      </p:sp>
      <p:sp>
        <p:nvSpPr>
          <p:cNvPr id="16" name="Shape 14"/>
          <p:cNvSpPr/>
          <p:nvPr/>
        </p:nvSpPr>
        <p:spPr>
          <a:xfrm>
            <a:off x="548640" y="4974336"/>
            <a:ext cx="6035040" cy="822960"/>
          </a:xfrm>
          <a:prstGeom prst="roundRect">
            <a:avLst>
              <a:gd name="adj" fmla="val 8889"/>
            </a:avLst>
          </a:prstGeom>
          <a:solidFill>
            <a:srgbClr val="FDF2E3"/>
          </a:solidFill>
          <a:ln/>
        </p:spPr>
      </p:sp>
      <p:sp>
        <p:nvSpPr>
          <p:cNvPr id="17" name="Text 15"/>
          <p:cNvSpPr txBox="1"/>
          <p:nvPr/>
        </p:nvSpPr>
        <p:spPr>
          <a:xfrm>
            <a:off x="731520" y="4974336"/>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a long conversation history re-sent on every turn multiplies input cost even if the new output is short — cost grows with the transcript, not just the request.</a:t>
            </a:r>
            <a:endParaRPr lang="en-US" sz="1100" dirty="0"/>
          </a:p>
        </p:txBody>
      </p:sp>
      <p:sp>
        <p:nvSpPr>
          <p:cNvPr id="18" name="Shape 16"/>
          <p:cNvSpPr/>
          <p:nvPr/>
        </p:nvSpPr>
        <p:spPr>
          <a:xfrm>
            <a:off x="6949440" y="1874520"/>
            <a:ext cx="4663440" cy="4343400"/>
          </a:xfrm>
          <a:prstGeom prst="roundRect">
            <a:avLst>
              <a:gd name="adj" fmla="val 2526"/>
            </a:avLst>
          </a:prstGeom>
          <a:solidFill>
            <a:srgbClr val="1B2A4A"/>
          </a:solidFill>
          <a:ln/>
        </p:spPr>
      </p:sp>
      <p:sp>
        <p:nvSpPr>
          <p:cNvPr id="19" name="Shape 17"/>
          <p:cNvSpPr/>
          <p:nvPr/>
        </p:nvSpPr>
        <p:spPr>
          <a:xfrm>
            <a:off x="7269480" y="2194560"/>
            <a:ext cx="777240" cy="777240"/>
          </a:xfrm>
          <a:prstGeom prst="ellipse">
            <a:avLst/>
          </a:prstGeom>
          <a:solidFill>
            <a:srgbClr val="F2A65A"/>
          </a:solidFill>
          <a:ln/>
        </p:spPr>
      </p:sp>
      <p:pic>
        <p:nvPicPr>
          <p:cNvPr id="20" name="Image 0" descr="/home/claude/icons/coins_1B2A4A.png"/>
          <p:cNvPicPr>
            <a:picLocks noChangeAspect="1"/>
          </p:cNvPicPr>
          <p:nvPr/>
        </p:nvPicPr>
        <p:blipFill>
          <a:blip r:embed="rId3"/>
          <a:stretch>
            <a:fillRect/>
          </a:stretch>
        </p:blipFill>
        <p:spPr>
          <a:xfrm>
            <a:off x="7444359" y="2369439"/>
            <a:ext cx="427482" cy="427482"/>
          </a:xfrm>
          <a:prstGeom prst="rect">
            <a:avLst/>
          </a:prstGeom>
        </p:spPr>
      </p:pic>
      <p:sp>
        <p:nvSpPr>
          <p:cNvPr id="21" name="Text 18"/>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2" name="Text 19"/>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Cost of one long-running chat</a:t>
            </a:r>
            <a:endParaRPr lang="en-US" sz="1550" dirty="0"/>
          </a:p>
        </p:txBody>
      </p:sp>
      <p:sp>
        <p:nvSpPr>
          <p:cNvPr id="23" name="Shape 20"/>
          <p:cNvSpPr/>
          <p:nvPr/>
        </p:nvSpPr>
        <p:spPr>
          <a:xfrm>
            <a:off x="7269480" y="3246120"/>
            <a:ext cx="4023360" cy="2468880"/>
          </a:xfrm>
          <a:prstGeom prst="roundRect">
            <a:avLst>
              <a:gd name="adj" fmla="val 2963"/>
            </a:avLst>
          </a:prstGeom>
          <a:solidFill>
            <a:srgbClr val="121D33"/>
          </a:solidFill>
          <a:ln/>
        </p:spPr>
      </p:sp>
      <p:sp>
        <p:nvSpPr>
          <p:cNvPr id="24" name="Text 21"/>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Turn 1: 500 input tokens, 200 output tokens.</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Turn 10: 4,000 input tokens (full history resent), 200 output tokens.</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Response length hasn't changed — input cost has grown 8×, because prior turns are still being sent.</a:t>
            </a:r>
            <a:endParaRPr lang="en-US" sz="1100" dirty="0"/>
          </a:p>
        </p:txBody>
      </p:sp>
      <p:sp>
        <p:nvSpPr>
          <p:cNvPr id="25" name="Text 22"/>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input costs compound across a conversation unless something actively manages what gets resent each turn.</a:t>
            </a:r>
            <a:endParaRPr lang="en-US" sz="1050" dirty="0"/>
          </a:p>
        </p:txBody>
      </p:sp>
      <p:sp>
        <p:nvSpPr>
          <p:cNvPr id="26" name="Text 23"/>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27" name="Text 24"/>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FUNDAMENTALS · 3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Multi-Turn Conversations &amp; Context Growth</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Left unmanaged, a conversation's context grows every single turn — until it doesn't fit.</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In a multi-turn conversation, each new turn is typically appended to everything before it and sent again in full. Without intervention, context grows roughly linearly with turn count until it hits the context window limit.</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THE GROWTH HAPPENS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Turn 1 sends the system prompt and the first user message.</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Turn 2 resends turn 1's exchange, plus the new message.</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Turn N resends all N−1 prior exchanges, plus the new message.</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Eventually the transcript exceeds the window and something must give.</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this is exactly the problem the next section's strategies — chunking, summarization, windowing, memory — exist to solve.</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chartline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Unmanaged growth</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Turn 1: ~300 tokens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Turn 5: ~2,100 tokens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Turn 20: ~9,000 tokens</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Same conversation style throughout — the growth comes purely from re-sending history, not longer messages.</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context growth is a structural property of naive multi-turn design, not a sign anything has gone wrong.</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&amp; MEMORY MANAGEMENT · 1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Context Management Strategies</a:t>
            </a:r>
            <a:endParaRPr lang="en-US" sz="30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Three complementary ways to keep a growing conversation inside the context window.</a:t>
            </a:r>
            <a:endParaRPr lang="en-US" sz="1350" dirty="0"/>
          </a:p>
        </p:txBody>
      </p:sp>
      <p:sp>
        <p:nvSpPr>
          <p:cNvPr id="5" name="Shape 3"/>
          <p:cNvSpPr/>
          <p:nvPr/>
        </p:nvSpPr>
        <p:spPr>
          <a:xfrm>
            <a:off x="548640" y="1965960"/>
            <a:ext cx="3371088" cy="3108960"/>
          </a:xfrm>
          <a:prstGeom prst="roundRect">
            <a:avLst>
              <a:gd name="adj" fmla="val 2941"/>
            </a:avLst>
          </a:prstGeom>
          <a:solidFill>
            <a:srgbClr val="F7F9FC"/>
          </a:solidFill>
          <a:ln/>
        </p:spPr>
      </p:sp>
      <p:sp>
        <p:nvSpPr>
          <p:cNvPr id="6" name="Shape 4"/>
          <p:cNvSpPr/>
          <p:nvPr/>
        </p:nvSpPr>
        <p:spPr>
          <a:xfrm>
            <a:off x="1868424" y="2286000"/>
            <a:ext cx="731520" cy="731520"/>
          </a:xfrm>
          <a:prstGeom prst="ellipse">
            <a:avLst/>
          </a:prstGeom>
          <a:solidFill>
            <a:srgbClr val="1B2A4A"/>
          </a:solidFill>
          <a:ln/>
        </p:spPr>
      </p:sp>
      <p:pic>
        <p:nvPicPr>
          <p:cNvPr id="7" name="Image 0" descr="/home/claude/icons/cut_FFFFFF.png"/>
          <p:cNvPicPr>
            <a:picLocks noChangeAspect="1"/>
          </p:cNvPicPr>
          <p:nvPr/>
        </p:nvPicPr>
        <p:blipFill>
          <a:blip r:embed="rId3"/>
          <a:stretch>
            <a:fillRect/>
          </a:stretch>
        </p:blipFill>
        <p:spPr>
          <a:xfrm>
            <a:off x="2033016" y="2450592"/>
            <a:ext cx="402336" cy="402336"/>
          </a:xfrm>
          <a:prstGeom prst="rect">
            <a:avLst/>
          </a:prstGeom>
        </p:spPr>
      </p:pic>
      <p:sp>
        <p:nvSpPr>
          <p:cNvPr id="8" name="Text 5"/>
          <p:cNvSpPr txBox="1"/>
          <p:nvPr/>
        </p:nvSpPr>
        <p:spPr>
          <a:xfrm>
            <a:off x="685800" y="3200400"/>
            <a:ext cx="3096768" cy="502920"/>
          </a:xfrm>
          <a:prstGeom prst="rect">
            <a:avLst/>
          </a:prstGeom>
          <a:noFill/>
          <a:ln/>
        </p:spPr>
        <p:txBody>
          <a:bodyPr wrap="square" lIns="0" tIns="0" rIns="0" bIns="0" rtlCol="0" anchor="ctr"/>
          <a:lstStyle/>
          <a:p>
            <a:pPr marL="0" indent="0" algn="ctr">
              <a:lnSpc>
                <a:spcPct val="105000"/>
              </a:lnSpc>
              <a:buNone/>
            </a:pPr>
            <a:r>
              <a:rPr lang="en-US" sz="1550" b="1" dirty="0">
                <a:solidFill>
                  <a:srgbClr val="1B2A4A"/>
                </a:solidFill>
                <a:latin typeface="Cambria" pitchFamily="34" charset="0"/>
                <a:ea typeface="Cambria" pitchFamily="34" charset="-122"/>
                <a:cs typeface="Cambria" pitchFamily="34" charset="-120"/>
              </a:rPr>
              <a:t>Chunking</a:t>
            </a:r>
            <a:endParaRPr lang="en-US" sz="1550" dirty="0"/>
          </a:p>
        </p:txBody>
      </p:sp>
      <p:sp>
        <p:nvSpPr>
          <p:cNvPr id="9" name="Text 6"/>
          <p:cNvSpPr txBox="1"/>
          <p:nvPr/>
        </p:nvSpPr>
        <p:spPr>
          <a:xfrm>
            <a:off x="777240" y="3794760"/>
            <a:ext cx="2913888" cy="1051560"/>
          </a:xfrm>
          <a:prstGeom prst="rect">
            <a:avLst/>
          </a:prstGeom>
          <a:noFill/>
          <a:ln/>
        </p:spPr>
        <p:txBody>
          <a:bodyPr wrap="square" lIns="0" tIns="0" rIns="0" bIns="0" rtlCol="0" anchor="ctr"/>
          <a:lstStyle/>
          <a:p>
            <a:pPr marL="0" indent="0" algn="ctr">
              <a:lnSpc>
                <a:spcPct val="125000"/>
              </a:lnSpc>
              <a:buNone/>
            </a:pPr>
            <a:r>
              <a:rPr lang="en-US" sz="1150" dirty="0">
                <a:solidFill>
                  <a:srgbClr val="5B6B85"/>
                </a:solidFill>
                <a:latin typeface="Calibri" pitchFamily="34" charset="0"/>
                <a:ea typeface="Calibri" pitchFamily="34" charset="-122"/>
                <a:cs typeface="Calibri" pitchFamily="34" charset="-120"/>
              </a:rPr>
              <a:t>Break large content into smaller, independent pieces that can be processed or retrieved on their own, instead of one giant block.</a:t>
            </a:r>
            <a:endParaRPr lang="en-US" sz="1150" dirty="0"/>
          </a:p>
        </p:txBody>
      </p:sp>
      <p:sp>
        <p:nvSpPr>
          <p:cNvPr id="10" name="Shape 7"/>
          <p:cNvSpPr/>
          <p:nvPr/>
        </p:nvSpPr>
        <p:spPr>
          <a:xfrm>
            <a:off x="4120896" y="1965960"/>
            <a:ext cx="3371088" cy="3108960"/>
          </a:xfrm>
          <a:prstGeom prst="roundRect">
            <a:avLst>
              <a:gd name="adj" fmla="val 2941"/>
            </a:avLst>
          </a:prstGeom>
          <a:solidFill>
            <a:srgbClr val="F7F9FC"/>
          </a:solidFill>
          <a:ln/>
        </p:spPr>
      </p:sp>
      <p:sp>
        <p:nvSpPr>
          <p:cNvPr id="11" name="Shape 8"/>
          <p:cNvSpPr/>
          <p:nvPr/>
        </p:nvSpPr>
        <p:spPr>
          <a:xfrm>
            <a:off x="5440680" y="2286000"/>
            <a:ext cx="731520" cy="731520"/>
          </a:xfrm>
          <a:prstGeom prst="ellipse">
            <a:avLst/>
          </a:prstGeom>
          <a:solidFill>
            <a:srgbClr val="1B2A4A"/>
          </a:solidFill>
          <a:ln/>
        </p:spPr>
      </p:sp>
      <p:pic>
        <p:nvPicPr>
          <p:cNvPr id="12" name="Image 1" descr="/home/claude/icons/alignleft_FFFFFF.png"/>
          <p:cNvPicPr>
            <a:picLocks noChangeAspect="1"/>
          </p:cNvPicPr>
          <p:nvPr/>
        </p:nvPicPr>
        <p:blipFill>
          <a:blip r:embed="rId4"/>
          <a:stretch>
            <a:fillRect/>
          </a:stretch>
        </p:blipFill>
        <p:spPr>
          <a:xfrm>
            <a:off x="5605272" y="2450592"/>
            <a:ext cx="402336" cy="402336"/>
          </a:xfrm>
          <a:prstGeom prst="rect">
            <a:avLst/>
          </a:prstGeom>
        </p:spPr>
      </p:pic>
      <p:sp>
        <p:nvSpPr>
          <p:cNvPr id="13" name="Text 9"/>
          <p:cNvSpPr txBox="1"/>
          <p:nvPr/>
        </p:nvSpPr>
        <p:spPr>
          <a:xfrm>
            <a:off x="4258056" y="3200400"/>
            <a:ext cx="3096768" cy="502920"/>
          </a:xfrm>
          <a:prstGeom prst="rect">
            <a:avLst/>
          </a:prstGeom>
          <a:noFill/>
          <a:ln/>
        </p:spPr>
        <p:txBody>
          <a:bodyPr wrap="square" lIns="0" tIns="0" rIns="0" bIns="0" rtlCol="0" anchor="ctr"/>
          <a:lstStyle/>
          <a:p>
            <a:pPr marL="0" indent="0" algn="ctr">
              <a:lnSpc>
                <a:spcPct val="105000"/>
              </a:lnSpc>
              <a:buNone/>
            </a:pPr>
            <a:r>
              <a:rPr lang="en-US" sz="1550" b="1" dirty="0">
                <a:solidFill>
                  <a:srgbClr val="1B2A4A"/>
                </a:solidFill>
                <a:latin typeface="Cambria" pitchFamily="34" charset="0"/>
                <a:ea typeface="Cambria" pitchFamily="34" charset="-122"/>
                <a:cs typeface="Cambria" pitchFamily="34" charset="-120"/>
              </a:rPr>
              <a:t>Summarization</a:t>
            </a:r>
            <a:endParaRPr lang="en-US" sz="1550" dirty="0"/>
          </a:p>
        </p:txBody>
      </p:sp>
      <p:sp>
        <p:nvSpPr>
          <p:cNvPr id="14" name="Text 10"/>
          <p:cNvSpPr txBox="1"/>
          <p:nvPr/>
        </p:nvSpPr>
        <p:spPr>
          <a:xfrm>
            <a:off x="4349496" y="3794760"/>
            <a:ext cx="2913888" cy="1051560"/>
          </a:xfrm>
          <a:prstGeom prst="rect">
            <a:avLst/>
          </a:prstGeom>
          <a:noFill/>
          <a:ln/>
        </p:spPr>
        <p:txBody>
          <a:bodyPr wrap="square" lIns="0" tIns="0" rIns="0" bIns="0" rtlCol="0" anchor="ctr"/>
          <a:lstStyle/>
          <a:p>
            <a:pPr marL="0" indent="0" algn="ctr">
              <a:lnSpc>
                <a:spcPct val="125000"/>
              </a:lnSpc>
              <a:buNone/>
            </a:pPr>
            <a:r>
              <a:rPr lang="en-US" sz="1150" dirty="0">
                <a:solidFill>
                  <a:srgbClr val="5B6B85"/>
                </a:solidFill>
                <a:latin typeface="Calibri" pitchFamily="34" charset="0"/>
                <a:ea typeface="Calibri" pitchFamily="34" charset="-122"/>
                <a:cs typeface="Calibri" pitchFamily="34" charset="-120"/>
              </a:rPr>
              <a:t>Compress older parts of the conversation into a shorter summary that preserves key points using far fewer tokens.</a:t>
            </a:r>
            <a:endParaRPr lang="en-US" sz="1150" dirty="0"/>
          </a:p>
        </p:txBody>
      </p:sp>
      <p:sp>
        <p:nvSpPr>
          <p:cNvPr id="15" name="Shape 11"/>
          <p:cNvSpPr/>
          <p:nvPr/>
        </p:nvSpPr>
        <p:spPr>
          <a:xfrm>
            <a:off x="7693152" y="1965960"/>
            <a:ext cx="3371088" cy="3108960"/>
          </a:xfrm>
          <a:prstGeom prst="roundRect">
            <a:avLst>
              <a:gd name="adj" fmla="val 2941"/>
            </a:avLst>
          </a:prstGeom>
          <a:solidFill>
            <a:srgbClr val="F7F9FC"/>
          </a:solidFill>
          <a:ln/>
        </p:spPr>
      </p:sp>
      <p:sp>
        <p:nvSpPr>
          <p:cNvPr id="16" name="Shape 12"/>
          <p:cNvSpPr/>
          <p:nvPr/>
        </p:nvSpPr>
        <p:spPr>
          <a:xfrm>
            <a:off x="9012936" y="2286000"/>
            <a:ext cx="731520" cy="731520"/>
          </a:xfrm>
          <a:prstGeom prst="ellipse">
            <a:avLst/>
          </a:prstGeom>
          <a:solidFill>
            <a:srgbClr val="1B2A4A"/>
          </a:solidFill>
          <a:ln/>
        </p:spPr>
      </p:sp>
      <p:pic>
        <p:nvPicPr>
          <p:cNvPr id="17" name="Image 2" descr="/home/claude/icons/sliders_FFFFFF.png"/>
          <p:cNvPicPr>
            <a:picLocks noChangeAspect="1"/>
          </p:cNvPicPr>
          <p:nvPr/>
        </p:nvPicPr>
        <p:blipFill>
          <a:blip r:embed="rId5"/>
          <a:stretch>
            <a:fillRect/>
          </a:stretch>
        </p:blipFill>
        <p:spPr>
          <a:xfrm>
            <a:off x="9177528" y="2450592"/>
            <a:ext cx="402336" cy="402336"/>
          </a:xfrm>
          <a:prstGeom prst="rect">
            <a:avLst/>
          </a:prstGeom>
        </p:spPr>
      </p:pic>
      <p:sp>
        <p:nvSpPr>
          <p:cNvPr id="18" name="Text 13"/>
          <p:cNvSpPr txBox="1"/>
          <p:nvPr/>
        </p:nvSpPr>
        <p:spPr>
          <a:xfrm>
            <a:off x="7830312" y="3200400"/>
            <a:ext cx="3096768" cy="502920"/>
          </a:xfrm>
          <a:prstGeom prst="rect">
            <a:avLst/>
          </a:prstGeom>
          <a:noFill/>
          <a:ln/>
        </p:spPr>
        <p:txBody>
          <a:bodyPr wrap="square" lIns="0" tIns="0" rIns="0" bIns="0" rtlCol="0" anchor="ctr"/>
          <a:lstStyle/>
          <a:p>
            <a:pPr marL="0" indent="0" algn="ctr">
              <a:lnSpc>
                <a:spcPct val="105000"/>
              </a:lnSpc>
              <a:buNone/>
            </a:pPr>
            <a:r>
              <a:rPr lang="en-US" sz="1550" b="1" dirty="0">
                <a:solidFill>
                  <a:srgbClr val="1B2A4A"/>
                </a:solidFill>
                <a:latin typeface="Cambria" pitchFamily="34" charset="0"/>
                <a:ea typeface="Cambria" pitchFamily="34" charset="-122"/>
                <a:cs typeface="Cambria" pitchFamily="34" charset="-120"/>
              </a:rPr>
              <a:t>Windowing</a:t>
            </a:r>
            <a:endParaRPr lang="en-US" sz="1550" dirty="0"/>
          </a:p>
        </p:txBody>
      </p:sp>
      <p:sp>
        <p:nvSpPr>
          <p:cNvPr id="19" name="Text 14"/>
          <p:cNvSpPr txBox="1"/>
          <p:nvPr/>
        </p:nvSpPr>
        <p:spPr>
          <a:xfrm>
            <a:off x="7921752" y="3794760"/>
            <a:ext cx="2913888" cy="1051560"/>
          </a:xfrm>
          <a:prstGeom prst="rect">
            <a:avLst/>
          </a:prstGeom>
          <a:noFill/>
          <a:ln/>
        </p:spPr>
        <p:txBody>
          <a:bodyPr wrap="square" lIns="0" tIns="0" rIns="0" bIns="0" rtlCol="0" anchor="ctr"/>
          <a:lstStyle/>
          <a:p>
            <a:pPr marL="0" indent="0" algn="ctr">
              <a:lnSpc>
                <a:spcPct val="125000"/>
              </a:lnSpc>
              <a:buNone/>
            </a:pPr>
            <a:r>
              <a:rPr lang="en-US" sz="1150" dirty="0">
                <a:solidFill>
                  <a:srgbClr val="5B6B85"/>
                </a:solidFill>
                <a:latin typeface="Calibri" pitchFamily="34" charset="0"/>
                <a:ea typeface="Calibri" pitchFamily="34" charset="-122"/>
                <a:cs typeface="Calibri" pitchFamily="34" charset="-120"/>
              </a:rPr>
              <a:t>Keep only the most recent N turns in full (a sliding window), letting the oldest turns drop off or get summarized.</a:t>
            </a:r>
            <a:endParaRPr lang="en-US" sz="1150" dirty="0"/>
          </a:p>
        </p:txBody>
      </p:sp>
      <p:sp>
        <p:nvSpPr>
          <p:cNvPr id="20" name="Text 15"/>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21" name="Text 16"/>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&amp; MEMORY MANAGEMENT · 2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Conversational Memory</a:t>
            </a:r>
            <a:endParaRPr lang="en-US" sz="30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Different ways to represent what's happened so far in a conversation.</a:t>
            </a:r>
            <a:endParaRPr lang="en-US" sz="1350" dirty="0"/>
          </a:p>
        </p:txBody>
      </p:sp>
      <p:sp>
        <p:nvSpPr>
          <p:cNvPr id="5" name="Shape 3"/>
          <p:cNvSpPr/>
          <p:nvPr/>
        </p:nvSpPr>
        <p:spPr>
          <a:xfrm>
            <a:off x="548640" y="1965960"/>
            <a:ext cx="3371088" cy="3291840"/>
          </a:xfrm>
          <a:prstGeom prst="roundRect">
            <a:avLst>
              <a:gd name="adj" fmla="val 2778"/>
            </a:avLst>
          </a:prstGeom>
          <a:solidFill>
            <a:srgbClr val="F7F9FC"/>
          </a:solidFill>
          <a:ln/>
        </p:spPr>
      </p:sp>
      <p:sp>
        <p:nvSpPr>
          <p:cNvPr id="6" name="Shape 4"/>
          <p:cNvSpPr/>
          <p:nvPr/>
        </p:nvSpPr>
        <p:spPr>
          <a:xfrm>
            <a:off x="1868424" y="2286000"/>
            <a:ext cx="731520" cy="731520"/>
          </a:xfrm>
          <a:prstGeom prst="ellipse">
            <a:avLst/>
          </a:prstGeom>
          <a:solidFill>
            <a:srgbClr val="1B2A4A"/>
          </a:solidFill>
          <a:ln/>
        </p:spPr>
      </p:sp>
      <p:pic>
        <p:nvPicPr>
          <p:cNvPr id="7" name="Image 0" descr="/home/claude/icons/inbox_FFFFFF.png"/>
          <p:cNvPicPr>
            <a:picLocks noChangeAspect="1"/>
          </p:cNvPicPr>
          <p:nvPr/>
        </p:nvPicPr>
        <p:blipFill>
          <a:blip r:embed="rId3"/>
          <a:stretch>
            <a:fillRect/>
          </a:stretch>
        </p:blipFill>
        <p:spPr>
          <a:xfrm>
            <a:off x="2033016" y="2450592"/>
            <a:ext cx="402336" cy="402336"/>
          </a:xfrm>
          <a:prstGeom prst="rect">
            <a:avLst/>
          </a:prstGeom>
        </p:spPr>
      </p:pic>
      <p:sp>
        <p:nvSpPr>
          <p:cNvPr id="8" name="Text 5"/>
          <p:cNvSpPr txBox="1"/>
          <p:nvPr/>
        </p:nvSpPr>
        <p:spPr>
          <a:xfrm>
            <a:off x="685800" y="3200400"/>
            <a:ext cx="3096768" cy="502920"/>
          </a:xfrm>
          <a:prstGeom prst="rect">
            <a:avLst/>
          </a:prstGeom>
          <a:noFill/>
          <a:ln/>
        </p:spPr>
        <p:txBody>
          <a:bodyPr wrap="square" lIns="0" tIns="0" rIns="0" bIns="0" rtlCol="0" anchor="ctr"/>
          <a:lstStyle/>
          <a:p>
            <a:pPr marL="0" indent="0" algn="ctr">
              <a:lnSpc>
                <a:spcPct val="105000"/>
              </a:lnSpc>
              <a:buNone/>
            </a:pPr>
            <a:r>
              <a:rPr lang="en-US" sz="1550" b="1" dirty="0">
                <a:solidFill>
                  <a:srgbClr val="1B2A4A"/>
                </a:solidFill>
                <a:latin typeface="Cambria" pitchFamily="34" charset="0"/>
                <a:ea typeface="Cambria" pitchFamily="34" charset="-122"/>
                <a:cs typeface="Cambria" pitchFamily="34" charset="-120"/>
              </a:rPr>
              <a:t>Buffer Memory</a:t>
            </a:r>
            <a:endParaRPr lang="en-US" sz="1550" dirty="0"/>
          </a:p>
        </p:txBody>
      </p:sp>
      <p:sp>
        <p:nvSpPr>
          <p:cNvPr id="9" name="Text 6"/>
          <p:cNvSpPr txBox="1"/>
          <p:nvPr/>
        </p:nvSpPr>
        <p:spPr>
          <a:xfrm>
            <a:off x="777240" y="3794760"/>
            <a:ext cx="2913888" cy="1234440"/>
          </a:xfrm>
          <a:prstGeom prst="rect">
            <a:avLst/>
          </a:prstGeom>
          <a:noFill/>
          <a:ln/>
        </p:spPr>
        <p:txBody>
          <a:bodyPr wrap="square" lIns="0" tIns="0" rIns="0" bIns="0" rtlCol="0" anchor="ctr"/>
          <a:lstStyle/>
          <a:p>
            <a:pPr marL="0" indent="0" algn="ctr">
              <a:lnSpc>
                <a:spcPct val="125000"/>
              </a:lnSpc>
              <a:buNone/>
            </a:pPr>
            <a:r>
              <a:rPr lang="en-US" sz="1150" dirty="0">
                <a:solidFill>
                  <a:srgbClr val="5B6B85"/>
                </a:solidFill>
                <a:latin typeface="Calibri" pitchFamily="34" charset="0"/>
                <a:ea typeface="Calibri" pitchFamily="34" charset="-122"/>
                <a:cs typeface="Calibri" pitchFamily="34" charset="-120"/>
              </a:rPr>
              <a:t>Stores the raw, verbatim history — simple and faithful, but grows unbounded and eventually exceeds the context window.</a:t>
            </a:r>
            <a:endParaRPr lang="en-US" sz="1150" dirty="0"/>
          </a:p>
        </p:txBody>
      </p:sp>
      <p:sp>
        <p:nvSpPr>
          <p:cNvPr id="10" name="Shape 7"/>
          <p:cNvSpPr/>
          <p:nvPr/>
        </p:nvSpPr>
        <p:spPr>
          <a:xfrm>
            <a:off x="4120896" y="1965960"/>
            <a:ext cx="3371088" cy="3291840"/>
          </a:xfrm>
          <a:prstGeom prst="roundRect">
            <a:avLst>
              <a:gd name="adj" fmla="val 2778"/>
            </a:avLst>
          </a:prstGeom>
          <a:solidFill>
            <a:srgbClr val="F7F9FC"/>
          </a:solidFill>
          <a:ln/>
        </p:spPr>
      </p:sp>
      <p:sp>
        <p:nvSpPr>
          <p:cNvPr id="11" name="Shape 8"/>
          <p:cNvSpPr/>
          <p:nvPr/>
        </p:nvSpPr>
        <p:spPr>
          <a:xfrm>
            <a:off x="5440680" y="2286000"/>
            <a:ext cx="731520" cy="731520"/>
          </a:xfrm>
          <a:prstGeom prst="ellipse">
            <a:avLst/>
          </a:prstGeom>
          <a:solidFill>
            <a:srgbClr val="1B2A4A"/>
          </a:solidFill>
          <a:ln/>
        </p:spPr>
      </p:sp>
      <p:pic>
        <p:nvPicPr>
          <p:cNvPr id="12" name="Image 1" descr="/home/claude/icons/alignleft_FFFFFF.png"/>
          <p:cNvPicPr>
            <a:picLocks noChangeAspect="1"/>
          </p:cNvPicPr>
          <p:nvPr/>
        </p:nvPicPr>
        <p:blipFill>
          <a:blip r:embed="rId4"/>
          <a:stretch>
            <a:fillRect/>
          </a:stretch>
        </p:blipFill>
        <p:spPr>
          <a:xfrm>
            <a:off x="5605272" y="2450592"/>
            <a:ext cx="402336" cy="402336"/>
          </a:xfrm>
          <a:prstGeom prst="rect">
            <a:avLst/>
          </a:prstGeom>
        </p:spPr>
      </p:pic>
      <p:sp>
        <p:nvSpPr>
          <p:cNvPr id="13" name="Text 9"/>
          <p:cNvSpPr txBox="1"/>
          <p:nvPr/>
        </p:nvSpPr>
        <p:spPr>
          <a:xfrm>
            <a:off x="4258056" y="3200400"/>
            <a:ext cx="3096768" cy="502920"/>
          </a:xfrm>
          <a:prstGeom prst="rect">
            <a:avLst/>
          </a:prstGeom>
          <a:noFill/>
          <a:ln/>
        </p:spPr>
        <p:txBody>
          <a:bodyPr wrap="square" lIns="0" tIns="0" rIns="0" bIns="0" rtlCol="0" anchor="ctr"/>
          <a:lstStyle/>
          <a:p>
            <a:pPr marL="0" indent="0" algn="ctr">
              <a:lnSpc>
                <a:spcPct val="105000"/>
              </a:lnSpc>
              <a:buNone/>
            </a:pPr>
            <a:r>
              <a:rPr lang="en-US" sz="1550" b="1" dirty="0">
                <a:solidFill>
                  <a:srgbClr val="1B2A4A"/>
                </a:solidFill>
                <a:latin typeface="Cambria" pitchFamily="34" charset="0"/>
                <a:ea typeface="Cambria" pitchFamily="34" charset="-122"/>
                <a:cs typeface="Cambria" pitchFamily="34" charset="-120"/>
              </a:rPr>
              <a:t>Summary Memory</a:t>
            </a:r>
            <a:endParaRPr lang="en-US" sz="1550" dirty="0"/>
          </a:p>
        </p:txBody>
      </p:sp>
      <p:sp>
        <p:nvSpPr>
          <p:cNvPr id="14" name="Text 10"/>
          <p:cNvSpPr txBox="1"/>
          <p:nvPr/>
        </p:nvSpPr>
        <p:spPr>
          <a:xfrm>
            <a:off x="4349496" y="3794760"/>
            <a:ext cx="2913888" cy="1234440"/>
          </a:xfrm>
          <a:prstGeom prst="rect">
            <a:avLst/>
          </a:prstGeom>
          <a:noFill/>
          <a:ln/>
        </p:spPr>
        <p:txBody>
          <a:bodyPr wrap="square" lIns="0" tIns="0" rIns="0" bIns="0" rtlCol="0" anchor="ctr"/>
          <a:lstStyle/>
          <a:p>
            <a:pPr marL="0" indent="0" algn="ctr">
              <a:lnSpc>
                <a:spcPct val="125000"/>
              </a:lnSpc>
              <a:buNone/>
            </a:pPr>
            <a:r>
              <a:rPr lang="en-US" sz="1150" dirty="0">
                <a:solidFill>
                  <a:srgbClr val="5B6B85"/>
                </a:solidFill>
                <a:latin typeface="Calibri" pitchFamily="34" charset="0"/>
                <a:ea typeface="Calibri" pitchFamily="34" charset="-122"/>
                <a:cs typeface="Calibri" pitchFamily="34" charset="-120"/>
              </a:rPr>
              <a:t>Continuously compresses older turns into a running summary, trading some detail for a small, stable token footprint.</a:t>
            </a:r>
            <a:endParaRPr lang="en-US" sz="1150" dirty="0"/>
          </a:p>
        </p:txBody>
      </p:sp>
      <p:sp>
        <p:nvSpPr>
          <p:cNvPr id="15" name="Shape 11"/>
          <p:cNvSpPr/>
          <p:nvPr/>
        </p:nvSpPr>
        <p:spPr>
          <a:xfrm>
            <a:off x="7693152" y="1965960"/>
            <a:ext cx="3371088" cy="3291840"/>
          </a:xfrm>
          <a:prstGeom prst="roundRect">
            <a:avLst>
              <a:gd name="adj" fmla="val 2778"/>
            </a:avLst>
          </a:prstGeom>
          <a:solidFill>
            <a:srgbClr val="F7F9FC"/>
          </a:solidFill>
          <a:ln/>
        </p:spPr>
      </p:sp>
      <p:sp>
        <p:nvSpPr>
          <p:cNvPr id="16" name="Shape 12"/>
          <p:cNvSpPr/>
          <p:nvPr/>
        </p:nvSpPr>
        <p:spPr>
          <a:xfrm>
            <a:off x="9012936" y="2286000"/>
            <a:ext cx="731520" cy="731520"/>
          </a:xfrm>
          <a:prstGeom prst="ellipse">
            <a:avLst/>
          </a:prstGeom>
          <a:solidFill>
            <a:srgbClr val="1B2A4A"/>
          </a:solidFill>
          <a:ln/>
        </p:spPr>
      </p:sp>
      <p:pic>
        <p:nvPicPr>
          <p:cNvPr id="17" name="Image 2" descr="/home/claude/icons/database_FFFFFF.png"/>
          <p:cNvPicPr>
            <a:picLocks noChangeAspect="1"/>
          </p:cNvPicPr>
          <p:nvPr/>
        </p:nvPicPr>
        <p:blipFill>
          <a:blip r:embed="rId5"/>
          <a:stretch>
            <a:fillRect/>
          </a:stretch>
        </p:blipFill>
        <p:spPr>
          <a:xfrm>
            <a:off x="9177528" y="2450592"/>
            <a:ext cx="402336" cy="402336"/>
          </a:xfrm>
          <a:prstGeom prst="rect">
            <a:avLst/>
          </a:prstGeom>
        </p:spPr>
      </p:pic>
      <p:sp>
        <p:nvSpPr>
          <p:cNvPr id="18" name="Text 13"/>
          <p:cNvSpPr txBox="1"/>
          <p:nvPr/>
        </p:nvSpPr>
        <p:spPr>
          <a:xfrm>
            <a:off x="7830312" y="3200400"/>
            <a:ext cx="3096768" cy="502920"/>
          </a:xfrm>
          <a:prstGeom prst="rect">
            <a:avLst/>
          </a:prstGeom>
          <a:noFill/>
          <a:ln/>
        </p:spPr>
        <p:txBody>
          <a:bodyPr wrap="square" lIns="0" tIns="0" rIns="0" bIns="0" rtlCol="0" anchor="ctr"/>
          <a:lstStyle/>
          <a:p>
            <a:pPr marL="0" indent="0" algn="ctr">
              <a:lnSpc>
                <a:spcPct val="105000"/>
              </a:lnSpc>
              <a:buNone/>
            </a:pPr>
            <a:r>
              <a:rPr lang="en-US" sz="1550" b="1" dirty="0">
                <a:solidFill>
                  <a:srgbClr val="1B2A4A"/>
                </a:solidFill>
                <a:latin typeface="Cambria" pitchFamily="34" charset="0"/>
                <a:ea typeface="Cambria" pitchFamily="34" charset="-122"/>
                <a:cs typeface="Cambria" pitchFamily="34" charset="-120"/>
              </a:rPr>
              <a:t>Vector Memory</a:t>
            </a:r>
            <a:endParaRPr lang="en-US" sz="1550" dirty="0"/>
          </a:p>
        </p:txBody>
      </p:sp>
      <p:sp>
        <p:nvSpPr>
          <p:cNvPr id="19" name="Text 14"/>
          <p:cNvSpPr txBox="1"/>
          <p:nvPr/>
        </p:nvSpPr>
        <p:spPr>
          <a:xfrm>
            <a:off x="7921752" y="3794760"/>
            <a:ext cx="2913888" cy="1234440"/>
          </a:xfrm>
          <a:prstGeom prst="rect">
            <a:avLst/>
          </a:prstGeom>
          <a:noFill/>
          <a:ln/>
        </p:spPr>
        <p:txBody>
          <a:bodyPr wrap="square" lIns="0" tIns="0" rIns="0" bIns="0" rtlCol="0" anchor="ctr"/>
          <a:lstStyle/>
          <a:p>
            <a:pPr marL="0" indent="0" algn="ctr">
              <a:lnSpc>
                <a:spcPct val="125000"/>
              </a:lnSpc>
              <a:buNone/>
            </a:pPr>
            <a:r>
              <a:rPr lang="en-US" sz="1150" dirty="0">
                <a:solidFill>
                  <a:srgbClr val="5B6B85"/>
                </a:solidFill>
                <a:latin typeface="Calibri" pitchFamily="34" charset="0"/>
                <a:ea typeface="Calibri" pitchFamily="34" charset="-122"/>
                <a:cs typeface="Calibri" pitchFamily="34" charset="-120"/>
              </a:rPr>
              <a:t>Stores past exchanges as embeddings and retrieves only what's relevant to the current turn, rather than everything or a fixed summary.</a:t>
            </a:r>
            <a:endParaRPr lang="en-US" sz="1150" dirty="0"/>
          </a:p>
        </p:txBody>
      </p:sp>
      <p:sp>
        <p:nvSpPr>
          <p:cNvPr id="20" name="Text 15"/>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21" name="Text 16"/>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&amp; MEMORY MANAGEMENT · 3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Persisting Conversational Memory</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Memory that lives only in RAM disappears the moment the process restarts.</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Persisting conversational memory means saving buffer, summary, or vector memory to durable storage — a database, file, or vector store — so it survives restarts, deployments, and crashes, instead of resetting every time the process stops.</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Choose a store matched to the memory type (database table, vector database).</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Write memory updates after each turn, keyed by a conversation or user ID.</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Load the relevant memory back in at the start of a new request.</a:t>
            </a:r>
            <a:endParaRPr lang="en-US" sz="1150" dirty="0"/>
          </a:p>
        </p:txBody>
      </p:sp>
      <p:sp>
        <p:nvSpPr>
          <p:cNvPr id="16" name="Shape 14"/>
          <p:cNvSpPr/>
          <p:nvPr/>
        </p:nvSpPr>
        <p:spPr>
          <a:xfrm>
            <a:off x="548640" y="4974336"/>
            <a:ext cx="6035040" cy="822960"/>
          </a:xfrm>
          <a:prstGeom prst="roundRect">
            <a:avLst>
              <a:gd name="adj" fmla="val 8889"/>
            </a:avLst>
          </a:prstGeom>
          <a:solidFill>
            <a:srgbClr val="FDF2E3"/>
          </a:solidFill>
          <a:ln/>
        </p:spPr>
      </p:sp>
      <p:sp>
        <p:nvSpPr>
          <p:cNvPr id="17" name="Text 15"/>
          <p:cNvSpPr txBox="1"/>
          <p:nvPr/>
        </p:nvSpPr>
        <p:spPr>
          <a:xfrm>
            <a:off x="731520" y="4974336"/>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persistence adds latency (a read/write per turn) and requires deciding what to keep indefinitely versus prune or expire.</a:t>
            </a:r>
            <a:endParaRPr lang="en-US" sz="1100" dirty="0"/>
          </a:p>
        </p:txBody>
      </p:sp>
      <p:sp>
        <p:nvSpPr>
          <p:cNvPr id="18" name="Shape 16"/>
          <p:cNvSpPr/>
          <p:nvPr/>
        </p:nvSpPr>
        <p:spPr>
          <a:xfrm>
            <a:off x="6949440" y="1874520"/>
            <a:ext cx="4663440" cy="4343400"/>
          </a:xfrm>
          <a:prstGeom prst="roundRect">
            <a:avLst>
              <a:gd name="adj" fmla="val 2526"/>
            </a:avLst>
          </a:prstGeom>
          <a:solidFill>
            <a:srgbClr val="1B2A4A"/>
          </a:solidFill>
          <a:ln/>
        </p:spPr>
      </p:sp>
      <p:sp>
        <p:nvSpPr>
          <p:cNvPr id="19" name="Shape 17"/>
          <p:cNvSpPr/>
          <p:nvPr/>
        </p:nvSpPr>
        <p:spPr>
          <a:xfrm>
            <a:off x="7269480" y="2194560"/>
            <a:ext cx="777240" cy="777240"/>
          </a:xfrm>
          <a:prstGeom prst="ellipse">
            <a:avLst/>
          </a:prstGeom>
          <a:solidFill>
            <a:srgbClr val="F2A65A"/>
          </a:solidFill>
          <a:ln/>
        </p:spPr>
      </p:sp>
      <p:pic>
        <p:nvPicPr>
          <p:cNvPr id="20" name="Image 0" descr="/home/claude/icons/save_1B2A4A.png"/>
          <p:cNvPicPr>
            <a:picLocks noChangeAspect="1"/>
          </p:cNvPicPr>
          <p:nvPr/>
        </p:nvPicPr>
        <p:blipFill>
          <a:blip r:embed="rId3"/>
          <a:stretch>
            <a:fillRect/>
          </a:stretch>
        </p:blipFill>
        <p:spPr>
          <a:xfrm>
            <a:off x="7444359" y="2369439"/>
            <a:ext cx="427482" cy="427482"/>
          </a:xfrm>
          <a:prstGeom prst="rect">
            <a:avLst/>
          </a:prstGeom>
        </p:spPr>
      </p:pic>
      <p:sp>
        <p:nvSpPr>
          <p:cNvPr id="21" name="Text 18"/>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2" name="Text 19"/>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 simple persistence layer</a:t>
            </a:r>
            <a:endParaRPr lang="en-US" sz="1550" dirty="0"/>
          </a:p>
        </p:txBody>
      </p:sp>
      <p:sp>
        <p:nvSpPr>
          <p:cNvPr id="23" name="Shape 20"/>
          <p:cNvSpPr/>
          <p:nvPr/>
        </p:nvSpPr>
        <p:spPr>
          <a:xfrm>
            <a:off x="7269480" y="3246120"/>
            <a:ext cx="4023360" cy="2468880"/>
          </a:xfrm>
          <a:prstGeom prst="roundRect">
            <a:avLst>
              <a:gd name="adj" fmla="val 2963"/>
            </a:avLst>
          </a:prstGeom>
          <a:solidFill>
            <a:srgbClr val="121D33"/>
          </a:solidFill>
          <a:ln/>
        </p:spPr>
      </p:sp>
      <p:sp>
        <p:nvSpPr>
          <p:cNvPr id="24" name="Text 21"/>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After each turn:</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save(conversation_id, {buffer, summary, timestamp})</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On the next request:</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memory = load(conversation_id)</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the assistant resumes with full context, even after a server restart.</a:t>
            </a:r>
            <a:endParaRPr lang="en-US" sz="1100" dirty="0"/>
          </a:p>
        </p:txBody>
      </p:sp>
      <p:sp>
        <p:nvSpPr>
          <p:cNvPr id="25" name="Text 22"/>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any application meant to survive restarts or run across multiple servers needs memory outside process memory.</a:t>
            </a:r>
            <a:endParaRPr lang="en-US" sz="1050" dirty="0"/>
          </a:p>
        </p:txBody>
      </p:sp>
      <p:sp>
        <p:nvSpPr>
          <p:cNvPr id="26" name="Text 23"/>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27" name="Text 24"/>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RETRIEVAL &amp; DOCUMENT CHUNKING · 1 OF 6</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Retrieval as Context</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Instead of stuffing everything into the prompt, fetch only what's relevant, when it's relevant.</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Retrieval as context — the core idea behind RAG — fetches relevant passages from an external knowledge source at query time and inserts just those into the prompt, rather than trying to fit an entire knowledge base into the context window up front.</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Store documents as searchable chunks (often as embeddings in a vector store).</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At query time, search for the chunks most relevant to the question.</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Insert the top-matching chunks into the prompt as context.</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The model answers using both its own knowledge and the retrieved passages.</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retrieval quality is a ceiling on answer quality — if the right passage isn't retrieved, the model can't use it, no matter how good the prompt is.</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search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Answering from a knowledge base</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Question: “What's our refund policy for digital goods?”</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Retrieve the 2 most relevant policy-doc chunks → insert them into the prompt → the model answers grounded in the actual policy text.</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Best for: </a:t>
            </a:r>
            <a:r>
              <a:rPr lang="en-US" sz="1050" dirty="0">
                <a:solidFill>
                  <a:srgbClr val="E8EDF5"/>
                </a:solidFill>
                <a:latin typeface="Calibri" pitchFamily="34" charset="0"/>
                <a:ea typeface="Calibri" pitchFamily="34" charset="-122"/>
                <a:cs typeface="Calibri" pitchFamily="34" charset="-120"/>
              </a:rPr>
              <a:t>knowledge bases too large to fit in context, and answers that need to be grounded in specific source documents.</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RETRIEVAL &amp; DOCUMENT CHUNKING · 2 OF 6</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LangChain Document Loaders</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The first step of any retrieval pipeline: getting content out of its source format.</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Document loaders are LangChain components that read content from a source — files, websites, databases, APIs — and convert it into a standard Document object (text plus metadata) the rest of the pipeline can work with.</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Pick a loader matched to the source (PDF, web page, CSV, Notion, etc.).</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The loader reads the raw source and extracts text content.</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It attaches metadata (source path, page number, timestamps) to each Document.</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Loaded documents flow into text splitting, then embedding and storage.</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loader quality varies by source — scanned PDFs, complex tables, and heavily styled web pages often need extra cleanup after loading.</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folderopen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Common loader types</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PyPDFLoader — PDF files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WebBaseLoader — web pages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CSVLoader — spreadsheets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NotionDBLoader — Notion databases</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Each returns a consistent list of Document objects, regardless of source format.</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loaders standardize different sources into one format so the rest of the pipeline doesn't need to know where content came from.</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FAC9C3-463E-5053-4D36-FD6A61E1BC98}"/>
              </a:ext>
            </a:extLst>
          </p:cNvPr>
          <p:cNvPicPr>
            <a:picLocks noChangeAspect="1"/>
          </p:cNvPicPr>
          <p:nvPr/>
        </p:nvPicPr>
        <p:blipFill>
          <a:blip r:embed="rId2"/>
          <a:stretch>
            <a:fillRect/>
          </a:stretch>
        </p:blipFill>
        <p:spPr>
          <a:xfrm>
            <a:off x="1905000" y="66261"/>
            <a:ext cx="10287000" cy="6858000"/>
          </a:xfrm>
          <a:prstGeom prst="rect">
            <a:avLst/>
          </a:prstGeom>
        </p:spPr>
      </p:pic>
      <p:sp>
        <p:nvSpPr>
          <p:cNvPr id="4" name="TextBox 3">
            <a:extLst>
              <a:ext uri="{FF2B5EF4-FFF2-40B4-BE49-F238E27FC236}">
                <a16:creationId xmlns:a16="http://schemas.microsoft.com/office/drawing/2014/main" id="{7A1412AC-ECEA-9D51-E411-FC572D19B7F9}"/>
              </a:ext>
            </a:extLst>
          </p:cNvPr>
          <p:cNvSpPr txBox="1"/>
          <p:nvPr/>
        </p:nvSpPr>
        <p:spPr>
          <a:xfrm>
            <a:off x="271670" y="1610139"/>
            <a:ext cx="1404730" cy="646331"/>
          </a:xfrm>
          <a:prstGeom prst="rect">
            <a:avLst/>
          </a:prstGeom>
          <a:noFill/>
        </p:spPr>
        <p:txBody>
          <a:bodyPr wrap="square" rtlCol="0">
            <a:spAutoFit/>
          </a:bodyPr>
          <a:lstStyle/>
          <a:p>
            <a:pPr algn="ctr"/>
            <a:r>
              <a:rPr lang="en-IN" b="1" dirty="0"/>
              <a:t>Chunking Strategies</a:t>
            </a:r>
            <a:endParaRPr lang="en-GB" b="1" dirty="0"/>
          </a:p>
        </p:txBody>
      </p:sp>
    </p:spTree>
    <p:extLst>
      <p:ext uri="{BB962C8B-B14F-4D97-AF65-F5344CB8AC3E}">
        <p14:creationId xmlns:p14="http://schemas.microsoft.com/office/powerpoint/2010/main" val="779537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RETRIEVAL &amp; DOCUMENT CHUNKING · 3 OF 6</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Text Splitting with Chunk Overlap</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Cutting documents into pieces small enough to embed — without severing ideas at the seams.</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Text splitting breaks a long document into fixed-size chunks so each piece is small enough to embed and fit in a prompt. Chunk overlap repeats a small amount of text at the boundary between chunks, so context isn't lost at the cut point.</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Pick a chunk size (e.g., 500 tokens) based on the embedding model and prompt budget.</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Pick an overlap size (e.g., 50 tokens) to repeat between adjacent chunks.</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Split the document, sliding forward by (size − overlap) tokens each time.</a:t>
            </a:r>
            <a:endParaRPr lang="en-US" sz="1150" dirty="0"/>
          </a:p>
        </p:txBody>
      </p:sp>
      <p:sp>
        <p:nvSpPr>
          <p:cNvPr id="16" name="Shape 14"/>
          <p:cNvSpPr/>
          <p:nvPr/>
        </p:nvSpPr>
        <p:spPr>
          <a:xfrm>
            <a:off x="548640" y="4974336"/>
            <a:ext cx="6035040" cy="822960"/>
          </a:xfrm>
          <a:prstGeom prst="roundRect">
            <a:avLst>
              <a:gd name="adj" fmla="val 8889"/>
            </a:avLst>
          </a:prstGeom>
          <a:solidFill>
            <a:srgbClr val="FDF2E3"/>
          </a:solidFill>
          <a:ln/>
        </p:spPr>
      </p:sp>
      <p:sp>
        <p:nvSpPr>
          <p:cNvPr id="17" name="Text 15"/>
          <p:cNvSpPr txBox="1"/>
          <p:nvPr/>
        </p:nvSpPr>
        <p:spPr>
          <a:xfrm>
            <a:off x="731520" y="4974336"/>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too little overlap can sever the sentence that answers a question in half; too much wastes storage and retrieval budget on duplicated text.</a:t>
            </a:r>
            <a:endParaRPr lang="en-US" sz="1100" dirty="0"/>
          </a:p>
        </p:txBody>
      </p:sp>
      <p:sp>
        <p:nvSpPr>
          <p:cNvPr id="18" name="Shape 16"/>
          <p:cNvSpPr/>
          <p:nvPr/>
        </p:nvSpPr>
        <p:spPr>
          <a:xfrm>
            <a:off x="6949440" y="1874520"/>
            <a:ext cx="4663440" cy="4343400"/>
          </a:xfrm>
          <a:prstGeom prst="roundRect">
            <a:avLst>
              <a:gd name="adj" fmla="val 2526"/>
            </a:avLst>
          </a:prstGeom>
          <a:solidFill>
            <a:srgbClr val="1B2A4A"/>
          </a:solidFill>
          <a:ln/>
        </p:spPr>
      </p:sp>
      <p:sp>
        <p:nvSpPr>
          <p:cNvPr id="19" name="Shape 17"/>
          <p:cNvSpPr/>
          <p:nvPr/>
        </p:nvSpPr>
        <p:spPr>
          <a:xfrm>
            <a:off x="7269480" y="2194560"/>
            <a:ext cx="777240" cy="777240"/>
          </a:xfrm>
          <a:prstGeom prst="ellipse">
            <a:avLst/>
          </a:prstGeom>
          <a:solidFill>
            <a:srgbClr val="F2A65A"/>
          </a:solidFill>
          <a:ln/>
        </p:spPr>
      </p:sp>
      <p:pic>
        <p:nvPicPr>
          <p:cNvPr id="20" name="Image 0" descr="/home/claude/icons/cut_1B2A4A.png"/>
          <p:cNvPicPr>
            <a:picLocks noChangeAspect="1"/>
          </p:cNvPicPr>
          <p:nvPr/>
        </p:nvPicPr>
        <p:blipFill>
          <a:blip r:embed="rId3"/>
          <a:stretch>
            <a:fillRect/>
          </a:stretch>
        </p:blipFill>
        <p:spPr>
          <a:xfrm>
            <a:off x="7444359" y="2369439"/>
            <a:ext cx="427482" cy="427482"/>
          </a:xfrm>
          <a:prstGeom prst="rect">
            <a:avLst/>
          </a:prstGeom>
        </p:spPr>
      </p:pic>
      <p:sp>
        <p:nvSpPr>
          <p:cNvPr id="21" name="Text 18"/>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2" name="Text 19"/>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500-token chunks, 50-token overlap</a:t>
            </a:r>
            <a:endParaRPr lang="en-US" sz="1550" dirty="0"/>
          </a:p>
        </p:txBody>
      </p:sp>
      <p:sp>
        <p:nvSpPr>
          <p:cNvPr id="23" name="Shape 20"/>
          <p:cNvSpPr/>
          <p:nvPr/>
        </p:nvSpPr>
        <p:spPr>
          <a:xfrm>
            <a:off x="7269480" y="3246120"/>
            <a:ext cx="4023360" cy="2468880"/>
          </a:xfrm>
          <a:prstGeom prst="roundRect">
            <a:avLst>
              <a:gd name="adj" fmla="val 2963"/>
            </a:avLst>
          </a:prstGeom>
          <a:solidFill>
            <a:srgbClr val="121D33"/>
          </a:solidFill>
          <a:ln/>
        </p:spPr>
      </p:sp>
      <p:sp>
        <p:nvSpPr>
          <p:cNvPr id="24" name="Text 21"/>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Chunk 1: tokens 0–500</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Chunk 2: tokens 450–950</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Chunk 3: tokens 900–1400</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The last 50 tokens of each chunk reappear at the start of the next, so no sentence at a cut point is lost.</a:t>
            </a:r>
            <a:endParaRPr lang="en-US" sz="1100" dirty="0"/>
          </a:p>
        </p:txBody>
      </p:sp>
      <p:sp>
        <p:nvSpPr>
          <p:cNvPr id="25" name="Text 22"/>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Best for: </a:t>
            </a:r>
            <a:r>
              <a:rPr lang="en-US" sz="1050" dirty="0">
                <a:solidFill>
                  <a:srgbClr val="E8EDF5"/>
                </a:solidFill>
                <a:latin typeface="Calibri" pitchFamily="34" charset="0"/>
                <a:ea typeface="Calibri" pitchFamily="34" charset="-122"/>
                <a:cs typeface="Calibri" pitchFamily="34" charset="-120"/>
              </a:rPr>
              <a:t>any document longer than a single chunk — the default building block underneath most chunking strategies.</a:t>
            </a:r>
            <a:endParaRPr lang="en-US" sz="1050" dirty="0"/>
          </a:p>
        </p:txBody>
      </p:sp>
      <p:sp>
        <p:nvSpPr>
          <p:cNvPr id="26" name="Text 23"/>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27" name="Text 24"/>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RETRIEVAL &amp; DOCUMENT CHUNKING · 4 OF 6</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Recursive Chunking</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Splitting on the most natural boundary available, and only falling back when it has to.</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Recursive chunking splits text using an ordered list of separators — paragraphs first, then sentences, then words, then characters — recursing into smaller separators only where a piece is still too large after the previous one.</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Try splitting on the largest natural boundary first (e.g., paragraphs).</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If a piece is still over the size limit, split it again on the next separator (sentences).</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Keep recursing to smaller separators (words, characters) only where still needed.</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The result respects structure wherever possible, cutting mid-sentence only as a last resort.</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still a structural, not meaning-based, cut — two adjacent paragraphs on unrelated ideas can still share a chunk if they fit its size limit together.</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layergroup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Separator order in practice</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Try, in order:</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["\n\n", "\n", ". ", " ", ""]</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A report's paragraphs split cleanly. One unusually long paragraph doesn't fit the limit — it alone gets split further on sentence boundaries.</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Best for: </a:t>
            </a:r>
            <a:r>
              <a:rPr lang="en-US" sz="1050" dirty="0">
                <a:solidFill>
                  <a:srgbClr val="E8EDF5"/>
                </a:solidFill>
                <a:latin typeface="Calibri" pitchFamily="34" charset="0"/>
                <a:ea typeface="Calibri" pitchFamily="34" charset="-122"/>
                <a:cs typeface="Calibri" pitchFamily="34" charset="-120"/>
              </a:rPr>
              <a:t>general-purpose chunking of structured text (reports, articles, docs) — the commonly recommended default splitter.</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RETRIEVAL &amp; DOCUMENT CHUNKING · 5 OF 6</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Semantic Chunking</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Cutting where the topic actually changes, not where a fixed size happens to run out.</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Semantic chunking splits text based on meaning: it embeds sentences (or small groups), measures similarity between consecutive segments, and places chunk boundaries where similarity drops sharply — i.e., where the topic shifts.</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Split the text into sentences (or small sentence groups).</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Embed each sentence or group.</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Compare similarity between each pair of consecutive segments.</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Insert a chunk boundary wherever similarity drops sharply.</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costs an embedding call per sentence/group during chunking itself, making it more expensive up front than size-based methods.</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brain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Where the boundary lands</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A support article covers “how to reset your password,” then shifts to “how to update billing info.”</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Semantic chunking places the boundary exactly at that shift — not wherever a 500-token limit happens to land.</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Best for: </a:t>
            </a:r>
            <a:r>
              <a:rPr lang="en-US" sz="1050" dirty="0">
                <a:solidFill>
                  <a:srgbClr val="E8EDF5"/>
                </a:solidFill>
                <a:latin typeface="Calibri" pitchFamily="34" charset="0"/>
                <a:ea typeface="Calibri" pitchFamily="34" charset="-122"/>
                <a:cs typeface="Calibri" pitchFamily="34" charset="-120"/>
              </a:rPr>
              <a:t>documents where topics shift within otherwise-uniform formatting, and coherent chunks matter more than chunking speed or cost.</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RETRIEVAL &amp; DOCUMENT CHUNKING · 6 OF 6</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Chunking Strategies at a Glance</a:t>
            </a:r>
            <a:endParaRPr lang="en-US" sz="30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Each trades setup cost for how well chunk boundaries respect meaning.</a:t>
            </a:r>
            <a:endParaRPr lang="en-US" sz="1350" dirty="0"/>
          </a:p>
        </p:txBody>
      </p:sp>
      <p:sp>
        <p:nvSpPr>
          <p:cNvPr id="5" name="Shape 3"/>
          <p:cNvSpPr/>
          <p:nvPr/>
        </p:nvSpPr>
        <p:spPr>
          <a:xfrm>
            <a:off x="548640" y="2103120"/>
            <a:ext cx="10515600" cy="457200"/>
          </a:xfrm>
          <a:prstGeom prst="roundRect">
            <a:avLst>
              <a:gd name="adj" fmla="val 12000"/>
            </a:avLst>
          </a:prstGeom>
          <a:solidFill>
            <a:srgbClr val="1B2A4A"/>
          </a:solidFill>
          <a:ln/>
        </p:spPr>
      </p:sp>
      <p:sp>
        <p:nvSpPr>
          <p:cNvPr id="6" name="Text 4"/>
          <p:cNvSpPr txBox="1"/>
          <p:nvPr/>
        </p:nvSpPr>
        <p:spPr>
          <a:xfrm>
            <a:off x="1325880" y="2103120"/>
            <a:ext cx="2743200" cy="457200"/>
          </a:xfrm>
          <a:prstGeom prst="rect">
            <a:avLst/>
          </a:prstGeom>
          <a:noFill/>
          <a:ln/>
        </p:spPr>
        <p:txBody>
          <a:bodyPr wrap="square" lIns="0" tIns="0" rIns="0" bIns="0" rtlCol="0" anchor="ctr"/>
          <a:lstStyle/>
          <a:p>
            <a:pPr marL="0" indent="0">
              <a:buNone/>
            </a:pPr>
            <a:r>
              <a:rPr lang="en-US" sz="1050" b="1" kern="0" spc="100" dirty="0">
                <a:solidFill>
                  <a:srgbClr val="F2A65A"/>
                </a:solidFill>
                <a:latin typeface="Calibri" pitchFamily="34" charset="0"/>
                <a:ea typeface="Calibri" pitchFamily="34" charset="-122"/>
                <a:cs typeface="Calibri" pitchFamily="34" charset="-120"/>
              </a:rPr>
              <a:t>STRATEGY</a:t>
            </a:r>
            <a:endParaRPr lang="en-US" sz="1050" dirty="0"/>
          </a:p>
        </p:txBody>
      </p:sp>
      <p:sp>
        <p:nvSpPr>
          <p:cNvPr id="7" name="Text 5"/>
          <p:cNvSpPr txBox="1"/>
          <p:nvPr/>
        </p:nvSpPr>
        <p:spPr>
          <a:xfrm>
            <a:off x="4114800" y="2103120"/>
            <a:ext cx="4023360" cy="457200"/>
          </a:xfrm>
          <a:prstGeom prst="rect">
            <a:avLst/>
          </a:prstGeom>
          <a:noFill/>
          <a:ln/>
        </p:spPr>
        <p:txBody>
          <a:bodyPr wrap="square" lIns="0" tIns="0" rIns="0" bIns="0" rtlCol="0" anchor="ctr"/>
          <a:lstStyle/>
          <a:p>
            <a:pPr marL="0" indent="0">
              <a:buNone/>
            </a:pPr>
            <a:r>
              <a:rPr lang="en-US" sz="1050" b="1" kern="0" spc="100" dirty="0">
                <a:solidFill>
                  <a:srgbClr val="F2A65A"/>
                </a:solidFill>
                <a:latin typeface="Calibri" pitchFamily="34" charset="0"/>
                <a:ea typeface="Calibri" pitchFamily="34" charset="-122"/>
                <a:cs typeface="Calibri" pitchFamily="34" charset="-120"/>
              </a:rPr>
              <a:t>CORE IDEA</a:t>
            </a:r>
            <a:endParaRPr lang="en-US" sz="1050" dirty="0"/>
          </a:p>
        </p:txBody>
      </p:sp>
      <p:sp>
        <p:nvSpPr>
          <p:cNvPr id="8" name="Text 6"/>
          <p:cNvSpPr txBox="1"/>
          <p:nvPr/>
        </p:nvSpPr>
        <p:spPr>
          <a:xfrm>
            <a:off x="8183880" y="2103120"/>
            <a:ext cx="2743200" cy="457200"/>
          </a:xfrm>
          <a:prstGeom prst="rect">
            <a:avLst/>
          </a:prstGeom>
          <a:noFill/>
          <a:ln/>
        </p:spPr>
        <p:txBody>
          <a:bodyPr wrap="square" lIns="0" tIns="0" rIns="0" bIns="0" rtlCol="0" anchor="ctr"/>
          <a:lstStyle/>
          <a:p>
            <a:pPr marL="0" indent="0">
              <a:buNone/>
            </a:pPr>
            <a:r>
              <a:rPr lang="en-US" sz="1050" b="1" kern="0" spc="100" dirty="0">
                <a:solidFill>
                  <a:srgbClr val="F2A65A"/>
                </a:solidFill>
                <a:latin typeface="Calibri" pitchFamily="34" charset="0"/>
                <a:ea typeface="Calibri" pitchFamily="34" charset="-122"/>
                <a:cs typeface="Calibri" pitchFamily="34" charset="-120"/>
              </a:rPr>
              <a:t>BEST FOR</a:t>
            </a:r>
            <a:endParaRPr lang="en-US" sz="1050" dirty="0"/>
          </a:p>
        </p:txBody>
      </p:sp>
      <p:sp>
        <p:nvSpPr>
          <p:cNvPr id="9" name="Shape 7"/>
          <p:cNvSpPr/>
          <p:nvPr/>
        </p:nvSpPr>
        <p:spPr>
          <a:xfrm>
            <a:off x="548640" y="2560320"/>
            <a:ext cx="10515600" cy="960120"/>
          </a:xfrm>
          <a:prstGeom prst="rect">
            <a:avLst/>
          </a:prstGeom>
          <a:solidFill>
            <a:srgbClr val="F7F9FC"/>
          </a:solidFill>
          <a:ln/>
        </p:spPr>
      </p:sp>
      <p:sp>
        <p:nvSpPr>
          <p:cNvPr id="10" name="Shape 8"/>
          <p:cNvSpPr/>
          <p:nvPr/>
        </p:nvSpPr>
        <p:spPr>
          <a:xfrm>
            <a:off x="822960" y="2788920"/>
            <a:ext cx="502920" cy="502920"/>
          </a:xfrm>
          <a:prstGeom prst="ellipse">
            <a:avLst/>
          </a:prstGeom>
          <a:solidFill>
            <a:srgbClr val="1B2A4A"/>
          </a:solidFill>
          <a:ln/>
        </p:spPr>
      </p:sp>
      <p:pic>
        <p:nvPicPr>
          <p:cNvPr id="11" name="Image 0" descr="/home/claude/icons/cut_FFFFFF.png"/>
          <p:cNvPicPr>
            <a:picLocks noChangeAspect="1"/>
          </p:cNvPicPr>
          <p:nvPr/>
        </p:nvPicPr>
        <p:blipFill>
          <a:blip r:embed="rId3"/>
          <a:stretch>
            <a:fillRect/>
          </a:stretch>
        </p:blipFill>
        <p:spPr>
          <a:xfrm>
            <a:off x="936117" y="2902077"/>
            <a:ext cx="276606" cy="276606"/>
          </a:xfrm>
          <a:prstGeom prst="rect">
            <a:avLst/>
          </a:prstGeom>
        </p:spPr>
      </p:pic>
      <p:sp>
        <p:nvSpPr>
          <p:cNvPr id="12" name="Text 9"/>
          <p:cNvSpPr txBox="1"/>
          <p:nvPr/>
        </p:nvSpPr>
        <p:spPr>
          <a:xfrm>
            <a:off x="1508760" y="2560320"/>
            <a:ext cx="2560320" cy="96012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Fixed-Size + Overlap</a:t>
            </a:r>
            <a:endParaRPr lang="en-US" sz="1300" dirty="0"/>
          </a:p>
        </p:txBody>
      </p:sp>
      <p:sp>
        <p:nvSpPr>
          <p:cNvPr id="13" name="Text 10"/>
          <p:cNvSpPr txBox="1"/>
          <p:nvPr/>
        </p:nvSpPr>
        <p:spPr>
          <a:xfrm>
            <a:off x="4114800" y="2560320"/>
            <a:ext cx="4023360" cy="960120"/>
          </a:xfrm>
          <a:prstGeom prst="rect">
            <a:avLst/>
          </a:prstGeom>
          <a:noFill/>
          <a:ln/>
        </p:spPr>
        <p:txBody>
          <a:bodyPr wrap="square" lIns="0" tIns="0" rIns="0" bIns="0" rtlCol="0" anchor="ctr"/>
          <a:lstStyle/>
          <a:p>
            <a:pPr marL="0" indent="0">
              <a:lnSpc>
                <a:spcPct val="115000"/>
              </a:lnSpc>
              <a:buNone/>
            </a:pPr>
            <a:r>
              <a:rPr lang="en-US" sz="1200" dirty="0">
                <a:solidFill>
                  <a:srgbClr val="5B6B85"/>
                </a:solidFill>
                <a:latin typeface="Calibri" pitchFamily="34" charset="0"/>
                <a:ea typeface="Calibri" pitchFamily="34" charset="-122"/>
                <a:cs typeface="Calibri" pitchFamily="34" charset="-120"/>
              </a:rPr>
              <a:t>Split by fixed length; repeat text at boundaries</a:t>
            </a:r>
            <a:endParaRPr lang="en-US" sz="1200" dirty="0"/>
          </a:p>
        </p:txBody>
      </p:sp>
      <p:sp>
        <p:nvSpPr>
          <p:cNvPr id="14" name="Text 11"/>
          <p:cNvSpPr txBox="1"/>
          <p:nvPr/>
        </p:nvSpPr>
        <p:spPr>
          <a:xfrm>
            <a:off x="8183880" y="2560320"/>
            <a:ext cx="2743200" cy="960120"/>
          </a:xfrm>
          <a:prstGeom prst="rect">
            <a:avLst/>
          </a:prstGeom>
          <a:noFill/>
          <a:ln/>
        </p:spPr>
        <p:txBody>
          <a:bodyPr wrap="square" lIns="0" tIns="0" rIns="0" bIns="0" rtlCol="0" anchor="ctr"/>
          <a:lstStyle/>
          <a:p>
            <a:pPr marL="0" indent="0">
              <a:lnSpc>
                <a:spcPct val="115000"/>
              </a:lnSpc>
              <a:buNone/>
            </a:pPr>
            <a:r>
              <a:rPr lang="en-US" sz="1200" i="1" dirty="0">
                <a:solidFill>
                  <a:srgbClr val="1B2A4A"/>
                </a:solidFill>
                <a:latin typeface="Calibri" pitchFamily="34" charset="0"/>
                <a:ea typeface="Calibri" pitchFamily="34" charset="-122"/>
                <a:cs typeface="Calibri" pitchFamily="34" charset="-120"/>
              </a:rPr>
              <a:t>Simple, uniform documents</a:t>
            </a:r>
            <a:endParaRPr lang="en-US" sz="1200" dirty="0"/>
          </a:p>
        </p:txBody>
      </p:sp>
      <p:sp>
        <p:nvSpPr>
          <p:cNvPr id="15" name="Shape 12"/>
          <p:cNvSpPr/>
          <p:nvPr/>
        </p:nvSpPr>
        <p:spPr>
          <a:xfrm>
            <a:off x="548640" y="3520440"/>
            <a:ext cx="10515600" cy="960120"/>
          </a:xfrm>
          <a:prstGeom prst="rect">
            <a:avLst/>
          </a:prstGeom>
          <a:solidFill>
            <a:srgbClr val="FFFFFF"/>
          </a:solidFill>
          <a:ln/>
        </p:spPr>
      </p:sp>
      <p:sp>
        <p:nvSpPr>
          <p:cNvPr id="16" name="Shape 13"/>
          <p:cNvSpPr/>
          <p:nvPr/>
        </p:nvSpPr>
        <p:spPr>
          <a:xfrm>
            <a:off x="822960" y="3749040"/>
            <a:ext cx="502920" cy="502920"/>
          </a:xfrm>
          <a:prstGeom prst="ellipse">
            <a:avLst/>
          </a:prstGeom>
          <a:solidFill>
            <a:srgbClr val="1B2A4A"/>
          </a:solidFill>
          <a:ln/>
        </p:spPr>
      </p:sp>
      <p:pic>
        <p:nvPicPr>
          <p:cNvPr id="17" name="Image 1" descr="/home/claude/icons/layergroup_FFFFFF.png"/>
          <p:cNvPicPr>
            <a:picLocks noChangeAspect="1"/>
          </p:cNvPicPr>
          <p:nvPr/>
        </p:nvPicPr>
        <p:blipFill>
          <a:blip r:embed="rId4"/>
          <a:stretch>
            <a:fillRect/>
          </a:stretch>
        </p:blipFill>
        <p:spPr>
          <a:xfrm>
            <a:off x="936117" y="3862197"/>
            <a:ext cx="276606" cy="276606"/>
          </a:xfrm>
          <a:prstGeom prst="rect">
            <a:avLst/>
          </a:prstGeom>
        </p:spPr>
      </p:pic>
      <p:sp>
        <p:nvSpPr>
          <p:cNvPr id="18" name="Text 14"/>
          <p:cNvSpPr txBox="1"/>
          <p:nvPr/>
        </p:nvSpPr>
        <p:spPr>
          <a:xfrm>
            <a:off x="1508760" y="3520440"/>
            <a:ext cx="2560320" cy="96012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Recursive</a:t>
            </a:r>
            <a:endParaRPr lang="en-US" sz="1300" dirty="0"/>
          </a:p>
        </p:txBody>
      </p:sp>
      <p:sp>
        <p:nvSpPr>
          <p:cNvPr id="19" name="Text 15"/>
          <p:cNvSpPr txBox="1"/>
          <p:nvPr/>
        </p:nvSpPr>
        <p:spPr>
          <a:xfrm>
            <a:off x="4114800" y="3520440"/>
            <a:ext cx="4023360" cy="960120"/>
          </a:xfrm>
          <a:prstGeom prst="rect">
            <a:avLst/>
          </a:prstGeom>
          <a:noFill/>
          <a:ln/>
        </p:spPr>
        <p:txBody>
          <a:bodyPr wrap="square" lIns="0" tIns="0" rIns="0" bIns="0" rtlCol="0" anchor="ctr"/>
          <a:lstStyle/>
          <a:p>
            <a:pPr marL="0" indent="0">
              <a:lnSpc>
                <a:spcPct val="115000"/>
              </a:lnSpc>
              <a:buNone/>
            </a:pPr>
            <a:r>
              <a:rPr lang="en-US" sz="1200" dirty="0">
                <a:solidFill>
                  <a:srgbClr val="5B6B85"/>
                </a:solidFill>
                <a:latin typeface="Calibri" pitchFamily="34" charset="0"/>
                <a:ea typeface="Calibri" pitchFamily="34" charset="-122"/>
                <a:cs typeface="Calibri" pitchFamily="34" charset="-120"/>
              </a:rPr>
              <a:t>Try natural separators first, recurse when needed</a:t>
            </a:r>
            <a:endParaRPr lang="en-US" sz="1200" dirty="0"/>
          </a:p>
        </p:txBody>
      </p:sp>
      <p:sp>
        <p:nvSpPr>
          <p:cNvPr id="20" name="Text 16"/>
          <p:cNvSpPr txBox="1"/>
          <p:nvPr/>
        </p:nvSpPr>
        <p:spPr>
          <a:xfrm>
            <a:off x="8183880" y="3520440"/>
            <a:ext cx="2743200" cy="960120"/>
          </a:xfrm>
          <a:prstGeom prst="rect">
            <a:avLst/>
          </a:prstGeom>
          <a:noFill/>
          <a:ln/>
        </p:spPr>
        <p:txBody>
          <a:bodyPr wrap="square" lIns="0" tIns="0" rIns="0" bIns="0" rtlCol="0" anchor="ctr"/>
          <a:lstStyle/>
          <a:p>
            <a:pPr marL="0" indent="0">
              <a:lnSpc>
                <a:spcPct val="115000"/>
              </a:lnSpc>
              <a:buNone/>
            </a:pPr>
            <a:r>
              <a:rPr lang="en-US" sz="1200" i="1" dirty="0">
                <a:solidFill>
                  <a:srgbClr val="1B2A4A"/>
                </a:solidFill>
                <a:latin typeface="Calibri" pitchFamily="34" charset="0"/>
                <a:ea typeface="Calibri" pitchFamily="34" charset="-122"/>
                <a:cs typeface="Calibri" pitchFamily="34" charset="-120"/>
              </a:rPr>
              <a:t>General-purpose structured text</a:t>
            </a:r>
            <a:endParaRPr lang="en-US" sz="1200" dirty="0"/>
          </a:p>
        </p:txBody>
      </p:sp>
      <p:sp>
        <p:nvSpPr>
          <p:cNvPr id="21" name="Shape 17"/>
          <p:cNvSpPr/>
          <p:nvPr/>
        </p:nvSpPr>
        <p:spPr>
          <a:xfrm>
            <a:off x="548640" y="4480560"/>
            <a:ext cx="10515600" cy="960120"/>
          </a:xfrm>
          <a:prstGeom prst="rect">
            <a:avLst/>
          </a:prstGeom>
          <a:solidFill>
            <a:srgbClr val="F7F9FC"/>
          </a:solidFill>
          <a:ln/>
        </p:spPr>
      </p:sp>
      <p:sp>
        <p:nvSpPr>
          <p:cNvPr id="22" name="Shape 18"/>
          <p:cNvSpPr/>
          <p:nvPr/>
        </p:nvSpPr>
        <p:spPr>
          <a:xfrm>
            <a:off x="822960" y="4709160"/>
            <a:ext cx="502920" cy="502920"/>
          </a:xfrm>
          <a:prstGeom prst="ellipse">
            <a:avLst/>
          </a:prstGeom>
          <a:solidFill>
            <a:srgbClr val="1B2A4A"/>
          </a:solidFill>
          <a:ln/>
        </p:spPr>
      </p:sp>
      <p:pic>
        <p:nvPicPr>
          <p:cNvPr id="23" name="Image 2" descr="/home/claude/icons/brain_FFFFFF.png"/>
          <p:cNvPicPr>
            <a:picLocks noChangeAspect="1"/>
          </p:cNvPicPr>
          <p:nvPr/>
        </p:nvPicPr>
        <p:blipFill>
          <a:blip r:embed="rId5"/>
          <a:stretch>
            <a:fillRect/>
          </a:stretch>
        </p:blipFill>
        <p:spPr>
          <a:xfrm>
            <a:off x="936117" y="4822317"/>
            <a:ext cx="276606" cy="276606"/>
          </a:xfrm>
          <a:prstGeom prst="rect">
            <a:avLst/>
          </a:prstGeom>
        </p:spPr>
      </p:pic>
      <p:sp>
        <p:nvSpPr>
          <p:cNvPr id="24" name="Text 19"/>
          <p:cNvSpPr txBox="1"/>
          <p:nvPr/>
        </p:nvSpPr>
        <p:spPr>
          <a:xfrm>
            <a:off x="1508760" y="4480560"/>
            <a:ext cx="2560320" cy="96012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Semantic</a:t>
            </a:r>
            <a:endParaRPr lang="en-US" sz="1300" dirty="0"/>
          </a:p>
        </p:txBody>
      </p:sp>
      <p:sp>
        <p:nvSpPr>
          <p:cNvPr id="25" name="Text 20"/>
          <p:cNvSpPr txBox="1"/>
          <p:nvPr/>
        </p:nvSpPr>
        <p:spPr>
          <a:xfrm>
            <a:off x="4114800" y="4480560"/>
            <a:ext cx="4023360" cy="960120"/>
          </a:xfrm>
          <a:prstGeom prst="rect">
            <a:avLst/>
          </a:prstGeom>
          <a:noFill/>
          <a:ln/>
        </p:spPr>
        <p:txBody>
          <a:bodyPr wrap="square" lIns="0" tIns="0" rIns="0" bIns="0" rtlCol="0" anchor="ctr"/>
          <a:lstStyle/>
          <a:p>
            <a:pPr marL="0" indent="0">
              <a:lnSpc>
                <a:spcPct val="115000"/>
              </a:lnSpc>
              <a:buNone/>
            </a:pPr>
            <a:r>
              <a:rPr lang="en-US" sz="1200" dirty="0">
                <a:solidFill>
                  <a:srgbClr val="5B6B85"/>
                </a:solidFill>
                <a:latin typeface="Calibri" pitchFamily="34" charset="0"/>
                <a:ea typeface="Calibri" pitchFamily="34" charset="-122"/>
                <a:cs typeface="Calibri" pitchFamily="34" charset="-120"/>
              </a:rPr>
              <a:t>Split where topic similarity drops</a:t>
            </a:r>
            <a:endParaRPr lang="en-US" sz="1200" dirty="0"/>
          </a:p>
        </p:txBody>
      </p:sp>
      <p:sp>
        <p:nvSpPr>
          <p:cNvPr id="26" name="Text 21"/>
          <p:cNvSpPr txBox="1"/>
          <p:nvPr/>
        </p:nvSpPr>
        <p:spPr>
          <a:xfrm>
            <a:off x="8183880" y="4480560"/>
            <a:ext cx="2743200" cy="960120"/>
          </a:xfrm>
          <a:prstGeom prst="rect">
            <a:avLst/>
          </a:prstGeom>
          <a:noFill/>
          <a:ln/>
        </p:spPr>
        <p:txBody>
          <a:bodyPr wrap="square" lIns="0" tIns="0" rIns="0" bIns="0" rtlCol="0" anchor="ctr"/>
          <a:lstStyle/>
          <a:p>
            <a:pPr marL="0" indent="0">
              <a:lnSpc>
                <a:spcPct val="115000"/>
              </a:lnSpc>
              <a:buNone/>
            </a:pPr>
            <a:r>
              <a:rPr lang="en-US" sz="1200" i="1" dirty="0">
                <a:solidFill>
                  <a:srgbClr val="1B2A4A"/>
                </a:solidFill>
                <a:latin typeface="Calibri" pitchFamily="34" charset="0"/>
                <a:ea typeface="Calibri" pitchFamily="34" charset="-122"/>
                <a:cs typeface="Calibri" pitchFamily="34" charset="-120"/>
              </a:rPr>
              <a:t>Topic-shifting or unstructured text</a:t>
            </a:r>
            <a:endParaRPr lang="en-US" sz="1200" dirty="0"/>
          </a:p>
        </p:txBody>
      </p:sp>
      <p:sp>
        <p:nvSpPr>
          <p:cNvPr id="27" name="Text 22"/>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28" name="Text 23"/>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AT SCALE · 1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Managing Multi-Turn Conversation History</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Turning a growing transcript into a structured object instead of a wall of text.</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In a running application, conversation history is typically stored as a list of role-tagged messages (system, user, assistant) rather than a flat block of text. That structure is what makes it possible to apply memory strategies to it.</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Append each new message to the history with its role.</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Track turn count and token count as the conversation grows.</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Apply a memory strategy (buffer, summary, or vector) once a threshold is reached.</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Reconstruct the message list to send on the next request.</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the strategy has to run before the request is sent, not after — by the time a call fails on context length, it's too late.</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comments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 structured message list</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{role: 'system', content: '...'},</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{role: 'user', content: 'Hi'},</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{role: 'assistant', content: 'Hello!'},</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{role: 'user', content: '...'}</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This structure is what summarization or windowing actually operates on.</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structure is what turns “manage the context” from a vague goal into an operation you can actually run on data.</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AT SCALE · 2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Continuing Context Across Sessions</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Picking up where a user left off, even days later and on a different device.</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Continuing context across sessions means recognizing a returning user or conversation ID and reloading their prior context — a summary, key facts, or recent turns — into a new session, instead of starting from a blank slate every time.</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Identify the returning user or conversation by a stable ID.</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Load their persisted memory (see: Persisting Conversational Memory).</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Reintroduce enough context — often a summary, not the full history — to resume coherently.</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Continue appending new turns to that reloaded context going forward.</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reloading everything verbatim defeats the purpose — sessions usually resume from a summary, retrieving older detail only if the user asks.</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history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Resuming three days later</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Monday: user discusses a trip to Japan; session ends.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Thursday: user returns and asks, “what was that hotel you mentioned?”</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the assistant loads Monday's saved summary and answers correctly, unprompted.</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Key point: </a:t>
            </a:r>
            <a:r>
              <a:rPr lang="en-US" sz="1050" dirty="0">
                <a:solidFill>
                  <a:srgbClr val="E8EDF5"/>
                </a:solidFill>
                <a:latin typeface="Calibri" pitchFamily="34" charset="0"/>
                <a:ea typeface="Calibri" pitchFamily="34" charset="-122"/>
                <a:cs typeface="Calibri" pitchFamily="34" charset="-120"/>
              </a:rPr>
              <a:t>products where users expect continuity — most assistants, support bots, and long-term collaborative tools.</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CONTEXT AT SCALE · 3 OF 3</a:t>
            </a:r>
            <a:endParaRPr lang="en-US" sz="1200" dirty="0"/>
          </a:p>
        </p:txBody>
      </p:sp>
      <p:sp>
        <p:nvSpPr>
          <p:cNvPr id="3" name="Text 1"/>
          <p:cNvSpPr txBox="1"/>
          <p:nvPr/>
        </p:nvSpPr>
        <p:spPr>
          <a:xfrm>
            <a:off x="548640" y="594360"/>
            <a:ext cx="1078992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Token Usage Measurement with Tiktoken</a:t>
            </a:r>
            <a:endParaRPr lang="en-US" sz="2800" dirty="0"/>
          </a:p>
        </p:txBody>
      </p:sp>
      <p:sp>
        <p:nvSpPr>
          <p:cNvPr id="4" name="Text 2"/>
          <p:cNvSpPr txBox="1"/>
          <p:nvPr/>
        </p:nvSpPr>
        <p:spPr>
          <a:xfrm>
            <a:off x="548640" y="1234440"/>
            <a:ext cx="10607040" cy="457200"/>
          </a:xfrm>
          <a:prstGeom prst="rect">
            <a:avLst/>
          </a:prstGeom>
          <a:noFill/>
          <a:ln/>
        </p:spPr>
        <p:txBody>
          <a:bodyPr wrap="square" lIns="0" tIns="0" rIns="0" bIns="0" rtlCol="0" anchor="ctr"/>
          <a:lstStyle/>
          <a:p>
            <a:pPr marL="0" indent="0">
              <a:buNone/>
            </a:pPr>
            <a:r>
              <a:rPr lang="en-US" sz="1350" dirty="0">
                <a:solidFill>
                  <a:srgbClr val="5B6B85"/>
                </a:solidFill>
                <a:latin typeface="Calibri" pitchFamily="34" charset="0"/>
                <a:ea typeface="Calibri" pitchFamily="34" charset="-122"/>
                <a:cs typeface="Calibri" pitchFamily="34" charset="-120"/>
              </a:rPr>
              <a:t>Counting tokens before you send them, instead of finding out the hard way.</a:t>
            </a:r>
            <a:endParaRPr lang="en-US" sz="1350" dirty="0"/>
          </a:p>
        </p:txBody>
      </p:sp>
      <p:sp>
        <p:nvSpPr>
          <p:cNvPr id="5" name="Text 3"/>
          <p:cNvSpPr txBox="1"/>
          <p:nvPr/>
        </p:nvSpPr>
        <p:spPr>
          <a:xfrm>
            <a:off x="548640" y="1874520"/>
            <a:ext cx="6035040" cy="1143000"/>
          </a:xfrm>
          <a:prstGeom prst="rect">
            <a:avLst/>
          </a:prstGeom>
          <a:noFill/>
          <a:ln/>
        </p:spPr>
        <p:txBody>
          <a:bodyPr wrap="square" lIns="0" tIns="0" rIns="0" bIns="0" rtlCol="0" anchor="ctr"/>
          <a:lstStyle/>
          <a:p>
            <a:pPr marL="0" indent="0">
              <a:lnSpc>
                <a:spcPct val="120000"/>
              </a:lnSpc>
              <a:buNone/>
            </a:pPr>
            <a:r>
              <a:rPr lang="en-US" sz="1300" dirty="0">
                <a:solidFill>
                  <a:srgbClr val="1B2A4A"/>
                </a:solidFill>
                <a:latin typeface="Calibri" pitchFamily="34" charset="0"/>
                <a:ea typeface="Calibri" pitchFamily="34" charset="-122"/>
                <a:cs typeface="Calibri" pitchFamily="34" charset="-120"/>
              </a:rPr>
              <a:t>Tiktoken is OpenAI's tokenizer library, used to count exactly how many tokens a piece of text will consume for a given model — before it's sent — letting an application estimate cost and check limits ahead of time.</a:t>
            </a:r>
            <a:endParaRPr lang="en-US" sz="1300" dirty="0"/>
          </a:p>
        </p:txBody>
      </p:sp>
      <p:sp>
        <p:nvSpPr>
          <p:cNvPr id="6" name="Text 4"/>
          <p:cNvSpPr txBox="1"/>
          <p:nvPr/>
        </p:nvSpPr>
        <p:spPr>
          <a:xfrm>
            <a:off x="548640" y="3063240"/>
            <a:ext cx="548640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HOW IT WORKS</a:t>
            </a:r>
            <a:endParaRPr lang="en-US" sz="1100" dirty="0"/>
          </a:p>
        </p:txBody>
      </p:sp>
      <p:sp>
        <p:nvSpPr>
          <p:cNvPr id="7" name="Shape 5"/>
          <p:cNvSpPr/>
          <p:nvPr/>
        </p:nvSpPr>
        <p:spPr>
          <a:xfrm>
            <a:off x="548640" y="3401568"/>
            <a:ext cx="365760" cy="365760"/>
          </a:xfrm>
          <a:prstGeom prst="ellipse">
            <a:avLst/>
          </a:prstGeom>
          <a:solidFill>
            <a:srgbClr val="1B2A4A"/>
          </a:solidFill>
          <a:ln/>
        </p:spPr>
      </p:sp>
      <p:sp>
        <p:nvSpPr>
          <p:cNvPr id="8" name="Text 6"/>
          <p:cNvSpPr txBox="1"/>
          <p:nvPr/>
        </p:nvSpPr>
        <p:spPr>
          <a:xfrm>
            <a:off x="548640" y="3401568"/>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051560" y="3374136"/>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Load the encoding that matches the target model (e.g., cl100k_base).</a:t>
            </a:r>
            <a:endParaRPr lang="en-US" sz="1150" dirty="0"/>
          </a:p>
        </p:txBody>
      </p:sp>
      <p:sp>
        <p:nvSpPr>
          <p:cNvPr id="10" name="Shape 8"/>
          <p:cNvSpPr/>
          <p:nvPr/>
        </p:nvSpPr>
        <p:spPr>
          <a:xfrm>
            <a:off x="548640" y="3895344"/>
            <a:ext cx="365760" cy="365760"/>
          </a:xfrm>
          <a:prstGeom prst="ellipse">
            <a:avLst/>
          </a:prstGeom>
          <a:solidFill>
            <a:srgbClr val="1B2A4A"/>
          </a:solidFill>
          <a:ln/>
        </p:spPr>
      </p:sp>
      <p:sp>
        <p:nvSpPr>
          <p:cNvPr id="11" name="Text 9"/>
          <p:cNvSpPr txBox="1"/>
          <p:nvPr/>
        </p:nvSpPr>
        <p:spPr>
          <a:xfrm>
            <a:off x="548640" y="3895344"/>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3867912"/>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Encode a string to get its list of token IDs.</a:t>
            </a:r>
            <a:endParaRPr lang="en-US" sz="1150" dirty="0"/>
          </a:p>
        </p:txBody>
      </p:sp>
      <p:sp>
        <p:nvSpPr>
          <p:cNvPr id="13" name="Shape 11"/>
          <p:cNvSpPr/>
          <p:nvPr/>
        </p:nvSpPr>
        <p:spPr>
          <a:xfrm>
            <a:off x="548640" y="4389120"/>
            <a:ext cx="365760" cy="365760"/>
          </a:xfrm>
          <a:prstGeom prst="ellipse">
            <a:avLst/>
          </a:prstGeom>
          <a:solidFill>
            <a:srgbClr val="1B2A4A"/>
          </a:solidFill>
          <a:ln/>
        </p:spPr>
      </p:sp>
      <p:sp>
        <p:nvSpPr>
          <p:cNvPr id="14" name="Text 12"/>
          <p:cNvSpPr txBox="1"/>
          <p:nvPr/>
        </p:nvSpPr>
        <p:spPr>
          <a:xfrm>
            <a:off x="548640" y="4389120"/>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51560" y="4361688"/>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Take the length of that list as the token count.</a:t>
            </a:r>
            <a:endParaRPr lang="en-US" sz="1150" dirty="0"/>
          </a:p>
        </p:txBody>
      </p:sp>
      <p:sp>
        <p:nvSpPr>
          <p:cNvPr id="16" name="Shape 14"/>
          <p:cNvSpPr/>
          <p:nvPr/>
        </p:nvSpPr>
        <p:spPr>
          <a:xfrm>
            <a:off x="548640" y="4882896"/>
            <a:ext cx="365760" cy="365760"/>
          </a:xfrm>
          <a:prstGeom prst="ellipse">
            <a:avLst/>
          </a:prstGeom>
          <a:solidFill>
            <a:srgbClr val="1B2A4A"/>
          </a:solidFill>
          <a:ln/>
        </p:spPr>
      </p:sp>
      <p:sp>
        <p:nvSpPr>
          <p:cNvPr id="17" name="Text 15"/>
          <p:cNvSpPr txBox="1"/>
          <p:nvPr/>
        </p:nvSpPr>
        <p:spPr>
          <a:xfrm>
            <a:off x="548640" y="4882896"/>
            <a:ext cx="365760" cy="365760"/>
          </a:xfrm>
          <a:prstGeom prst="rect">
            <a:avLst/>
          </a:prstGeom>
          <a:noFill/>
          <a:ln/>
        </p:spPr>
        <p:txBody>
          <a:bodyPr wrap="square" lIns="0" tIns="0" rIns="0" bIns="0" rtlCol="0" anchor="ctr"/>
          <a:lstStyle/>
          <a:p>
            <a:pPr marL="0" indent="0" algn="ctr">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4855464"/>
            <a:ext cx="5532120" cy="420624"/>
          </a:xfrm>
          <a:prstGeom prst="rect">
            <a:avLst/>
          </a:prstGeom>
          <a:noFill/>
          <a:ln/>
        </p:spPr>
        <p:txBody>
          <a:bodyPr wrap="square" lIns="0" tIns="0" rIns="0" bIns="0" rtlCol="0" anchor="ctr"/>
          <a:lstStyle/>
          <a:p>
            <a:pPr marL="0" indent="0">
              <a:lnSpc>
                <a:spcPct val="108000"/>
              </a:lnSpc>
              <a:buNone/>
            </a:pPr>
            <a:r>
              <a:rPr lang="en-US" sz="1150" dirty="0">
                <a:solidFill>
                  <a:srgbClr val="1B2A4A"/>
                </a:solidFill>
                <a:latin typeface="Calibri" pitchFamily="34" charset="0"/>
                <a:ea typeface="Calibri" pitchFamily="34" charset="-122"/>
                <a:cs typeface="Calibri" pitchFamily="34" charset="-120"/>
              </a:rPr>
              <a:t>Sum counts across the system prompt, history, and new message for the total.</a:t>
            </a:r>
            <a:endParaRPr lang="en-US" sz="1150" dirty="0"/>
          </a:p>
        </p:txBody>
      </p:sp>
      <p:sp>
        <p:nvSpPr>
          <p:cNvPr id="19" name="Shape 17"/>
          <p:cNvSpPr/>
          <p:nvPr/>
        </p:nvSpPr>
        <p:spPr>
          <a:xfrm>
            <a:off x="548640" y="5468112"/>
            <a:ext cx="6035040" cy="822960"/>
          </a:xfrm>
          <a:prstGeom prst="roundRect">
            <a:avLst>
              <a:gd name="adj" fmla="val 8889"/>
            </a:avLst>
          </a:prstGeom>
          <a:solidFill>
            <a:srgbClr val="FDF2E3"/>
          </a:solidFill>
          <a:ln/>
        </p:spPr>
      </p:sp>
      <p:sp>
        <p:nvSpPr>
          <p:cNvPr id="20" name="Text 18"/>
          <p:cNvSpPr txBox="1"/>
          <p:nvPr/>
        </p:nvSpPr>
        <p:spPr>
          <a:xfrm>
            <a:off x="731520" y="5468112"/>
            <a:ext cx="5669280" cy="822960"/>
          </a:xfrm>
          <a:prstGeom prst="rect">
            <a:avLst/>
          </a:prstGeom>
          <a:noFill/>
          <a:ln/>
        </p:spPr>
        <p:txBody>
          <a:bodyPr wrap="square" lIns="0" tIns="0" rIns="0" bIns="0" rtlCol="0" anchor="ctr"/>
          <a:lstStyle/>
          <a:p>
            <a:pPr marL="0" indent="0">
              <a:lnSpc>
                <a:spcPct val="112000"/>
              </a:lnSpc>
              <a:buNone/>
            </a:pPr>
            <a:r>
              <a:rPr lang="en-US" sz="1100" b="1" dirty="0">
                <a:solidFill>
                  <a:srgbClr val="9A6A22"/>
                </a:solidFill>
                <a:latin typeface="Calibri" pitchFamily="34" charset="0"/>
                <a:ea typeface="Calibri" pitchFamily="34" charset="-122"/>
                <a:cs typeface="Calibri" pitchFamily="34" charset="-120"/>
              </a:rPr>
              <a:t>Trade-off: </a:t>
            </a:r>
            <a:r>
              <a:rPr lang="en-US" sz="1100" dirty="0">
                <a:solidFill>
                  <a:srgbClr val="9A6A22"/>
                </a:solidFill>
                <a:latin typeface="Calibri" pitchFamily="34" charset="0"/>
                <a:ea typeface="Calibri" pitchFamily="34" charset="-122"/>
                <a:cs typeface="Calibri" pitchFamily="34" charset="-120"/>
              </a:rPr>
              <a:t>counts are model/encoding-specific — a string tokenized for one model's encoding won't exactly match another model's count.</a:t>
            </a:r>
            <a:endParaRPr lang="en-US" sz="1100" dirty="0"/>
          </a:p>
        </p:txBody>
      </p:sp>
      <p:sp>
        <p:nvSpPr>
          <p:cNvPr id="21" name="Shape 19"/>
          <p:cNvSpPr/>
          <p:nvPr/>
        </p:nvSpPr>
        <p:spPr>
          <a:xfrm>
            <a:off x="6949440" y="1874520"/>
            <a:ext cx="4663440" cy="4343400"/>
          </a:xfrm>
          <a:prstGeom prst="roundRect">
            <a:avLst>
              <a:gd name="adj" fmla="val 2526"/>
            </a:avLst>
          </a:prstGeom>
          <a:solidFill>
            <a:srgbClr val="1B2A4A"/>
          </a:solidFill>
          <a:ln/>
        </p:spPr>
      </p:sp>
      <p:sp>
        <p:nvSpPr>
          <p:cNvPr id="22" name="Shape 20"/>
          <p:cNvSpPr/>
          <p:nvPr/>
        </p:nvSpPr>
        <p:spPr>
          <a:xfrm>
            <a:off x="7269480" y="2194560"/>
            <a:ext cx="777240" cy="777240"/>
          </a:xfrm>
          <a:prstGeom prst="ellipse">
            <a:avLst/>
          </a:prstGeom>
          <a:solidFill>
            <a:srgbClr val="F2A65A"/>
          </a:solidFill>
          <a:ln/>
        </p:spPr>
      </p:sp>
      <p:pic>
        <p:nvPicPr>
          <p:cNvPr id="23" name="Image 0" descr="/home/claude/icons/calculator_1B2A4A.png"/>
          <p:cNvPicPr>
            <a:picLocks noChangeAspect="1"/>
          </p:cNvPicPr>
          <p:nvPr/>
        </p:nvPicPr>
        <p:blipFill>
          <a:blip r:embed="rId3"/>
          <a:stretch>
            <a:fillRect/>
          </a:stretch>
        </p:blipFill>
        <p:spPr>
          <a:xfrm>
            <a:off x="7444359" y="2369439"/>
            <a:ext cx="427482" cy="427482"/>
          </a:xfrm>
          <a:prstGeom prst="rect">
            <a:avLst/>
          </a:prstGeom>
        </p:spPr>
      </p:pic>
      <p:sp>
        <p:nvSpPr>
          <p:cNvPr id="24" name="Text 21"/>
          <p:cNvSpPr txBox="1"/>
          <p:nvPr/>
        </p:nvSpPr>
        <p:spPr>
          <a:xfrm>
            <a:off x="8229600" y="2286000"/>
            <a:ext cx="310896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a:t>
            </a:r>
            <a:endParaRPr lang="en-US" sz="1100" dirty="0"/>
          </a:p>
        </p:txBody>
      </p:sp>
      <p:sp>
        <p:nvSpPr>
          <p:cNvPr id="25" name="Text 22"/>
          <p:cNvSpPr txBox="1"/>
          <p:nvPr/>
        </p:nvSpPr>
        <p:spPr>
          <a:xfrm>
            <a:off x="8229600" y="2514600"/>
            <a:ext cx="31089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Counting tokens in code</a:t>
            </a:r>
            <a:endParaRPr lang="en-US" sz="1550" dirty="0"/>
          </a:p>
        </p:txBody>
      </p:sp>
      <p:sp>
        <p:nvSpPr>
          <p:cNvPr id="26" name="Shape 23"/>
          <p:cNvSpPr/>
          <p:nvPr/>
        </p:nvSpPr>
        <p:spPr>
          <a:xfrm>
            <a:off x="7269480" y="3246120"/>
            <a:ext cx="4023360" cy="2468880"/>
          </a:xfrm>
          <a:prstGeom prst="roundRect">
            <a:avLst>
              <a:gd name="adj" fmla="val 2963"/>
            </a:avLst>
          </a:prstGeom>
          <a:solidFill>
            <a:srgbClr val="121D33"/>
          </a:solidFill>
          <a:ln/>
        </p:spPr>
      </p:sp>
      <p:sp>
        <p:nvSpPr>
          <p:cNvPr id="27" name="Text 24"/>
          <p:cNvSpPr txBox="1"/>
          <p:nvPr/>
        </p:nvSpPr>
        <p:spPr>
          <a:xfrm>
            <a:off x="7452360" y="3410712"/>
            <a:ext cx="3657600" cy="2148840"/>
          </a:xfrm>
          <a:prstGeom prst="rect">
            <a:avLst/>
          </a:prstGeom>
          <a:noFill/>
          <a:ln/>
        </p:spPr>
        <p:txBody>
          <a:bodyPr wrap="square" lIns="0" tIns="0" rIns="0" bIns="0" rtlCol="0" anchor="t"/>
          <a:lstStyle/>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import tiktoken</a:t>
            </a:r>
            <a:endParaRPr lang="en-US" sz="1100" dirty="0"/>
          </a:p>
          <a:p>
            <a:pPr marL="0" indent="0">
              <a:lnSpc>
                <a:spcPct val="128000"/>
              </a:lnSpc>
              <a:buNone/>
            </a:pP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enc = tiktoken.encoding_for_model("gpt-4")</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tokens = enc.encode(</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  "Hello, how many tokens is this?"</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a:t>
            </a:r>
            <a:endParaRPr lang="en-US" sz="1100" dirty="0"/>
          </a:p>
          <a:p>
            <a:pPr marL="0" indent="0">
              <a:lnSpc>
                <a:spcPct val="128000"/>
              </a:lnSpc>
              <a:buNone/>
            </a:pPr>
            <a:r>
              <a:rPr lang="en-US" sz="1100" i="1" dirty="0">
                <a:solidFill>
                  <a:srgbClr val="E8EDF5"/>
                </a:solidFill>
                <a:latin typeface="Calibri" pitchFamily="34" charset="0"/>
                <a:ea typeface="Calibri" pitchFamily="34" charset="-122"/>
                <a:cs typeface="Calibri" pitchFamily="34" charset="-120"/>
              </a:rPr>
              <a:t>len(tokens)  →  9</a:t>
            </a:r>
            <a:endParaRPr lang="en-US" sz="1100" dirty="0"/>
          </a:p>
        </p:txBody>
      </p:sp>
      <p:sp>
        <p:nvSpPr>
          <p:cNvPr id="28" name="Text 25"/>
          <p:cNvSpPr txBox="1"/>
          <p:nvPr/>
        </p:nvSpPr>
        <p:spPr>
          <a:xfrm>
            <a:off x="7269480" y="5669280"/>
            <a:ext cx="4023360" cy="457200"/>
          </a:xfrm>
          <a:prstGeom prst="rect">
            <a:avLst/>
          </a:prstGeom>
          <a:noFill/>
          <a:ln/>
        </p:spPr>
        <p:txBody>
          <a:bodyPr wrap="square" lIns="0" tIns="0" rIns="0" bIns="0" rtlCol="0" anchor="ctr"/>
          <a:lstStyle/>
          <a:p>
            <a:pPr marL="0" indent="0">
              <a:lnSpc>
                <a:spcPct val="110000"/>
              </a:lnSpc>
              <a:buNone/>
            </a:pPr>
            <a:r>
              <a:rPr lang="en-US" sz="1050" b="1" dirty="0">
                <a:solidFill>
                  <a:srgbClr val="F2A65A"/>
                </a:solidFill>
                <a:latin typeface="Calibri" pitchFamily="34" charset="0"/>
                <a:ea typeface="Calibri" pitchFamily="34" charset="-122"/>
                <a:cs typeface="Calibri" pitchFamily="34" charset="-120"/>
              </a:rPr>
              <a:t>Best for: </a:t>
            </a:r>
            <a:r>
              <a:rPr lang="en-US" sz="1050" dirty="0">
                <a:solidFill>
                  <a:srgbClr val="E8EDF5"/>
                </a:solidFill>
                <a:latin typeface="Calibri" pitchFamily="34" charset="0"/>
                <a:ea typeface="Calibri" pitchFamily="34" charset="-122"/>
                <a:cs typeface="Calibri" pitchFamily="34" charset="-120"/>
              </a:rPr>
              <a:t>pre-flight cost estimation, enforcing context budgets, and deciding when a summarization or windowing strategy needs to kick in.</a:t>
            </a:r>
            <a:endParaRPr lang="en-US" sz="1050" dirty="0"/>
          </a:p>
        </p:txBody>
      </p:sp>
      <p:sp>
        <p:nvSpPr>
          <p:cNvPr id="29" name="Text 26"/>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5B6B85"/>
                </a:solidFill>
                <a:latin typeface="Calibri" pitchFamily="34" charset="0"/>
                <a:ea typeface="Calibri" pitchFamily="34" charset="-122"/>
                <a:cs typeface="Calibri" pitchFamily="34" charset="-120"/>
              </a:rPr>
              <a:t>Context Engineering</a:t>
            </a:r>
            <a:endParaRPr lang="en-US" sz="900" dirty="0"/>
          </a:p>
        </p:txBody>
      </p:sp>
      <p:sp>
        <p:nvSpPr>
          <p:cNvPr id="30" name="Text 27"/>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875520" y="4389120"/>
            <a:ext cx="4114800" cy="4114800"/>
          </a:xfrm>
          <a:prstGeom prst="ellipse">
            <a:avLst/>
          </a:prstGeom>
          <a:solidFill>
            <a:srgbClr val="121D33"/>
          </a:solidFill>
          <a:ln/>
        </p:spPr>
      </p:sp>
      <p:sp>
        <p:nvSpPr>
          <p:cNvPr id="3" name="Text 1"/>
          <p:cNvSpPr txBox="1"/>
          <p:nvPr/>
        </p:nvSpPr>
        <p:spPr>
          <a:xfrm>
            <a:off x="822960" y="685800"/>
            <a:ext cx="5486400" cy="365760"/>
          </a:xfrm>
          <a:prstGeom prst="rect">
            <a:avLst/>
          </a:prstGeom>
          <a:noFill/>
          <a:ln/>
        </p:spPr>
        <p:txBody>
          <a:bodyPr wrap="square" lIns="0" tIns="0" rIns="0" bIns="0"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KEY TAKEAWAYS</a:t>
            </a:r>
            <a:endParaRPr lang="en-US" sz="1300" dirty="0"/>
          </a:p>
        </p:txBody>
      </p:sp>
      <p:sp>
        <p:nvSpPr>
          <p:cNvPr id="4" name="Text 2"/>
          <p:cNvSpPr txBox="1"/>
          <p:nvPr/>
        </p:nvSpPr>
        <p:spPr>
          <a:xfrm>
            <a:off x="777240" y="105156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Three Things to Remember</a:t>
            </a:r>
            <a:endParaRPr lang="en-US" sz="3000" dirty="0"/>
          </a:p>
        </p:txBody>
      </p:sp>
      <p:sp>
        <p:nvSpPr>
          <p:cNvPr id="5" name="Shape 3"/>
          <p:cNvSpPr/>
          <p:nvPr/>
        </p:nvSpPr>
        <p:spPr>
          <a:xfrm>
            <a:off x="822960" y="2148840"/>
            <a:ext cx="3319272" cy="3566160"/>
          </a:xfrm>
          <a:prstGeom prst="roundRect">
            <a:avLst>
              <a:gd name="adj" fmla="val 2755"/>
            </a:avLst>
          </a:prstGeom>
          <a:solidFill>
            <a:srgbClr val="121D33"/>
          </a:solidFill>
          <a:ln/>
        </p:spPr>
      </p:sp>
      <p:sp>
        <p:nvSpPr>
          <p:cNvPr id="6" name="Shape 4"/>
          <p:cNvSpPr/>
          <p:nvPr/>
        </p:nvSpPr>
        <p:spPr>
          <a:xfrm>
            <a:off x="1097280" y="2423160"/>
            <a:ext cx="685800" cy="685800"/>
          </a:xfrm>
          <a:prstGeom prst="ellipse">
            <a:avLst/>
          </a:prstGeom>
          <a:solidFill>
            <a:srgbClr val="F2A65A"/>
          </a:solidFill>
          <a:ln/>
        </p:spPr>
      </p:sp>
      <p:pic>
        <p:nvPicPr>
          <p:cNvPr id="7" name="Image 0" descr="/home/claude/icons/coins_1B2A4A.png"/>
          <p:cNvPicPr>
            <a:picLocks noChangeAspect="1"/>
          </p:cNvPicPr>
          <p:nvPr/>
        </p:nvPicPr>
        <p:blipFill>
          <a:blip r:embed="rId3"/>
          <a:stretch>
            <a:fillRect/>
          </a:stretch>
        </p:blipFill>
        <p:spPr>
          <a:xfrm>
            <a:off x="1251585" y="2577465"/>
            <a:ext cx="377190" cy="377190"/>
          </a:xfrm>
          <a:prstGeom prst="rect">
            <a:avLst/>
          </a:prstGeom>
        </p:spPr>
      </p:pic>
      <p:sp>
        <p:nvSpPr>
          <p:cNvPr id="8" name="Text 5"/>
          <p:cNvSpPr txBox="1"/>
          <p:nvPr/>
        </p:nvSpPr>
        <p:spPr>
          <a:xfrm>
            <a:off x="1078992" y="3291840"/>
            <a:ext cx="280720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mbria" pitchFamily="34" charset="0"/>
                <a:ea typeface="Cambria" pitchFamily="34" charset="-122"/>
                <a:cs typeface="Cambria" pitchFamily="34" charset="-120"/>
              </a:rPr>
              <a:t>Context is a shared, shrinking budget</a:t>
            </a:r>
            <a:endParaRPr lang="en-US" sz="1500" dirty="0"/>
          </a:p>
        </p:txBody>
      </p:sp>
      <p:sp>
        <p:nvSpPr>
          <p:cNvPr id="9" name="Text 6"/>
          <p:cNvSpPr txBox="1"/>
          <p:nvPr/>
        </p:nvSpPr>
        <p:spPr>
          <a:xfrm>
            <a:off x="1078992" y="4023360"/>
            <a:ext cx="2807208" cy="1554480"/>
          </a:xfrm>
          <a:prstGeom prst="rect">
            <a:avLst/>
          </a:prstGeom>
          <a:noFill/>
          <a:ln/>
        </p:spPr>
        <p:txBody>
          <a:bodyPr wrap="square" lIns="0" tIns="0" rIns="0" bIns="0" rtlCol="0" anchor="ctr"/>
          <a:lstStyle/>
          <a:p>
            <a:pPr marL="0" indent="0">
              <a:lnSpc>
                <a:spcPct val="125000"/>
              </a:lnSpc>
              <a:buNone/>
            </a:pPr>
            <a:r>
              <a:rPr lang="en-US" sz="1150" dirty="0">
                <a:solidFill>
                  <a:srgbClr val="E8EDF5"/>
                </a:solidFill>
                <a:latin typeface="Calibri" pitchFamily="34" charset="0"/>
                <a:ea typeface="Calibri" pitchFamily="34" charset="-122"/>
                <a:cs typeface="Calibri" pitchFamily="34" charset="-120"/>
              </a:rPr>
              <a:t>System prompt, history, retrieved text, and the response all draw from one token limit — spend it deliberately.</a:t>
            </a:r>
            <a:endParaRPr lang="en-US" sz="1150" dirty="0"/>
          </a:p>
        </p:txBody>
      </p:sp>
      <p:sp>
        <p:nvSpPr>
          <p:cNvPr id="10" name="Shape 7"/>
          <p:cNvSpPr/>
          <p:nvPr/>
        </p:nvSpPr>
        <p:spPr>
          <a:xfrm>
            <a:off x="4325112" y="2148840"/>
            <a:ext cx="3319272" cy="3566160"/>
          </a:xfrm>
          <a:prstGeom prst="roundRect">
            <a:avLst>
              <a:gd name="adj" fmla="val 2755"/>
            </a:avLst>
          </a:prstGeom>
          <a:solidFill>
            <a:srgbClr val="121D33"/>
          </a:solidFill>
          <a:ln/>
        </p:spPr>
      </p:sp>
      <p:sp>
        <p:nvSpPr>
          <p:cNvPr id="11" name="Shape 8"/>
          <p:cNvSpPr/>
          <p:nvPr/>
        </p:nvSpPr>
        <p:spPr>
          <a:xfrm>
            <a:off x="4599432" y="2423160"/>
            <a:ext cx="685800" cy="685800"/>
          </a:xfrm>
          <a:prstGeom prst="ellipse">
            <a:avLst/>
          </a:prstGeom>
          <a:solidFill>
            <a:srgbClr val="F2A65A"/>
          </a:solidFill>
          <a:ln/>
        </p:spPr>
      </p:sp>
      <p:pic>
        <p:nvPicPr>
          <p:cNvPr id="12" name="Image 1" descr="/home/claude/icons/cut_1B2A4A.png"/>
          <p:cNvPicPr>
            <a:picLocks noChangeAspect="1"/>
          </p:cNvPicPr>
          <p:nvPr/>
        </p:nvPicPr>
        <p:blipFill>
          <a:blip r:embed="rId4"/>
          <a:stretch>
            <a:fillRect/>
          </a:stretch>
        </p:blipFill>
        <p:spPr>
          <a:xfrm>
            <a:off x="4753737" y="2577465"/>
            <a:ext cx="377190" cy="377190"/>
          </a:xfrm>
          <a:prstGeom prst="rect">
            <a:avLst/>
          </a:prstGeom>
        </p:spPr>
      </p:pic>
      <p:sp>
        <p:nvSpPr>
          <p:cNvPr id="13" name="Text 9"/>
          <p:cNvSpPr txBox="1"/>
          <p:nvPr/>
        </p:nvSpPr>
        <p:spPr>
          <a:xfrm>
            <a:off x="4581144" y="3291840"/>
            <a:ext cx="280720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mbria" pitchFamily="34" charset="0"/>
                <a:ea typeface="Cambria" pitchFamily="34" charset="-122"/>
                <a:cs typeface="Cambria" pitchFamily="34" charset="-120"/>
              </a:rPr>
              <a:t>Chunk and retrieve, don't just append</a:t>
            </a:r>
            <a:endParaRPr lang="en-US" sz="1500" dirty="0"/>
          </a:p>
        </p:txBody>
      </p:sp>
      <p:sp>
        <p:nvSpPr>
          <p:cNvPr id="14" name="Text 10"/>
          <p:cNvSpPr txBox="1"/>
          <p:nvPr/>
        </p:nvSpPr>
        <p:spPr>
          <a:xfrm>
            <a:off x="4581144" y="4023360"/>
            <a:ext cx="2807208" cy="1554480"/>
          </a:xfrm>
          <a:prstGeom prst="rect">
            <a:avLst/>
          </a:prstGeom>
          <a:noFill/>
          <a:ln/>
        </p:spPr>
        <p:txBody>
          <a:bodyPr wrap="square" lIns="0" tIns="0" rIns="0" bIns="0" rtlCol="0" anchor="ctr"/>
          <a:lstStyle/>
          <a:p>
            <a:pPr marL="0" indent="0">
              <a:lnSpc>
                <a:spcPct val="125000"/>
              </a:lnSpc>
              <a:buNone/>
            </a:pPr>
            <a:r>
              <a:rPr lang="en-US" sz="1150" dirty="0">
                <a:solidFill>
                  <a:srgbClr val="E8EDF5"/>
                </a:solidFill>
                <a:latin typeface="Calibri" pitchFamily="34" charset="0"/>
                <a:ea typeface="Calibri" pitchFamily="34" charset="-122"/>
                <a:cs typeface="Calibri" pitchFamily="34" charset="-120"/>
              </a:rPr>
              <a:t>Recursive and semantic chunking plus retrieval beat stuffing an entire knowledge base into the prompt.</a:t>
            </a:r>
            <a:endParaRPr lang="en-US" sz="1150" dirty="0"/>
          </a:p>
        </p:txBody>
      </p:sp>
      <p:sp>
        <p:nvSpPr>
          <p:cNvPr id="15" name="Shape 11"/>
          <p:cNvSpPr/>
          <p:nvPr/>
        </p:nvSpPr>
        <p:spPr>
          <a:xfrm>
            <a:off x="7827264" y="2148840"/>
            <a:ext cx="3319272" cy="3566160"/>
          </a:xfrm>
          <a:prstGeom prst="roundRect">
            <a:avLst>
              <a:gd name="adj" fmla="val 2755"/>
            </a:avLst>
          </a:prstGeom>
          <a:solidFill>
            <a:srgbClr val="121D33"/>
          </a:solidFill>
          <a:ln/>
        </p:spPr>
      </p:sp>
      <p:sp>
        <p:nvSpPr>
          <p:cNvPr id="16" name="Shape 12"/>
          <p:cNvSpPr/>
          <p:nvPr/>
        </p:nvSpPr>
        <p:spPr>
          <a:xfrm>
            <a:off x="8101584" y="2423160"/>
            <a:ext cx="685800" cy="685800"/>
          </a:xfrm>
          <a:prstGeom prst="ellipse">
            <a:avLst/>
          </a:prstGeom>
          <a:solidFill>
            <a:srgbClr val="F2A65A"/>
          </a:solidFill>
          <a:ln/>
        </p:spPr>
      </p:sp>
      <p:pic>
        <p:nvPicPr>
          <p:cNvPr id="17" name="Image 2" descr="/home/claude/icons/save_1B2A4A.png"/>
          <p:cNvPicPr>
            <a:picLocks noChangeAspect="1"/>
          </p:cNvPicPr>
          <p:nvPr/>
        </p:nvPicPr>
        <p:blipFill>
          <a:blip r:embed="rId5"/>
          <a:stretch>
            <a:fillRect/>
          </a:stretch>
        </p:blipFill>
        <p:spPr>
          <a:xfrm>
            <a:off x="8255889" y="2577465"/>
            <a:ext cx="377190" cy="377190"/>
          </a:xfrm>
          <a:prstGeom prst="rect">
            <a:avLst/>
          </a:prstGeom>
        </p:spPr>
      </p:pic>
      <p:sp>
        <p:nvSpPr>
          <p:cNvPr id="18" name="Text 13"/>
          <p:cNvSpPr txBox="1"/>
          <p:nvPr/>
        </p:nvSpPr>
        <p:spPr>
          <a:xfrm>
            <a:off x="8083296" y="3291840"/>
            <a:ext cx="280720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mbria" pitchFamily="34" charset="0"/>
                <a:ea typeface="Cambria" pitchFamily="34" charset="-122"/>
                <a:cs typeface="Cambria" pitchFamily="34" charset="-120"/>
              </a:rPr>
              <a:t>Memory has to survive restarts and sessions</a:t>
            </a:r>
            <a:endParaRPr lang="en-US" sz="1500" dirty="0"/>
          </a:p>
        </p:txBody>
      </p:sp>
      <p:sp>
        <p:nvSpPr>
          <p:cNvPr id="19" name="Text 14"/>
          <p:cNvSpPr txBox="1"/>
          <p:nvPr/>
        </p:nvSpPr>
        <p:spPr>
          <a:xfrm>
            <a:off x="8083296" y="4023360"/>
            <a:ext cx="2807208" cy="1554480"/>
          </a:xfrm>
          <a:prstGeom prst="rect">
            <a:avLst/>
          </a:prstGeom>
          <a:noFill/>
          <a:ln/>
        </p:spPr>
        <p:txBody>
          <a:bodyPr wrap="square" lIns="0" tIns="0" rIns="0" bIns="0" rtlCol="0" anchor="ctr"/>
          <a:lstStyle/>
          <a:p>
            <a:pPr marL="0" indent="0">
              <a:lnSpc>
                <a:spcPct val="125000"/>
              </a:lnSpc>
              <a:buNone/>
            </a:pPr>
            <a:r>
              <a:rPr lang="en-US" sz="1150" dirty="0">
                <a:solidFill>
                  <a:srgbClr val="E8EDF5"/>
                </a:solidFill>
                <a:latin typeface="Calibri" pitchFamily="34" charset="0"/>
                <a:ea typeface="Calibri" pitchFamily="34" charset="-122"/>
                <a:cs typeface="Calibri" pitchFamily="34" charset="-120"/>
              </a:rPr>
              <a:t>Persist it outside process memory, and reload it — usually as a summary — when a user returns.</a:t>
            </a:r>
            <a:endParaRPr lang="en-US" sz="1150" dirty="0"/>
          </a:p>
        </p:txBody>
      </p:sp>
      <p:sp>
        <p:nvSpPr>
          <p:cNvPr id="20" name="Text 15"/>
          <p:cNvSpPr txBox="1"/>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8896B0"/>
                </a:solidFill>
                <a:latin typeface="Calibri" pitchFamily="34" charset="0"/>
                <a:ea typeface="Calibri" pitchFamily="34" charset="-122"/>
                <a:cs typeface="Calibri" pitchFamily="34" charset="-120"/>
              </a:rPr>
              <a:t>Context Engineering</a:t>
            </a:r>
            <a:endParaRPr lang="en-US" sz="900" dirty="0"/>
          </a:p>
        </p:txBody>
      </p:sp>
      <p:sp>
        <p:nvSpPr>
          <p:cNvPr id="21" name="Text 16"/>
          <p:cNvSpPr txBox="1"/>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8896B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3185</Words>
  <Application>Microsoft Office PowerPoint</Application>
  <PresentationFormat>Widescreen</PresentationFormat>
  <Paragraphs>373</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Atul Kahate</cp:lastModifiedBy>
  <cp:revision>3</cp:revision>
  <dcterms:created xsi:type="dcterms:W3CDTF">2026-09-13T10:01:12Z</dcterms:created>
  <dcterms:modified xsi:type="dcterms:W3CDTF">2026-09-22T09:39:20Z</dcterms:modified>
</cp:coreProperties>
</file>