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511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371600"/>
            <a:ext cx="3840480" cy="3840480"/>
          </a:xfrm>
          <a:prstGeom prst="ellipse">
            <a:avLst/>
          </a:prstGeom>
          <a:solidFill>
            <a:srgbClr val="24335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474720"/>
            <a:ext cx="2560320" cy="2560320"/>
          </a:xfrm>
          <a:prstGeom prst="ellipse">
            <a:avLst/>
          </a:prstGeom>
          <a:solidFill>
            <a:srgbClr val="222F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594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824A"/>
                </a:solidFill>
              </a:rPr>
              <a:t>MODULE 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Structured Outputs,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Function Calling,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and Tool Use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D8E8"/>
                </a:solidFill>
              </a:rPr>
              <a:t>Atul Kahate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0740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824A"/>
                </a:solidFill>
              </a:rPr>
              <a:t>https://www.linkedin.com/in/atulkahate/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</a:rPr>
              <a:t>What We'll Cover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A9A"/>
                </a:solidFill>
              </a:rPr>
              <a:t>Four topics, moving from structured output basics to safe, robust tool-enabled systems.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904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1. Structured Outputs &amp; JSON Mode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JSON mode, response schemas, and extracting reliable structured data from model output.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919472" y="14904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947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2. Pydantic Validation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Validating and parsing model responses with Pydantic models in LangChain.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" y="31821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191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3. Function Calling &amp; Tool Use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Defining tools, routing user intent, and building tool-enabled LangChain chains.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4114800" cy="15087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919472" y="318211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19472" y="31912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</a:rPr>
              <a:t>4. Safe Design &amp; Error Handling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956048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Safe tool schemas, permissions, and handling malformed or partial model output.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STRUCTURED OUTPUTS &amp; JSON MODE  ·  1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JSON Mode and Structured Outputs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Telling the model to return valid JSON instead of free-form prose.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JSON MODE WORKS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Enable JSON mode on the model call.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Pass response_format={type:"json_object"} (OpenAI) or use with_structured_output() in LangChain.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Describe the expected shape in the prompt.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Without a schema, the model produces valid JSON but with arbitrary keys — tell it exactly what fields you need.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model guarantees parseable output.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JSON mode hard-constrains the decoder: output is always valid JSON, never truncated mid-object.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Parse and use the result directly.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json.loads() or Pydantic model_validate() converts the string to a Python object you can work with.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JSON mode guarantees valid JSON, not correct JSON — the model can still produce the wrong keys or wrong types.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Always pair JSON mode with a schema or Pydantic validation to catch semantic errors, not just syntax errors.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828989"/>
            <a:ext cx="3337560" cy="4090483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13832" y="909677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13832" y="886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{}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10216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3093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 simple JSON mode call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2029968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900" dirty="0">
                <a:solidFill>
                  <a:schemeClr val="bg1"/>
                </a:solidFill>
              </a:rPr>
              <a:t>RAW_TICKETS = [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"Hi, I'm Sarah. My invoice for </a:t>
            </a:r>
            <a:r>
              <a:rPr lang="en-GB" sz="900" dirty="0" err="1">
                <a:solidFill>
                  <a:schemeClr val="bg1"/>
                </a:solidFill>
              </a:rPr>
              <a:t>CloudSync</a:t>
            </a:r>
            <a:r>
              <a:rPr lang="en-GB" sz="900" dirty="0">
                <a:solidFill>
                  <a:schemeClr val="bg1"/>
                </a:solidFill>
              </a:rPr>
              <a:t> Pro is wrong - I was charged twice this month.",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"This is Miguel. </a:t>
            </a:r>
            <a:r>
              <a:rPr lang="en-GB" sz="900" dirty="0" err="1">
                <a:solidFill>
                  <a:schemeClr val="bg1"/>
                </a:solidFill>
              </a:rPr>
              <a:t>CloudSync</a:t>
            </a:r>
            <a:r>
              <a:rPr lang="en-GB" sz="900" dirty="0">
                <a:solidFill>
                  <a:schemeClr val="bg1"/>
                </a:solidFill>
              </a:rPr>
              <a:t> keeps failing to sync files over 2GB, very urgent, please help fast.",</a:t>
            </a:r>
          </a:p>
          <a:p>
            <a:r>
              <a:rPr lang="en-GB" sz="900" dirty="0">
                <a:solidFill>
                  <a:schemeClr val="bg1"/>
                </a:solidFill>
              </a:rPr>
              <a:t>]</a:t>
            </a:r>
          </a:p>
          <a:p>
            <a:br>
              <a:rPr lang="en-GB" sz="900" dirty="0">
                <a:solidFill>
                  <a:schemeClr val="bg1"/>
                </a:solidFill>
              </a:rPr>
            </a:br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PROMPT_TEMPLATE = (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"Turn this customer support message into a JSON object with whatever "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"fields you think are useful:\n\n{message}"</a:t>
            </a:r>
          </a:p>
          <a:p>
            <a:r>
              <a:rPr lang="en-GB" sz="900" dirty="0">
                <a:solidFill>
                  <a:schemeClr val="bg1"/>
                </a:solidFill>
              </a:rPr>
              <a:t>)</a:t>
            </a:r>
          </a:p>
          <a:p>
            <a:br>
              <a:rPr lang="en-GB" sz="900" dirty="0">
                <a:solidFill>
                  <a:schemeClr val="bg1"/>
                </a:solidFill>
              </a:rPr>
            </a:br>
            <a:br>
              <a:rPr lang="en-GB" sz="900" dirty="0">
                <a:solidFill>
                  <a:schemeClr val="bg1"/>
                </a:solidFill>
              </a:rPr>
            </a:br>
            <a:endParaRPr lang="en-GB" sz="900" dirty="0">
              <a:solidFill>
                <a:schemeClr val="bg1"/>
              </a:solidFill>
            </a:endParaRPr>
          </a:p>
          <a:p>
            <a:r>
              <a:rPr lang="en-GB" sz="900" dirty="0">
                <a:solidFill>
                  <a:schemeClr val="bg1"/>
                </a:solidFill>
              </a:rPr>
              <a:t>def </a:t>
            </a:r>
            <a:r>
              <a:rPr lang="en-GB" sz="900" dirty="0" err="1">
                <a:solidFill>
                  <a:schemeClr val="bg1"/>
                </a:solidFill>
              </a:rPr>
              <a:t>to_json</a:t>
            </a:r>
            <a:r>
              <a:rPr lang="en-GB" sz="900" dirty="0">
                <a:solidFill>
                  <a:schemeClr val="bg1"/>
                </a:solidFill>
              </a:rPr>
              <a:t>(client, message):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response = </a:t>
            </a:r>
            <a:r>
              <a:rPr lang="en-GB" sz="900" dirty="0" err="1">
                <a:solidFill>
                  <a:schemeClr val="bg1"/>
                </a:solidFill>
              </a:rPr>
              <a:t>client.chat.completions.create</a:t>
            </a:r>
            <a:r>
              <a:rPr lang="en-GB" sz="900" dirty="0">
                <a:solidFill>
                  <a:schemeClr val="bg1"/>
                </a:solidFill>
              </a:rPr>
              <a:t>(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    model=MODEL,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    messages=[{"role": "user", "content": </a:t>
            </a:r>
            <a:r>
              <a:rPr lang="en-GB" sz="900" dirty="0" err="1">
                <a:solidFill>
                  <a:schemeClr val="bg1"/>
                </a:solidFill>
              </a:rPr>
              <a:t>PROMPT_TEMPLATE.format</a:t>
            </a:r>
            <a:r>
              <a:rPr lang="en-GB" sz="900" dirty="0">
                <a:solidFill>
                  <a:schemeClr val="bg1"/>
                </a:solidFill>
              </a:rPr>
              <a:t>(message=message)}],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    </a:t>
            </a:r>
            <a:r>
              <a:rPr lang="en-GB" sz="900" dirty="0" err="1">
                <a:solidFill>
                  <a:schemeClr val="bg1"/>
                </a:solidFill>
              </a:rPr>
              <a:t>response_format</a:t>
            </a:r>
            <a:r>
              <a:rPr lang="en-GB" sz="900" dirty="0">
                <a:solidFill>
                  <a:schemeClr val="bg1"/>
                </a:solidFill>
              </a:rPr>
              <a:t>={"type": "</a:t>
            </a:r>
            <a:r>
              <a:rPr lang="en-GB" sz="900" dirty="0" err="1">
                <a:solidFill>
                  <a:schemeClr val="bg1"/>
                </a:solidFill>
              </a:rPr>
              <a:t>json_object</a:t>
            </a:r>
            <a:r>
              <a:rPr lang="en-GB" sz="900" dirty="0">
                <a:solidFill>
                  <a:schemeClr val="bg1"/>
                </a:solidFill>
              </a:rPr>
              <a:t>"},</a:t>
            </a:r>
          </a:p>
          <a:p>
            <a:r>
              <a:rPr lang="en-GB" sz="900" dirty="0">
                <a:solidFill>
                  <a:schemeClr val="bg1"/>
                </a:solidFill>
              </a:rPr>
              <a:t>    )</a:t>
            </a:r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STRUCTURED OUTPUTS &amp; JSON MODE  ·  2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Response Schemas with LangChain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Binding a typed schema to the model so output is predictable by construction.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Define a Pydantic model as your schema.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Each field has a type and an optional description — the description is sent to the model as a hint.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Bind it to the model with with_structured_output().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LangChain converts your Pydantic class to a tool definition the model must respond through.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Invoke the chain — get back a typed object, not a string.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No JSON parsing, no .content access — the return value is already a validated Python instance.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Access fields directly as attributes.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result.name, result.score — autocomplete works, type errors surface at call time, not at runtime.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with_structured_output() requires the model to support function/tool calling — it doesn't work with every provider.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Prefer this over raw JSON mode whenever you control the schema — it eliminates an entire class of parsing errors.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Binding a schema in LangChain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BaseModel, Field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langchain_openai import ChatOpenAI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Review(BaseModel):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sentiment: str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description="positive/negative/neutral")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score: int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description="1-10 rating")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summary: str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llm = ChatOpenAI(model="gpt-4o")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structured = llm.with_structured_output(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Review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structured.invoke(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"The product was fantastic!"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print(result.sentiment) # "positive"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print(result.score)     # 9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STRUCTURED OUTPUTS &amp; JSON MODE  ·  3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Reliable Structured Data Extraction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Pulling specific fields from unstructured text — receipts, emails, support tickets — into typed objects.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Identify what fields you need to extract.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Name them clearly in a Pydantic model with descriptions that guide the model (e.g., "invoice total in USD").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Use a prompt that frames the text as input to parse.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"Extract the following fields from the text below:" gives the model clear intent.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Run with with_structured_output() for a typed result.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model fills in what it can find — missing fields return None or the default you set.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Handle missing fields explicitly in your code.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Use Optional[str] = None for fields that may not appear in every document.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Extraction accuracy drops on noisy or ambiguous text — long, clean documents extract far better than informal chat.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Use Field(description=...) generously: the description is what the model reads when deciding how to fill each field.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730752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867789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Extracting from a support ticket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Ticket(BaseModel):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customer_name: Optional[str] = None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issue_type: str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description="billing/technical/other")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urgency: str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description="low/medium/high")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product_mentioned: Optional[str]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extractor = llm.with_structured_output(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Ticket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text = 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Hi, I'm Sarah. My invoice for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CloudSync Pro is wrong — I was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charged twice this month.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"""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extractor.invoke(text)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customer_name = "Sarah"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issue_type    = "billing"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urgency       = "high"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PYDANTIC VALIDATION  ·  1 OF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Pydantic: Three Roles in an LLM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Pydantic is not just a validator — it plays three distinct roles when working with model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Schema Definition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Pydantic models double as your structured output schema. LangChain reads the field names, types, and descriptions to generate the tool definition it sends to the model — no separate JSON Schema to write.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3484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Output Validation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37560" y="26517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After the model responds, Pydantic validates the output against the schema — catching wrong types, missing required fields, and constraint violations before your application code ever sees the object.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1508760"/>
            <a:ext cx="640080" cy="64008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</a:rPr>
              <a:t>Runtime Safety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65176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Pydantic raises a ValidationError on bad output — giving you a structured exception to catch, inspect, and retry from, rather than a cryptic KeyError or AttributeError buried in application code.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PYDANTIC VALIDATION  ·  2 OF 2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Pydantic Validators and Constraint Patterns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Going beyond type checking — enforcing business rules on model output before it reaches your system.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KEY VALIDATOR PATTERNS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Field constraints: ge, le, min_length, max_length.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score: int = Field(ge=1, le=10) rejects any score outside 1–10 — the model can't sneak in a 0 or 100.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Literal types for enumerating allowed values.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status: Literal["open","closed","pending"] ensures the model picks from your list, not its own phrasing.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@field_validator for custom logic.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Validate that end_date &gt; start_date, that a URL is reachable, or that a code appears in a known registry.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model_validate() for manual parsing with error handling.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Wrap it in try/except ValidationError to catch failures, log them, and retry or fall back gracefully.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Strict validators can make the model retry more often — balance precision with practical tolerance for near-correct output.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Log ValidationError details: they tell you exactly which field failed and why, which helps you improve the prompt.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245996"/>
            <a:ext cx="3337560" cy="3838068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88788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Catching a bad model response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BaseModel,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Field, field_validator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ValidationError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Rating(BaseModel):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score: int = Field(ge=1, le=5)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category: Literal[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"product","service","shipping"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@field_validator("score")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must_be_integer(cls, v):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if not isinstance(v, int):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raise ValueError("score must be int")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v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 = Rating.model_validate(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{"score": 7, "category": "product"}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except ValidationError as 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print(e)  # score must be &lt;= 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FUNCTION CALLING &amp; TOOL USE  ·  1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How Function Calling Works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The model doesn't call functions — it decides when to call them, and your code does the actual execution.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THE FUNCTION CALLING LOOP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You describe available tools as JSON schemas.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Each tool has a name, description, and parameters schema — the model reads these to understand what it can 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model returns a tool_call instead of a text reply.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When the model decides a tool is needed, it responds with the tool name and the arguments it wants to pass.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Your code executes the tool and returns the result.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model has no access to your systems — you run the function and feed the output back as a ToolMessage.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model generates a final response using the tool result.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With the tool output in context, it produces a natural language answer or calls another tool.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The model only picks tools — execution, errors, and timeouts are entirely your code's responsibility.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The tool description is the most important part of the schema: a clear description is what makes the model choose the right tool.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353312"/>
            <a:ext cx="3337560" cy="356616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49047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9933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function calling loop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359152"/>
            <a:ext cx="301752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User: "What's the weather in Mumbai?"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→ Model sees: get_weather tool available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→ Model responds: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tool_call: get_weather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args: {city: "Mumbai"}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→ Your code executes: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result = get_weather("Mumbai")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→ {"temp": 32, "condition": "humid"}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→ You send ToolMessage back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→ Model replies: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"It's 32°C and humid in Mumbai."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The model never touched the API.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Your code ran it.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FUNCTION CALLING &amp; TOOL USE  ·  2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Defining Tools in LangChain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Three ways to expose a Python function as a tool the model can call.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THREE APPROACHES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@tool decorator: the simplest path.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Add @tool to any function — LangChain reads the docstring as the tool description and the type hints as the parameter schema.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BaseTool subclass: for tools with complex state or initialization.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Override _run() and _arun(); store clients, config, or dependencies as class attributes.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StructuredTool.from_function(): wraps an existing function with an explicit schema.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Useful when you can't modify the source function or need a description different from the docstring.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Bind tools to the model with llm.bind_tools([...]).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The bound model automatically formats tool_call responses — no manual schema injection needed.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Docstrings drive discovery — a vague docstring means the model won't know when to call the tool.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Start with @tool for prototyping; graduate to BaseTool when the tool needs async, state, or retry logic.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783771"/>
            <a:ext cx="3337560" cy="4359729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733288" y="851497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733288" y="84235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924649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17198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Three tool definitions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1583017"/>
            <a:ext cx="3017520" cy="3501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langchain_core.tools import tool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1. @tool decorator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@tool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get_stock_price(ticker: str) -&gt; str: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"""Return current price for 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stock ticker symbol like AAPL."""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fetch_price(ticker)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2. StructuredTool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langchain.tools import StructuredTool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BaseModel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SearchArgs(BaseModel):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query: str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max_results: int = 5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search = StructuredTool.from_function(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func=run_search,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name="web_search",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args_schema=SearchArgs,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description="Search the web"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3. Bind to 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llm_with_tools = llm.bind_tools(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[get_stock_price, search]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FUNCTION CALLING &amp; TOOL USE  ·  3 OF 3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Routing User Intent with Tools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37066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When multiple tools are available, the model routes the request to the right one based on the descriptions.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HOW ROUTING WORKS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Bind multiple tools with different purposes.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calculator tool, a database lookup tool, and a web search tool all coexist — the model picks based on the query.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The model reads all tool descriptions simultaneously.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It ranks the tools by relevance to the user's message — the best description wins, not the first in the list.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 tool agent loop handles multi-step routing.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AgentExecutor or LangGraph runs the model, captures tool_calls, executes them, and loops until the model stops calling tools.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Inspect tool_calls on the response to see what was chosen.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response.tool_calls returns a list — useful for logging, debugging, and testing that the right tool was selected.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Routing ambiguity rises with tool count — keep descriptions distinct and non-overlapping.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Log which tools get called and why: surprises here are almost always a description problem, not a model problem.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333756"/>
            <a:ext cx="3337560" cy="4585716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493259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32120" y="48411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566411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00150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Multi-tool routing in practice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1390122"/>
            <a:ext cx="3017520" cy="3419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langchain.agents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create_tool_calling_agent,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AgentExecutor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langchain_core.prompts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ChatPromptTemplate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prompt = ChatPromptTemplate.from_messages([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("system", "You are a helpful assistant."),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("human", "{input}"),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("placeholder", "{agent_scratchpad}"),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agent = create_tool_calling_agent(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llm, [calculator, db_lookup, search], prompt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executor = AgentExecutor(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agent=agent, tools=[...], verbose=True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executor.invoke(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{"input": "What was AAPL's closing price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on its best day this year?"}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Model calls: search → calculator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SAFE TOOL DESIGN &amp; ERROR HANDLING  ·  1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Designing Safe Tool Input Schemas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1" y="102412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A tool is only as safe as what it allows the model to pass in — the schema is your first line of defense.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SCHEMA SAFETY PRINCIPLES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Constrain inputs with enums and Literal types.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action: Literal["read","summarize"] prevents the model from inventing an action like "delete" or "admin".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Use min/max bounds on numeric inputs.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limit: int = Field(ge=1, le=100) stops the model from requesting 10,000 rows in a single call.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Validate strings with regex or allowed patterns.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ticker symbol should match [A-Z]{1,5} — reject anything that doesn't before it hits your API.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Never trust model-generated input without server-side checks.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Treat tool arguments the same way a web app treats user input: validate, sanitize, and authorize before executing.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Overly strict schemas make the model fail more often — calibrate constraints to what the tool actually needs.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The schema description tells the model what you expect; the validator enforces it. Both are required.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274321"/>
            <a:ext cx="3337560" cy="4645152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09844" y="420624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42625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50855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0015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 safe tool schema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1298448"/>
            <a:ext cx="3017520" cy="351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BaseModel, Field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typing import Literal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langchain_core.tools import tool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DBQueryArgs(BaseModel):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table: Literal[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"orders", "products", "customers"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]  # model can only pick these three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limit: int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ge=1, le=500,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description="rows to return, 1-500"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customer_id: Optional[str] = Field(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default=None,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pattern=r"^CUST-\d{6}$"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@tool(args_schema=DBQueryArgs)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query_database(table, limit,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   customer_id=None):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"""Query a specific database table."""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run_query(table, limit,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     customer_id)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SAFE TOOL DESIGN &amp; ERROR HANDLING  ·  2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Tool Permissions and Scope Limiting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The model should be able to call only the tools — and the operations within those tools — it actually needs.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PERMISSION DESIGN PATTERNS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Expose read-only tools by default; require explicit read-write.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search tool and a delete tool should not coexist unless the agent genuinely needs both. Remove tools from the list when not needed.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Scope database tools to a specific user's data.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Inject user_id or org_id at the tool layer, not as a model argument — the model shouldn't pick whose data to fetch.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Rate-limit and audit every tool call.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Log the tool name, arguments, and result for every invocation — both for debugging and for detecting model misbehavior.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Add a confirmation step for irreversible actions.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 "send email" or "delete record" tool should return a preview and require a separate confirm() call before executing.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Confirmation steps add a round-trip and interrupt flow — reserve them for genuinely irreversible operations.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The principle of least privilege applies to tools: give the model only the access it needs for the task at hand.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005840"/>
            <a:ext cx="3337560" cy="3913632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978408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96869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050991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1445785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Scoped tool injection pattern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1718503"/>
            <a:ext cx="3017520" cy="3091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make_tools_for_user(user_id: str):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user_id is captured in closure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the model never sees or sets it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@tool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get_my_orders(limit: int = 10):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"""Fetch the current user's orders."""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db.query(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"SELECT * FROM orders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WHERE user_id=? LIMIT ?",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[user_id, min(limit, 100)]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@tool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def send_support_ticket(message: str):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"""Submit a support request."""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preview = f"Will send: {message[:100]}"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# returns preview — confirm() needed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return {"preview": preview,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"status": "pending_confirm"}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[get_my_orders,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send_support_ticket]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SAFE TOOL DESIGN &amp; ERROR HANDLING  ·  3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Handling Malformed/Partial Model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44970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Even with JSON mode and Pydantic, models occasionally return output that doesn't match what you asked for.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FAILURE MODES &amp; FIXES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Wrong keys or extra keys: validate with strict=True or use model_validate().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Extra keys are silently ignored by default — use model_config = ConfigDict(extra="forbid") to reject them.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Missing required fields: the model returned fewer fields than required.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Catch ValidationError, log the raw response, and retry with a more explicit prompt that names the missing field.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Truncated output: the model hit its max_tokens before finishing.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Increase max_tokens, or split the task into smaller requests that each produce a complete, shorter response.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Wrong type: a number returned as a string, or vice versa.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Use Pydantic's coerce_numbers_to_str or str type with an @field_validator to normalize before rejecting.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Retrying blindly on any error amplifies cost — log failures, categorize them, and fix prompts before adding retry loops.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Treat the raw model output string as untrusted data: never eval() it, never pass it directly to a database query.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950563"/>
            <a:ext cx="3337560" cy="4192937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94183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92736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1009663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11612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Structured error handling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1430287"/>
            <a:ext cx="3017520" cy="36470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import json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pydantic import ValidationError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parse_model_output(raw: str,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       schema, max_retries=2):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for attempt in range(max_retries + 1):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try: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data = json.loads(raw)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return schema.model_validate(data)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except json.JSONDecodeError as 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if attempt == max_retries: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raise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raw = fix_json_prompt(raw, 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except ValidationError as 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if attempt == max_retries: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raise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raw = retry_with_errors(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raw, e.errors()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retry_with_errors(raw, errors):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# Re-ask model with specific errors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error_msg = ", ".join(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f"{err['loc']}: {err['msg']}"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for err in errors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model.invoke(f"Fix: {error_msg}")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SAFE TOOL DESIGN &amp; ERROR HANDLING  ·  4 OF 4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Retry and Fallback Strategies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4590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A single failure path makes a fragile system — plan for retries, degradation, and graceful failure from the start.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STRATEGY LAYERS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Prompt-level retry: regenerate with the error in context.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Send the ValidationError details back to the model: "Your response had these issues — please fix them:" lets it self-correct.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Schema relaxation: fall back to a simpler schema.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If the full 10-field schema fails repeatedly, retry with a 3-field minimal schema to capture what you can.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Output coercion: fix common type errors before validating.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Normalize "yes"→True, "3"→3, strip whitespace — catch what a post-processing step can fix without a retry.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Hard fallback: return a safe default or raise a user-visible error.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After N retries, return a structured error response rather than an exception — let the caller decide how to handle it.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Prompt-level retries cost tokens and add latency — fix the root cause (prompt or schema) once you see a pattern.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Build a fallback path from the start: "what happens when parsing fails?" should be answered in design, not in production.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59436"/>
            <a:ext cx="3337560" cy="4860036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577840" y="198946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1989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35873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572715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 layered retry chain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813944"/>
            <a:ext cx="3017520" cy="399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langchain_core.output_parsers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PydanticOutputParser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from langchain.output_parsers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RetryWithErrorOutputParser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Base 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parser = PydanticOutputParser(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pydantic_object=Review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Retry-wrapping 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retry_parser = RetryWithErrorOutputParser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.from_llm(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parser=parser,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llm=llm,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max_retries=2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Use in chain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chain = prompt | llm | retry_parser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try: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result = chain.invoke({...})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except OutputParserException: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result = Review(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sentiment="unknown",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score=0,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summary="parse failed"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REFERENCE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Structured Output Techniques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Each approach trades control for convenience — choose based on how much structure you need.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2062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2646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TECHNIQUE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14264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CORE IDEA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096512" y="14264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BEST FOR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71032" y="14264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</a:rPr>
              <a:t>LANGCHAIN API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18470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JSON Mode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Constrain decoder to valid JSON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18470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Any structured response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71032" y="18470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model_kwargs={"response_format": ...}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with_structured_output()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Schema-bound tool call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Typed, predictable fields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971032" y="22677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llm.with_structured_output(MyModel)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633472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0352" y="26883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@tool decorator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2221992" y="2688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Expose Python function as tool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096512" y="26883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Simple tool definition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971032" y="26883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@tool on any typed function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54096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3108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BaseTool subclass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221992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Full tool class with state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096512" y="31089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Complex tools, async, retry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971032" y="3108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class MyTool(BaseTool)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0352" y="35295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PydanticOutputParser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221992" y="3529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Parse + validate free text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096512" y="35295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Models without tool calling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971032" y="35295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PydanticOutputParser(pydantic_object=...)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895344"/>
            <a:ext cx="8229600" cy="42062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0352" y="39502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RetryWithErrorOutputParser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221992" y="3950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Auto-retry on parse failure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096512" y="39502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Unreliable or creative models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971032" y="39502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A4A"/>
                </a:solidFill>
              </a:rPr>
              <a:t>RetryWithErrorOutputParser.from_llm(...)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PUTTING IT ALL TOGETHER  ·  END-TO-END EXAMPLE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 Tool-Enabled Agent: End to 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Combining structured output, tool calling, validation, and fallback into one cohesive pattern.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53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ASSEMBLY CHECKLIST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934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16002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Define Pydantic schemas for both tool inputs and final output.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180136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Tool args schema constrains what the model can send; final output schema captures the answer in a usable shape.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16712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14884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Decorate tool functions and bind them to the model.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3500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@tool + llm.bind_tools([...]) or create_tool_calling_agent handles the tool-call loop for you.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71576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6974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Wrap the final output in with_structured_output().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28986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After the agent finishes, parse the final answer into a Pydantic model — not just a raw string.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246888" cy="2468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64408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2461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Add a RetryWithErrorOutputParser as the outermost layer.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34472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A9A"/>
                </a:solidFill>
              </a:rPr>
              <a:t>If the final output fails validation, the retry parser re-prompts automatically before surfacing an error.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70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Trade-off: Chaining too many retry layers makes debugging hard — add one layer at a time and test each independently.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6634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8A9A"/>
                </a:solidFill>
              </a:rPr>
              <a:t>Key point: Instrument every layer: log inputs, outputs, and validation results so failures are diagnosable, not mysterious.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59436"/>
            <a:ext cx="3337560" cy="4860036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19169" y="73152"/>
            <a:ext cx="475488" cy="475488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77840" y="956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53912" y="338069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D4824A"/>
                </a:solidFill>
              </a:rPr>
              <a:t>EXAMPLE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474557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 agent assembly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785992"/>
            <a:ext cx="3017520" cy="4023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1. Tools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@tool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def lookup_order(order_id: str) -&gt; dict: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"""Look up order status by ID."""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return orders_db.get(order_id)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2. Final output schema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class AgentAnswer(BaseModel):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status: Literal["found","not_found"]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message: str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order_data: Optional[dict]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3. Model + tools + structured output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llm_tools = llm.bind_tools([lookup_order])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agent = create_tool_calling_agent(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llm_tools, [lookup_order], prompt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executor = AgentExecutor(agent=agent,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               tools=[lookup_order])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# 4. Structured final parse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parser = PydanticOutputParser(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pydantic_object=AgentAnswer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retry = RetryWithErrorOutputParser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      .from_llm(parser=parser, llm=llm)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result = retry.parse(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    executor.invoke({"input": query})["output"]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CE0"/>
                </a:solidFill>
              </a:rPr>
              <a:t>)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A6A8A"/>
                </a:solidFill>
              </a:rPr>
              <a:t>PRACTICAL GUIDANCE  ·  COMMON MISTAKES TO AVOID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Common Mistakes and How to Fix Them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A9A"/>
                </a:solidFill>
              </a:rPr>
              <a:t>Problems every developer hits the first time — and the quick fixes that resolve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81912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JSON mode, no schema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1554480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The model returns valid JSON with arbitrary keys. Add a Pydantic model and use with_structured_output() so the shape is enforced, not just the syntax.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32304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Tool description too vague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404872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"A helpful tool" doesn't tell the model when to use it. Describe the trigger condition: "Use this when the user asks about order status — pass the order ID."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82112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82696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282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Model arguments trusted directly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55264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Never pass tool args straight to SQL, file paths, or shell commands. Validate with Pydantic, sanitize inputs, and scope the tool to the minimum access it needs.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33088"/>
            <a:ext cx="320040" cy="32004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No retry, no fallback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4105656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A9A"/>
                </a:solidFill>
              </a:rPr>
              <a:t>A single parse failure crashes the whole flow. Wrap with RetryWithErrorOutputParser and add a hard fallback that returns a structured error instead of raising.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882896"/>
            <a:ext cx="8229600" cy="137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243353"/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22F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3657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824A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Things to Remember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{}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Schema first, prompt second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A Pydantic schema enforces the shape of model output; the prompt just guides it. Write the schema before you write the prompt, and let Pydantic catch what the model gets wrong.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27832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33672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33672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92424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 call, models choose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92424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The model never executes code — it returns a choice. Your code runs the function, validates the arguments, and controls what the model can and cannot touch.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98464" y="1325880"/>
            <a:ext cx="2606040" cy="3474720"/>
          </a:xfrm>
          <a:prstGeom prst="rect">
            <a:avLst/>
          </a:prstGeom>
          <a:solidFill>
            <a:srgbClr val="243353"/>
          </a:solidFill>
          <a:ln/>
        </p:spPr>
      </p:sp>
      <p:sp>
        <p:nvSpPr>
          <p:cNvPr id="18" name="Shape 16"/>
          <p:cNvSpPr/>
          <p:nvPr/>
        </p:nvSpPr>
        <p:spPr>
          <a:xfrm>
            <a:off x="7004304" y="1481328"/>
            <a:ext cx="594360" cy="594360"/>
          </a:xfrm>
          <a:prstGeom prst="ellipse">
            <a:avLst/>
          </a:prstGeom>
          <a:solidFill>
            <a:srgbClr val="D482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14813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63056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for failure from day one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63056" y="27432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CE0"/>
                </a:solidFill>
              </a:rPr>
              <a:t>Models produce wrong types, missing fields, and truncated JSON. Build validation, retry, and fallback into the design — not as an afterthought when production breaks.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91947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B0C0"/>
                </a:solidFill>
              </a:rPr>
              <a:t>Structured Outputs &amp; Tool Use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9194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A0B0C0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5166</Words>
  <Application>Microsoft Office PowerPoint</Application>
  <PresentationFormat>On-screen Show (16:9)</PresentationFormat>
  <Paragraphs>682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Kahate</cp:lastModifiedBy>
  <cp:revision>4</cp:revision>
  <dcterms:created xsi:type="dcterms:W3CDTF">2026-09-21T13:10:15Z</dcterms:created>
  <dcterms:modified xsi:type="dcterms:W3CDTF">2026-09-22T10:16:17Z</dcterms:modified>
</cp:coreProperties>
</file>