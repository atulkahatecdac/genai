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topics, moving from structured output basics to safe, robust tool-enabled systems.
1. Structured Outputs &amp; JSON Mode: JSON mode, response schemas, and extracting reliable structured data from model output.
2. Pydantic Validation: validating and parsing model responses with Pydantic models in LangChain.
3. Function Calling &amp; Tool Use: defining tools, routing user intent, and building tool-enabled LangChain chains.
4. Safe Design &amp; Error Handling: safe tool schemas, permissions, and handling malformed or partial model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telling the model to return valid JSON instead of free-form prose.
1. Enable JSON mode on the model call: pass response_format={type:"json_object"} (OpenAI) or use with_structured_output() in LangChain.
2. Describe the expected shape in the prompt. Without a schema, the model produces valid JSON but with arbitrary keys, so tell it exactly what fields you need.
3. The model guarantees parseable output. JSON mode hard-constrains the decoder: output is always valid JSON.
4. Parse and use the result directly: json.loads() or Pydantic model_validate() converts the string to a Python object.
Trade-off: JSON mode guarantees valid JSON, not correct JSON. The model can still produce the wrong keys or wrong types.
Key point: always pair JSON mode with a schema or Pydantic validation to catch semantic errors, not just syntax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binding a typed schema to the model so output is predictable by construction.
1. Define a Pydantic model as your schema. Each field has a type and an optional description; the description is sent to the model as a hint.
2. Bind it to the model with with_structured_output(). LangChain converts your Pydantic class to a tool definition the model must respond through.
3. Invoke the chain and get back a typed object, not a string. No JSON parsing, no .content access: the return value is already a validated Python instance.
4. Access fields directly as attributes: autocomplete works, and type errors surface at call time.
Trade-off: with_structured_output() requires the model to support function/tool calling, so it doesn't work with every provider.
Key point: prefer this over raw JSON mode whenever you control the schema. It eliminates an entire class of parsing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pulling specific fields from unstructured text (receipts, emails, support tickets) into typed objects.
1. Identify what fields you need to extract. Name them clearly in a Pydantic model with descriptions that guide the model (e.g. "invoice total in USD").
2. Use a prompt that frames the text as input to parse: "Extract the following fields from the text below:" gives the model clear intent.
3. Run with with_structured_output() for a typed result. The model fills in what it can find; missing fields return None or the default you set.
4. Handle missing fields explicitly: use Optional[str] = None for fields that may not appear in every document.
Example ticket: "Hi, I'm Sarah. My invoice for CloudSync Pro is wrong - I was charged twice this month."
Trade-off: extraction accuracy drops on noisy or ambiguous text.
Key point: use Field(description=...) generously.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Pydantic is not just a validator: it plays three distinct roles when working with model output.
Schema definition: Pydantic models double as your structured output schema. LangChain reads the field names, types, and descriptions to generate the tool definition it sends to the model.
Output validation: after the model responds, Pydantic validates the output against the schema, catching wrong types, missing required fields, and constraint violations before your application code ever sees the object.
Runtime safety: Pydantic raises a ValidationError on bad output, giving you a structured exception to catch, inspect, and retry from, rather than a cryptic KeyError or AttributeError buried in application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going beyond type checking, enforcing business rules on model output before it reaches your system.
1. Field constraints: ge, le, min_length, max_length. score: int = Field(ge=1, le=10) rejects any score outside 1-10.
2. Literal types for enumerating allowed values: status: Literal["open","closed","pending"] ensures the model picks from your list.
3. @field_validator for custom logic: validate that end_date &gt; start_date, that a URL is reachable, or that a code appears in a known registry.
4. model_validate() for manual parsing with error handling: wrap it in try/except ValidationError to catch failures, log them, and retry or fall back gracefully.
Trade-off: strict validators can make the model retry more often. Balance precision with practical tolerance for near-correct output.
Key point: log ValidationError details. They tell you exactly which field failed and why, which helps you improve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doesn't call functions: it decides when to call them, and your code does the actual execution.
1. You describe available tools as JSON schemas. Each tool has a name, description, and parameters schema.
2. The model returns a tool_call instead of a text reply, with the tool name and arguments it wants to pass.
3. Your code executes the tool and returns the result as a ToolMessage. The model has no access to your systems.
4. The model generates a final response using the tool result, or calls another tool.
Example: User asks "What's the weather in Mumbai?" -&gt; model responds tool_call get_weather(city="Mumbai") -&gt; your code runs get_weather -&gt; {"temp": 32, "condition": "humid"} -&gt; ToolMessage back -&gt; "It's 32°C and humid in Mumbai."
Trade-off: the model only picks tools. Execution, errors, and timeouts are entirely your code's responsibility.
Key point: the tool description is the most important part of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expose a Python function as a tool the model can call.
1. @tool decorator: the simplest path. Add @tool to any function; LangChain reads the docstring as the tool description and the type hints as the parameter schema.
2. StructuredTool.from_function(): wraps an existing function with an explicit schema. Useful when you can't modify the source function or need a description different from the docstring.
3. BaseTool subclass: for tools with complex state or initialization. Override _run() and _arun(); store clients, config, or dependencies as class attributes.
4. Bind tools to the model with llm.bind_tools([...]). The bound model automatically formats tool_call responses.
Trade-off: docstrings drive discovery. A vague docstring means the model won't know when to call the tool.
Key point: start with @tool for prototyping; graduate to BaseTool when the tool needs async, state, or retry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multiple tools are available, the model routes the request to the right one based on the descriptions.
1. Bind multiple tools with different purposes: a calculator, a database lookup and a web search can all coexist.
2. The model reads all tool descriptions at once and picks by relevance to the user's message: the best description wins, not the first in the list.
3. A tool agent loop handles multi-step routing: AgentExecutor or LangGraph runs the model, captures tool_calls, executes them, and loops until the model stops calling tools.
4. Inspect response.tool_calls to see what was chosen: useful for logging, debugging, and testing.
Code:
agent = create_tool_calling_agent(llm, [calculator, db_lookup, search], prompt)
executor = AgentExecutor(agent=agent, tools=[...], verbose=True)
executor.invoke({"input": "What was AAPL's closing price on its best day this year?"})
# Model calls: search -&gt; calculator
Trade-off: routing ambiguity rises with tool count. Keep descriptions distinct and non-overlapping.
Key point: surprises in tool choice are almost always a description problem, not a model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tool is only as safe as what it allows the model to pass in. The schema is your first line of defense.
1. Constrain inputs with enums and Literal types: action: Literal["read","summarize"] prevents the model from inventing an action like "delete" or "admin".
2. Use min/max bounds on numeric inputs: limit: int = Field(ge=1, le=100) stops the model from requesting 10,000 rows in a single call.
3. Validate strings with regex or allowed patterns: a ticker symbol should match [A-Z]{1,5}.
4. Never trust model-generated input without server-side checks: validate, sanitize, and authorize before executing, as a web app does with user input.
Trade-off: overly strict schemas make the model fail more often. Calibrate constraints to what the tool actually needs.
Key point: the schema description tells the model what you expect; the validator enforces it. Both 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should be able to call only the tools, and the operations within those tools, that it actually needs.
1. Expose read-only tools by default; require explicit read-write. A search tool and a delete tool should not coexist unless the agent genuinely needs both.
2. Scope database tools to a specific user's data: inject user_id or org_id at the tool layer, not as a model argument.
3. Rate-limit and audit every tool call: log the tool name, arguments, and result for debugging and for detecting model misbehavior.
4. Add a confirmation step for irreversible actions: a "send email" or "delete record" tool should return a preview and require a separate confirm() call. (In the original example, send_support_ticket returns {"preview": ..., "status": "pending_confirm"}.)
Trade-off: confirmation steps add a round-trip. Reserve them for genuinely irreversible operations.
Key point: the principle of least privilege applies to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with JSON mode and Pydantic, models occasionally return output that doesn't match what you asked for. See demo 11.
1. Wrong keys or extra keys: extra keys are silently ignored by default; use model_config = ConfigDict(extra="forbid") to reject them.
2. Missing required fields: catch ValidationError, log the raw response, and retry with a more explicit prompt that names the missing field.
3. Truncated output: the model hit its max_tokens before finishing. Increase max_tokens, or split the task into smaller requests.
4. Wrong type: a number returned as a string, or vice versa. Use a @field_validator to normalize before rejecting.
Pattern from the original slide: parse_model_output(raw, schema, max_retries=2) loops: json.loads -&gt; schema.model_validate; on JSONDecodeError re-ask the model to fix the JSON; on ValidationError re-ask with the specific errors (e.errors()) until max_retries.
Trade-off: retrying blindly on any error amplifies cost. Log failures, categorize them, and fix prompts before adding retry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failure path makes a fragile system. Plan for retries, degradation, and graceful failure from the start.
1. Prompt-level retry: regenerate with the error in context. Send the ValidationError details back to the model so it can self-correct.
2. Schema relaxation: if the full 10-field schema fails repeatedly, retry with a 3-field minimal schema to capture what you can.
3. Output coercion: normalize "yes" -&gt; True, "3" -&gt; 3, strip whitespace. Fix what post-processing can fix without a retry.
4. Hard fallback: after N retries, return a structured error response rather than an exception, and let the caller decide.
Trade-off: prompt-level retries cost tokens and add latency. Fix the root cause (prompt or schema) once you see a pattern.
Key point: "what happens when parsing fails?" should be answered in design, not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approach trades control for convenience. Choose based on how much structure you need.
JSON mode: constrain the decoder to valid JSON.
with_structured_output(): schema-bound tool call.
@tool: expose a Python function as a tool.
BaseTool subclass: full tool class with state.
PydanticOutputParser: parse and validate free text.
RetryWithErrorOutputParser: auto-retry on parse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structured output, tool calling, validation, and fallback into one pattern.
1. Define Pydantic schemas for both tool inputs and final output. The tool args schema constrains what the model can send; the final output schema captures the answer in a usable shape.
2. Decorate tool functions and bind them to the model: @tool + llm.bind_tools([...]) or create_tool_calling_agent handles the tool-call loop.
3. Parse the final answer into a Pydantic model, not just a raw string.
4. Add a RetryWithErrorOutputParser as the outermost layer: if the final output fails validation, it re-prompts automatically.
Code outline:
@tool def lookup_order(order_id: str) -&gt; dict
class AgentAnswer(BaseModel): status: Literal["found","not_found"]; message: str; order_data: Optional[dict]
agent = create_tool_calling_agent(llm, [lookup_order], prompt)
executor = AgentExecutor(agent=agent, tools=[lookup_order])
parser = PydanticOutputParser(pydantic_object=AgentAnswer)
retry = RetryWithErrorOutputParser.from_llm(parser=parser, llm=llm)
Trade-off: chaining too many retry layers makes debugging hard. Add one layer at a time and test each independently.
Key point: instrument every layer so failures are diagnosable, not mysterious.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Problems every developer hits the first time, and the quick fixes.
1. JSON mode, no schema: the model returns valid JSON with arbitrary keys. Add a Pydantic model and use with_structured_output() so the shape is enforced, not just the syntax.
2. Tool description too vague: "A helpful tool" doesn't tell the model when to use it. Describe the trigger condition: "Use this when the user asks about order status. Pass the order ID."
3. Model arguments trusted directly: never pass tool args straight to SQL, file paths, or shell commands. Validate with Pydantic, sanitize inputs, and scope the tool to the minimum access it needs.
4. No retry, no fallback: a single parse failure crashes the whole flow. Wrap with RetryWithErrorOutputParser and add a hard fallback that returns a structured error instead of raising.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 first, prompt second: a Pydantic schema enforces the shape of model output; the prompt just guides it. Write the schema before you write the prompt.
Tools call, models choose: the model never executes code; it returns a choice. Your code runs the function, validates the arguments, and controls what the model can and cannot touch.
Plan for failure from day one: models produce wrong types, missing fields, and truncated JSON. Build validation, retry, and fallback into the design, not as an afterthought.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800600"/>
            <a:ext cx="3657600" cy="228600"/>
          </a:xfrm>
          <a:prstGeom prst="rect">
            <a:avLst/>
          </a:prstGeom>
          <a:noFill/>
          <a:ln/>
        </p:spPr>
        <p:txBody>
          <a:bodyPr wrap="square" lIns="0" tIns="0" rIns="0" bIns="0" rtlCol="0" anchor="ctr"/>
          <a:lstStyle/>
          <a:p>
            <a:pPr indent="0" marL="0">
              <a:buNone/>
            </a:pPr>
            <a:r>
              <a:rPr lang="en-US" sz="900" dirty="0">
                <a:solidFill>
                  <a:srgbClr val="A0B0C0"/>
                </a:solidFill>
              </a:rPr>
              <a:t>Structured Outputs &amp; Tool Use</a:t>
            </a:r>
            <a:endParaRPr lang="en-US" sz="900" dirty="0"/>
          </a:p>
        </p:txBody>
      </p:sp>
      <p:sp>
        <p:nvSpPr>
          <p:cNvPr id="3" name="Text 1"/>
          <p:cNvSpPr/>
          <p:nvPr>
            <p:ph idx="101" type="title" hasCustomPrompt="1"/>
          </p:nvPr>
        </p:nvSpPr>
        <p:spPr>
          <a:xfrm>
            <a:off x="502920" y="457200"/>
            <a:ext cx="8138160" cy="594360"/>
          </a:xfrm>
          <a:prstGeom prst="rect">
            <a:avLst/>
          </a:prstGeom>
          <a:noFill/>
          <a:ln/>
        </p:spPr>
        <p:txBody>
          <a:bodyPr wrap="square" rtlCol="0"/>
          <a:lstStyle>
            <a:lvl1pPr algn="l" indent="0" marL="0">
              <a:buNone/>
              <a:defRPr lang="en-US" sz="2800" b="1" dirty="0">
                <a:solidFill>
                  <a:srgbClr val="1B2A4A"/>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A4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www.linkedin.com/in/atulkahate/" TargetMode="Externa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132320" y="-1188720"/>
            <a:ext cx="3657600" cy="3657600"/>
          </a:xfrm>
          <a:prstGeom prst="ellipse">
            <a:avLst/>
          </a:prstGeom>
          <a:solidFill>
            <a:srgbClr val="243353"/>
          </a:solidFill>
          <a:ln w="12700">
            <a:solidFill>
              <a:srgbClr val="243353"/>
            </a:solidFill>
            <a:prstDash val="solid"/>
          </a:ln>
        </p:spPr>
      </p:sp>
      <p:sp>
        <p:nvSpPr>
          <p:cNvPr id="3" name="Shape 1"/>
          <p:cNvSpPr/>
          <p:nvPr/>
        </p:nvSpPr>
        <p:spPr>
          <a:xfrm>
            <a:off x="-914400" y="3474720"/>
            <a:ext cx="2560320" cy="2560320"/>
          </a:xfrm>
          <a:prstGeom prst="ellipse">
            <a:avLst/>
          </a:prstGeom>
          <a:solidFill>
            <a:srgbClr val="243353"/>
          </a:solidFill>
          <a:ln w="12700">
            <a:solidFill>
              <a:srgbClr val="243353"/>
            </a:solidFill>
            <a:prstDash val="solid"/>
          </a:ln>
        </p:spPr>
      </p:sp>
      <p:sp>
        <p:nvSpPr>
          <p:cNvPr id="4" name="Text 2"/>
          <p:cNvSpPr txBox="1"/>
          <p:nvPr/>
        </p:nvSpPr>
        <p:spPr>
          <a:xfrm>
            <a:off x="640080" y="685800"/>
            <a:ext cx="5486400" cy="320040"/>
          </a:xfrm>
          <a:prstGeom prst="rect">
            <a:avLst/>
          </a:prstGeom>
          <a:noFill/>
          <a:ln/>
        </p:spPr>
        <p:txBody>
          <a:bodyPr wrap="square" lIns="0" tIns="0" rIns="0" bIns="0" rtlCol="0" anchor="ctr"/>
          <a:lstStyle/>
          <a:p>
            <a:pPr indent="0" marL="0">
              <a:buNone/>
            </a:pPr>
            <a:r>
              <a:rPr lang="en-US" sz="1300" b="1" spc="400" kern="0" dirty="0">
                <a:solidFill>
                  <a:srgbClr val="D4824A"/>
                </a:solidFill>
              </a:rPr>
              <a:t>MODULE 7</a:t>
            </a:r>
            <a:endParaRPr lang="en-US" sz="1300" dirty="0"/>
          </a:p>
        </p:txBody>
      </p:sp>
      <p:sp>
        <p:nvSpPr>
          <p:cNvPr id="5" name="Text 3"/>
          <p:cNvSpPr txBox="1"/>
          <p:nvPr/>
        </p:nvSpPr>
        <p:spPr>
          <a:xfrm>
            <a:off x="640080" y="1097280"/>
            <a:ext cx="6400800" cy="1920240"/>
          </a:xfrm>
          <a:prstGeom prst="rect">
            <a:avLst/>
          </a:prstGeom>
          <a:noFill/>
          <a:ln/>
        </p:spPr>
        <p:txBody>
          <a:bodyPr wrap="square" lIns="0" tIns="0" rIns="0" bIns="0" rtlCol="0" anchor="t"/>
          <a:lstStyle/>
          <a:p>
            <a:pPr indent="0" marL="0">
              <a:buNone/>
            </a:pPr>
            <a:r>
              <a:rPr lang="en-US" sz="4000" b="1" dirty="0">
                <a:solidFill>
                  <a:srgbClr val="FFFFFF"/>
                </a:solidFill>
              </a:rPr>
              <a:t>Structured Outputs,</a:t>
            </a:r>
            <a:endParaRPr lang="en-US" sz="4000" dirty="0"/>
          </a:p>
          <a:p>
            <a:pPr indent="0" marL="0">
              <a:buNone/>
            </a:pPr>
            <a:r>
              <a:rPr lang="en-US" sz="4000" b="1" dirty="0">
                <a:solidFill>
                  <a:srgbClr val="FFFFFF"/>
                </a:solidFill>
              </a:rPr>
              <a:t>Function Calling,</a:t>
            </a:r>
            <a:endParaRPr lang="en-US" sz="4000" dirty="0"/>
          </a:p>
          <a:p>
            <a:pPr indent="0" marL="0">
              <a:buNone/>
            </a:pPr>
            <a:r>
              <a:rPr lang="en-US" sz="4000" b="1" dirty="0">
                <a:solidFill>
                  <a:srgbClr val="FFFFFF"/>
                </a:solidFill>
              </a:rPr>
              <a:t>and Tool Use</a:t>
            </a:r>
            <a:endParaRPr lang="en-US" sz="4000" dirty="0"/>
          </a:p>
        </p:txBody>
      </p:sp>
      <p:sp>
        <p:nvSpPr>
          <p:cNvPr id="6" name="Text 4"/>
          <p:cNvSpPr txBox="1"/>
          <p:nvPr/>
        </p:nvSpPr>
        <p:spPr>
          <a:xfrm>
            <a:off x="640080" y="4114800"/>
            <a:ext cx="4572000" cy="274320"/>
          </a:xfrm>
          <a:prstGeom prst="rect">
            <a:avLst/>
          </a:prstGeom>
          <a:noFill/>
          <a:ln/>
        </p:spPr>
        <p:txBody>
          <a:bodyPr wrap="square" lIns="0" tIns="0" rIns="0" bIns="0" rtlCol="0" anchor="ctr"/>
          <a:lstStyle/>
          <a:p>
            <a:pPr indent="0" marL="0">
              <a:buNone/>
            </a:pPr>
            <a:r>
              <a:rPr lang="en-US" sz="1400" b="1" dirty="0">
                <a:solidFill>
                  <a:srgbClr val="C8D8E8"/>
                </a:solidFill>
              </a:rPr>
              <a:t>Atul Kahate</a:t>
            </a:r>
            <a:endParaRPr lang="en-US" sz="1400" dirty="0"/>
          </a:p>
        </p:txBody>
      </p:sp>
      <p:sp>
        <p:nvSpPr>
          <p:cNvPr id="7" name="Text 5">
            <a:hlinkClick r:id="rId1" tooltip=""/>
          </p:cNvPr>
          <p:cNvSpPr txBox="1"/>
          <p:nvPr/>
        </p:nvSpPr>
        <p:spPr>
          <a:xfrm>
            <a:off x="640080" y="4407408"/>
            <a:ext cx="4572000" cy="256032"/>
          </a:xfrm>
          <a:prstGeom prst="rect">
            <a:avLst/>
          </a:prstGeom>
          <a:noFill/>
          <a:ln/>
        </p:spPr>
        <p:txBody>
          <a:bodyPr wrap="square" lIns="0" tIns="0" rIns="0" bIns="0" rtlCol="0" anchor="ctr"/>
          <a:lstStyle/>
          <a:p>
            <a:pPr indent="0" marL="0">
              <a:buNone/>
            </a:pPr>
            <a:r>
              <a:rPr lang="en-US" sz="1100" u="sng" dirty="0">
                <a:solidFill>
                  <a:srgbClr val="D4824A"/>
                </a:solidFill>
                <a:hlinkClick r:id="rId1" invalidUrl="" action="" tgtFrame="" tooltip="" history="1" highlightClick="0" endSnd="0">
                  <a:extLst>
                    <a:ext uri="{A12FA001-AC4F-418D-AE19-62706E023703}">
                      <ahyp:hlinkClr xmlns:ahyp="http://schemas.microsoft.com/office/drawing/2018/hyperlinkcolor" val="tx"/>
                    </a:ext>
                  </a:extLst>
                </a:hlinkClick>
              </a:rPr>
              <a:t>https://www.linkedin.com/in/atulkahate/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ROADMAP</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What We'll Cover</a:t>
            </a:r>
            <a:endParaRPr lang="en-US" sz="2800" dirty="0"/>
          </a:p>
        </p:txBody>
      </p:sp>
      <p:sp>
        <p:nvSpPr>
          <p:cNvPr id="4" name="Shape 2"/>
          <p:cNvSpPr/>
          <p:nvPr/>
        </p:nvSpPr>
        <p:spPr>
          <a:xfrm>
            <a:off x="502920" y="1463040"/>
            <a:ext cx="1874520" cy="2377440"/>
          </a:xfrm>
          <a:prstGeom prst="roundRect">
            <a:avLst>
              <a:gd name="adj" fmla="val 4878"/>
            </a:avLst>
          </a:prstGeom>
          <a:solidFill>
            <a:srgbClr val="F4F6F9"/>
          </a:solidFill>
          <a:ln w="12700">
            <a:solidFill>
              <a:srgbClr val="F4F6F9"/>
            </a:solidFill>
            <a:prstDash val="solid"/>
          </a:ln>
        </p:spPr>
      </p:sp>
      <p:sp>
        <p:nvSpPr>
          <p:cNvPr id="5" name="Shape 3"/>
          <p:cNvSpPr/>
          <p:nvPr/>
        </p:nvSpPr>
        <p:spPr>
          <a:xfrm>
            <a:off x="731520" y="1691640"/>
            <a:ext cx="502920" cy="502920"/>
          </a:xfrm>
          <a:prstGeom prst="ellipse">
            <a:avLst/>
          </a:prstGeom>
          <a:solidFill>
            <a:srgbClr val="1B2A4A"/>
          </a:solidFill>
          <a:ln w="12700">
            <a:solidFill>
              <a:srgbClr val="1B2A4A"/>
            </a:solidFill>
            <a:prstDash val="solid"/>
          </a:ln>
        </p:spPr>
      </p:sp>
      <p:sp>
        <p:nvSpPr>
          <p:cNvPr id="6" name="Text 4"/>
          <p:cNvSpPr txBox="1"/>
          <p:nvPr/>
        </p:nvSpPr>
        <p:spPr>
          <a:xfrm>
            <a:off x="731520" y="1691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01</a:t>
            </a:r>
            <a:endParaRPr lang="en-US" sz="1500" dirty="0"/>
          </a:p>
        </p:txBody>
      </p:sp>
      <p:sp>
        <p:nvSpPr>
          <p:cNvPr id="7" name="Text 5"/>
          <p:cNvSpPr txBox="1"/>
          <p:nvPr/>
        </p:nvSpPr>
        <p:spPr>
          <a:xfrm>
            <a:off x="731520" y="2377440"/>
            <a:ext cx="1508760" cy="594360"/>
          </a:xfrm>
          <a:prstGeom prst="rect">
            <a:avLst/>
          </a:prstGeom>
          <a:noFill/>
          <a:ln/>
        </p:spPr>
        <p:txBody>
          <a:bodyPr wrap="square" lIns="0" tIns="0" rIns="0" bIns="0" rtlCol="0" anchor="t"/>
          <a:lstStyle/>
          <a:p>
            <a:pPr indent="0" marL="0">
              <a:buNone/>
            </a:pPr>
            <a:r>
              <a:rPr lang="en-US" sz="1600" b="1" dirty="0">
                <a:solidFill>
                  <a:srgbClr val="1B2A4A"/>
                </a:solidFill>
              </a:rPr>
              <a:t>Structured Outputs</a:t>
            </a:r>
            <a:endParaRPr lang="en-US" sz="1600" dirty="0"/>
          </a:p>
        </p:txBody>
      </p:sp>
      <p:sp>
        <p:nvSpPr>
          <p:cNvPr id="8" name="Text 6"/>
          <p:cNvSpPr txBox="1"/>
          <p:nvPr/>
        </p:nvSpPr>
        <p:spPr>
          <a:xfrm>
            <a:off x="731520" y="3017520"/>
            <a:ext cx="1508760" cy="640080"/>
          </a:xfrm>
          <a:prstGeom prst="rect">
            <a:avLst/>
          </a:prstGeom>
          <a:noFill/>
          <a:ln/>
        </p:spPr>
        <p:txBody>
          <a:bodyPr wrap="square" lIns="0" tIns="0" rIns="0" bIns="0" rtlCol="0" anchor="t"/>
          <a:lstStyle/>
          <a:p>
            <a:pPr indent="0" marL="0">
              <a:buNone/>
            </a:pPr>
            <a:r>
              <a:rPr lang="en-US" sz="1250" dirty="0">
                <a:solidFill>
                  <a:srgbClr val="5F6F80"/>
                </a:solidFill>
              </a:rPr>
              <a:t>JSON mode, schemas, extraction</a:t>
            </a:r>
            <a:endParaRPr lang="en-US" sz="1250" dirty="0"/>
          </a:p>
        </p:txBody>
      </p:sp>
      <p:sp>
        <p:nvSpPr>
          <p:cNvPr id="9" name="Shape 7"/>
          <p:cNvSpPr/>
          <p:nvPr/>
        </p:nvSpPr>
        <p:spPr>
          <a:xfrm>
            <a:off x="2404872" y="2651760"/>
            <a:ext cx="158191" cy="0"/>
          </a:xfrm>
          <a:prstGeom prst="line">
            <a:avLst/>
          </a:prstGeom>
          <a:noFill/>
          <a:ln w="25400">
            <a:solidFill>
              <a:srgbClr val="D4824A"/>
            </a:solidFill>
            <a:prstDash val="solid"/>
            <a:tailEnd type="triangle"/>
          </a:ln>
        </p:spPr>
      </p:sp>
      <p:sp>
        <p:nvSpPr>
          <p:cNvPr id="10" name="Shape 8"/>
          <p:cNvSpPr/>
          <p:nvPr/>
        </p:nvSpPr>
        <p:spPr>
          <a:xfrm>
            <a:off x="2590495" y="1463040"/>
            <a:ext cx="1874520" cy="2377440"/>
          </a:xfrm>
          <a:prstGeom prst="roundRect">
            <a:avLst>
              <a:gd name="adj" fmla="val 4878"/>
            </a:avLst>
          </a:prstGeom>
          <a:solidFill>
            <a:srgbClr val="F4F6F9"/>
          </a:solidFill>
          <a:ln w="12700">
            <a:solidFill>
              <a:srgbClr val="F4F6F9"/>
            </a:solidFill>
            <a:prstDash val="solid"/>
          </a:ln>
        </p:spPr>
      </p:sp>
      <p:sp>
        <p:nvSpPr>
          <p:cNvPr id="11" name="Shape 9"/>
          <p:cNvSpPr/>
          <p:nvPr/>
        </p:nvSpPr>
        <p:spPr>
          <a:xfrm>
            <a:off x="2819095" y="1691640"/>
            <a:ext cx="502920" cy="502920"/>
          </a:xfrm>
          <a:prstGeom prst="ellipse">
            <a:avLst/>
          </a:prstGeom>
          <a:solidFill>
            <a:srgbClr val="1B2A4A"/>
          </a:solidFill>
          <a:ln w="12700">
            <a:solidFill>
              <a:srgbClr val="1B2A4A"/>
            </a:solidFill>
            <a:prstDash val="solid"/>
          </a:ln>
        </p:spPr>
      </p:sp>
      <p:sp>
        <p:nvSpPr>
          <p:cNvPr id="12" name="Text 10"/>
          <p:cNvSpPr txBox="1"/>
          <p:nvPr/>
        </p:nvSpPr>
        <p:spPr>
          <a:xfrm>
            <a:off x="2819095" y="1691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02</a:t>
            </a:r>
            <a:endParaRPr lang="en-US" sz="1500" dirty="0"/>
          </a:p>
        </p:txBody>
      </p:sp>
      <p:sp>
        <p:nvSpPr>
          <p:cNvPr id="13" name="Text 11"/>
          <p:cNvSpPr txBox="1"/>
          <p:nvPr/>
        </p:nvSpPr>
        <p:spPr>
          <a:xfrm>
            <a:off x="2819095" y="2377440"/>
            <a:ext cx="1508760" cy="594360"/>
          </a:xfrm>
          <a:prstGeom prst="rect">
            <a:avLst/>
          </a:prstGeom>
          <a:noFill/>
          <a:ln/>
        </p:spPr>
        <p:txBody>
          <a:bodyPr wrap="square" lIns="0" tIns="0" rIns="0" bIns="0" rtlCol="0" anchor="t"/>
          <a:lstStyle/>
          <a:p>
            <a:pPr indent="0" marL="0">
              <a:buNone/>
            </a:pPr>
            <a:r>
              <a:rPr lang="en-US" sz="1600" b="1" dirty="0">
                <a:solidFill>
                  <a:srgbClr val="1B2A4A"/>
                </a:solidFill>
              </a:rPr>
              <a:t>Pydantic Validation</a:t>
            </a:r>
            <a:endParaRPr lang="en-US" sz="1600" dirty="0"/>
          </a:p>
        </p:txBody>
      </p:sp>
      <p:sp>
        <p:nvSpPr>
          <p:cNvPr id="14" name="Text 12"/>
          <p:cNvSpPr txBox="1"/>
          <p:nvPr/>
        </p:nvSpPr>
        <p:spPr>
          <a:xfrm>
            <a:off x="2819095" y="3017520"/>
            <a:ext cx="1508760" cy="640080"/>
          </a:xfrm>
          <a:prstGeom prst="rect">
            <a:avLst/>
          </a:prstGeom>
          <a:noFill/>
          <a:ln/>
        </p:spPr>
        <p:txBody>
          <a:bodyPr wrap="square" lIns="0" tIns="0" rIns="0" bIns="0" rtlCol="0" anchor="t"/>
          <a:lstStyle/>
          <a:p>
            <a:pPr indent="0" marL="0">
              <a:buNone/>
            </a:pPr>
            <a:r>
              <a:rPr lang="en-US" sz="1250" dirty="0">
                <a:solidFill>
                  <a:srgbClr val="5F6F80"/>
                </a:solidFill>
              </a:rPr>
              <a:t>Check model output before using it</a:t>
            </a:r>
            <a:endParaRPr lang="en-US" sz="1250" dirty="0"/>
          </a:p>
        </p:txBody>
      </p:sp>
      <p:sp>
        <p:nvSpPr>
          <p:cNvPr id="15" name="Shape 13"/>
          <p:cNvSpPr/>
          <p:nvPr/>
        </p:nvSpPr>
        <p:spPr>
          <a:xfrm>
            <a:off x="4492447" y="2651760"/>
            <a:ext cx="158191" cy="0"/>
          </a:xfrm>
          <a:prstGeom prst="line">
            <a:avLst/>
          </a:prstGeom>
          <a:noFill/>
          <a:ln w="25400">
            <a:solidFill>
              <a:srgbClr val="D4824A"/>
            </a:solidFill>
            <a:prstDash val="solid"/>
            <a:tailEnd type="triangle"/>
          </a:ln>
        </p:spPr>
      </p:sp>
      <p:sp>
        <p:nvSpPr>
          <p:cNvPr id="16" name="Shape 14"/>
          <p:cNvSpPr/>
          <p:nvPr/>
        </p:nvSpPr>
        <p:spPr>
          <a:xfrm>
            <a:off x="4678070" y="1463040"/>
            <a:ext cx="1874520" cy="2377440"/>
          </a:xfrm>
          <a:prstGeom prst="roundRect">
            <a:avLst>
              <a:gd name="adj" fmla="val 4878"/>
            </a:avLst>
          </a:prstGeom>
          <a:solidFill>
            <a:srgbClr val="F4F6F9"/>
          </a:solidFill>
          <a:ln w="12700">
            <a:solidFill>
              <a:srgbClr val="F4F6F9"/>
            </a:solidFill>
            <a:prstDash val="solid"/>
          </a:ln>
        </p:spPr>
      </p:sp>
      <p:sp>
        <p:nvSpPr>
          <p:cNvPr id="17" name="Shape 15"/>
          <p:cNvSpPr/>
          <p:nvPr/>
        </p:nvSpPr>
        <p:spPr>
          <a:xfrm>
            <a:off x="4906670" y="1691640"/>
            <a:ext cx="502920" cy="502920"/>
          </a:xfrm>
          <a:prstGeom prst="ellipse">
            <a:avLst/>
          </a:prstGeom>
          <a:solidFill>
            <a:srgbClr val="1B2A4A"/>
          </a:solidFill>
          <a:ln w="12700">
            <a:solidFill>
              <a:srgbClr val="1B2A4A"/>
            </a:solidFill>
            <a:prstDash val="solid"/>
          </a:ln>
        </p:spPr>
      </p:sp>
      <p:sp>
        <p:nvSpPr>
          <p:cNvPr id="18" name="Text 16"/>
          <p:cNvSpPr txBox="1"/>
          <p:nvPr/>
        </p:nvSpPr>
        <p:spPr>
          <a:xfrm>
            <a:off x="4906670" y="1691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03</a:t>
            </a:r>
            <a:endParaRPr lang="en-US" sz="1500" dirty="0"/>
          </a:p>
        </p:txBody>
      </p:sp>
      <p:sp>
        <p:nvSpPr>
          <p:cNvPr id="19" name="Text 17"/>
          <p:cNvSpPr txBox="1"/>
          <p:nvPr/>
        </p:nvSpPr>
        <p:spPr>
          <a:xfrm>
            <a:off x="4906670" y="2377440"/>
            <a:ext cx="1508760" cy="594360"/>
          </a:xfrm>
          <a:prstGeom prst="rect">
            <a:avLst/>
          </a:prstGeom>
          <a:noFill/>
          <a:ln/>
        </p:spPr>
        <p:txBody>
          <a:bodyPr wrap="square" lIns="0" tIns="0" rIns="0" bIns="0" rtlCol="0" anchor="t"/>
          <a:lstStyle/>
          <a:p>
            <a:pPr indent="0" marL="0">
              <a:buNone/>
            </a:pPr>
            <a:r>
              <a:rPr lang="en-US" sz="1600" b="1" dirty="0">
                <a:solidFill>
                  <a:srgbClr val="1B2A4A"/>
                </a:solidFill>
              </a:rPr>
              <a:t>Function Calling &amp; Tools</a:t>
            </a:r>
            <a:endParaRPr lang="en-US" sz="1600" dirty="0"/>
          </a:p>
        </p:txBody>
      </p:sp>
      <p:sp>
        <p:nvSpPr>
          <p:cNvPr id="20" name="Text 18"/>
          <p:cNvSpPr txBox="1"/>
          <p:nvPr/>
        </p:nvSpPr>
        <p:spPr>
          <a:xfrm>
            <a:off x="4906670" y="3017520"/>
            <a:ext cx="1508760" cy="640080"/>
          </a:xfrm>
          <a:prstGeom prst="rect">
            <a:avLst/>
          </a:prstGeom>
          <a:noFill/>
          <a:ln/>
        </p:spPr>
        <p:txBody>
          <a:bodyPr wrap="square" lIns="0" tIns="0" rIns="0" bIns="0" rtlCol="0" anchor="t"/>
          <a:lstStyle/>
          <a:p>
            <a:pPr indent="0" marL="0">
              <a:buNone/>
            </a:pPr>
            <a:r>
              <a:rPr lang="en-US" sz="1250" dirty="0">
                <a:solidFill>
                  <a:srgbClr val="5F6F80"/>
                </a:solidFill>
              </a:rPr>
              <a:t>Define tools, let the model route</a:t>
            </a:r>
            <a:endParaRPr lang="en-US" sz="1250" dirty="0"/>
          </a:p>
        </p:txBody>
      </p:sp>
      <p:sp>
        <p:nvSpPr>
          <p:cNvPr id="21" name="Shape 19"/>
          <p:cNvSpPr/>
          <p:nvPr/>
        </p:nvSpPr>
        <p:spPr>
          <a:xfrm>
            <a:off x="6580022" y="2651760"/>
            <a:ext cx="158191" cy="0"/>
          </a:xfrm>
          <a:prstGeom prst="line">
            <a:avLst/>
          </a:prstGeom>
          <a:noFill/>
          <a:ln w="25400">
            <a:solidFill>
              <a:srgbClr val="D4824A"/>
            </a:solidFill>
            <a:prstDash val="solid"/>
            <a:tailEnd type="triangle"/>
          </a:ln>
        </p:spPr>
      </p:sp>
      <p:sp>
        <p:nvSpPr>
          <p:cNvPr id="22" name="Shape 20"/>
          <p:cNvSpPr/>
          <p:nvPr/>
        </p:nvSpPr>
        <p:spPr>
          <a:xfrm>
            <a:off x="6765646" y="1463040"/>
            <a:ext cx="1874520" cy="2377440"/>
          </a:xfrm>
          <a:prstGeom prst="roundRect">
            <a:avLst>
              <a:gd name="adj" fmla="val 4878"/>
            </a:avLst>
          </a:prstGeom>
          <a:solidFill>
            <a:srgbClr val="F4F6F9"/>
          </a:solidFill>
          <a:ln w="12700">
            <a:solidFill>
              <a:srgbClr val="F4F6F9"/>
            </a:solidFill>
            <a:prstDash val="solid"/>
          </a:ln>
        </p:spPr>
      </p:sp>
      <p:sp>
        <p:nvSpPr>
          <p:cNvPr id="23" name="Shape 21"/>
          <p:cNvSpPr/>
          <p:nvPr/>
        </p:nvSpPr>
        <p:spPr>
          <a:xfrm>
            <a:off x="6994246" y="1691640"/>
            <a:ext cx="502920" cy="502920"/>
          </a:xfrm>
          <a:prstGeom prst="ellipse">
            <a:avLst/>
          </a:prstGeom>
          <a:solidFill>
            <a:srgbClr val="1B2A4A"/>
          </a:solidFill>
          <a:ln w="12700">
            <a:solidFill>
              <a:srgbClr val="1B2A4A"/>
            </a:solidFill>
            <a:prstDash val="solid"/>
          </a:ln>
        </p:spPr>
      </p:sp>
      <p:sp>
        <p:nvSpPr>
          <p:cNvPr id="24" name="Text 22"/>
          <p:cNvSpPr txBox="1"/>
          <p:nvPr/>
        </p:nvSpPr>
        <p:spPr>
          <a:xfrm>
            <a:off x="6994246" y="1691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04</a:t>
            </a:r>
            <a:endParaRPr lang="en-US" sz="1500" dirty="0"/>
          </a:p>
        </p:txBody>
      </p:sp>
      <p:sp>
        <p:nvSpPr>
          <p:cNvPr id="25" name="Text 23"/>
          <p:cNvSpPr txBox="1"/>
          <p:nvPr/>
        </p:nvSpPr>
        <p:spPr>
          <a:xfrm>
            <a:off x="6994246" y="2377440"/>
            <a:ext cx="1508760" cy="594360"/>
          </a:xfrm>
          <a:prstGeom prst="rect">
            <a:avLst/>
          </a:prstGeom>
          <a:noFill/>
          <a:ln/>
        </p:spPr>
        <p:txBody>
          <a:bodyPr wrap="square" lIns="0" tIns="0" rIns="0" bIns="0" rtlCol="0" anchor="t"/>
          <a:lstStyle/>
          <a:p>
            <a:pPr indent="0" marL="0">
              <a:buNone/>
            </a:pPr>
            <a:r>
              <a:rPr lang="en-US" sz="1600" b="1" dirty="0">
                <a:solidFill>
                  <a:srgbClr val="1B2A4A"/>
                </a:solidFill>
              </a:rPr>
              <a:t>Safe Design &amp; Errors</a:t>
            </a:r>
            <a:endParaRPr lang="en-US" sz="1600" dirty="0"/>
          </a:p>
        </p:txBody>
      </p:sp>
      <p:sp>
        <p:nvSpPr>
          <p:cNvPr id="26" name="Text 24"/>
          <p:cNvSpPr txBox="1"/>
          <p:nvPr/>
        </p:nvSpPr>
        <p:spPr>
          <a:xfrm>
            <a:off x="6994246" y="3017520"/>
            <a:ext cx="1508760" cy="640080"/>
          </a:xfrm>
          <a:prstGeom prst="rect">
            <a:avLst/>
          </a:prstGeom>
          <a:noFill/>
          <a:ln/>
        </p:spPr>
        <p:txBody>
          <a:bodyPr wrap="square" lIns="0" tIns="0" rIns="0" bIns="0" rtlCol="0" anchor="t"/>
          <a:lstStyle/>
          <a:p>
            <a:pPr indent="0" marL="0">
              <a:buNone/>
            </a:pPr>
            <a:r>
              <a:rPr lang="en-US" sz="1250" dirty="0">
                <a:solidFill>
                  <a:srgbClr val="5F6F80"/>
                </a:solidFill>
              </a:rPr>
              <a:t>Safe schemas, permissions, retries</a:t>
            </a:r>
            <a:endParaRPr lang="en-US" sz="1250" dirty="0"/>
          </a:p>
        </p:txBody>
      </p:sp>
      <p:sp>
        <p:nvSpPr>
          <p:cNvPr id="27" name="Text 25"/>
          <p:cNvSpPr txBox="1"/>
          <p:nvPr/>
        </p:nvSpPr>
        <p:spPr>
          <a:xfrm>
            <a:off x="502920" y="4114800"/>
            <a:ext cx="8138160" cy="320040"/>
          </a:xfrm>
          <a:prstGeom prst="rect">
            <a:avLst/>
          </a:prstGeom>
          <a:noFill/>
          <a:ln/>
        </p:spPr>
        <p:txBody>
          <a:bodyPr wrap="square" lIns="0" tIns="0" rIns="0" bIns="0" rtlCol="0" anchor="ctr"/>
          <a:lstStyle/>
          <a:p>
            <a:pPr indent="0" marL="0">
              <a:buNone/>
            </a:pPr>
            <a:r>
              <a:rPr lang="en-US" sz="1300" i="1" dirty="0">
                <a:solidFill>
                  <a:srgbClr val="5F6F80"/>
                </a:solidFill>
              </a:rPr>
              <a:t>From basic structured output to safe, robust tool-enabled systems.</a:t>
            </a:r>
            <a:endParaRPr lang="en-US" sz="130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STRUCTURED OUTPUTS  ·  1 OF 3</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JSON Mode</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Turn on JSON mode</a:t>
            </a:r>
            <a:endParaRPr lang="en-US" sz="1500" dirty="0"/>
          </a:p>
          <a:p>
            <a:pPr indent="0" marL="0">
              <a:spcAft>
                <a:spcPts val="200"/>
              </a:spcAft>
              <a:buNone/>
            </a:pPr>
            <a:r>
              <a:rPr lang="en-US" sz="1200" dirty="0">
                <a:solidFill>
                  <a:srgbClr val="5F6F80"/>
                </a:solidFill>
              </a:rPr>
              <a:t>response_format={"type": "json_object"}</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Describe the fields in the prompt</a:t>
            </a:r>
            <a:endParaRPr lang="en-US" sz="1500" dirty="0"/>
          </a:p>
          <a:p>
            <a:pPr indent="0" marL="0">
              <a:spcAft>
                <a:spcPts val="200"/>
              </a:spcAft>
              <a:buNone/>
            </a:pPr>
            <a:r>
              <a:rPr lang="en-US" sz="1200" dirty="0">
                <a:solidFill>
                  <a:srgbClr val="5F6F80"/>
                </a:solidFill>
              </a:rPr>
              <a:t>Otherwise keys are arbitrary</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Output is always valid JSON</a:t>
            </a:r>
            <a:endParaRPr lang="en-US" sz="1500" dirty="0"/>
          </a:p>
          <a:p>
            <a:pPr indent="0" marL="0">
              <a:spcAft>
                <a:spcPts val="200"/>
              </a:spcAft>
              <a:buNone/>
            </a:pPr>
            <a:r>
              <a:rPr lang="en-US" sz="1200" dirty="0">
                <a:solidFill>
                  <a:srgbClr val="5F6F80"/>
                </a:solidFill>
              </a:rPr>
              <a:t>The decoder is constrained</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Parse it with json.loads()</a:t>
            </a:r>
            <a:endParaRPr lang="en-US" sz="1500" dirty="0"/>
          </a:p>
          <a:p>
            <a:pPr indent="0" marL="0">
              <a:spcAft>
                <a:spcPts val="200"/>
              </a:spcAft>
              <a:buNone/>
            </a:pPr>
            <a:r>
              <a:rPr lang="en-US" sz="1200" dirty="0">
                <a:solidFill>
                  <a:srgbClr val="5F6F80"/>
                </a:solidFill>
              </a:rPr>
              <a:t>Now it's a Python dict</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indent="0" marL="0">
              <a:buNone/>
            </a:pPr>
            <a:r>
              <a:rPr lang="en-US" sz="1000" b="1" spc="200" kern="0" dirty="0">
                <a:solidFill>
                  <a:srgbClr val="D4824A"/>
                </a:solidFill>
              </a:rPr>
              <a:t>KEY POINT  </a:t>
            </a:r>
            <a:pPr indent="0" marL="0">
              <a:buNone/>
            </a:pPr>
            <a:r>
              <a:rPr lang="en-US" sz="1300" dirty="0">
                <a:solidFill>
                  <a:srgbClr val="1B2A4A"/>
                </a:solidFill>
              </a:rPr>
              <a:t>Valid JSON is not the same as correct JSON. Pair JSON mode with a schema.</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indent="0" marL="0">
              <a:buNone/>
            </a:pPr>
            <a:r>
              <a:rPr lang="en-US" sz="900" b="1" spc="200" kern="0" dirty="0">
                <a:solidFill>
                  <a:srgbClr val="D4824A"/>
                </a:solidFill>
              </a:rPr>
              <a:t>EXAMPLE  </a:t>
            </a:r>
            <a:pPr indent="0" marL="0">
              <a:buNone/>
            </a:pPr>
            <a:r>
              <a:rPr lang="en-US" sz="1200" b="1" dirty="0">
                <a:solidFill>
                  <a:srgbClr val="FFFFFF"/>
                </a:solidFill>
              </a:rPr>
              <a:t>A simple JSON mode call (demo 01)</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response = client.chat.completions.create(</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model="gpt-4o-mini",</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messages=[{"role": "user",</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"content": prompt}],</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response_format={</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"type": "json_object"},</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data = json.loads(</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response.choices[0].message.content)</a:t>
            </a:r>
            <a:endParaRPr lang="en-US" sz="1050" dirty="0"/>
          </a:p>
          <a:p>
            <a:pPr indent="0" marL="0">
              <a:lnSpc>
                <a:spcPct val="100000"/>
              </a:lnSpc>
              <a:buNone/>
            </a:pP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{"customer": "Sarah",</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"issue": "charged twice", ...}</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STRUCTURED OUTPUTS  ·  2 OF 3</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Response Schemas with LangChain</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Define a Pydantic class</a:t>
            </a:r>
            <a:endParaRPr lang="en-US" sz="1500" dirty="0"/>
          </a:p>
          <a:p>
            <a:pPr indent="0" marL="0">
              <a:spcAft>
                <a:spcPts val="200"/>
              </a:spcAft>
              <a:buNone/>
            </a:pPr>
            <a:r>
              <a:rPr lang="en-US" sz="1200" dirty="0">
                <a:solidFill>
                  <a:srgbClr val="5F6F80"/>
                </a:solidFill>
              </a:rPr>
              <a:t>Field descriptions are hints to the model</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Bind it: with_structured_output()</a:t>
            </a:r>
            <a:endParaRPr lang="en-US" sz="1500" dirty="0"/>
          </a:p>
          <a:p>
            <a:pPr indent="0" marL="0">
              <a:spcAft>
                <a:spcPts val="200"/>
              </a:spcAft>
              <a:buNone/>
            </a:pPr>
            <a:r>
              <a:rPr lang="en-US" sz="1200" dirty="0">
                <a:solidFill>
                  <a:srgbClr val="5F6F80"/>
                </a:solidFill>
              </a:rPr>
              <a:t>LangChain turns it into a tool schema</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Invoke: get a typed object back</a:t>
            </a:r>
            <a:endParaRPr lang="en-US" sz="1500" dirty="0"/>
          </a:p>
          <a:p>
            <a:pPr indent="0" marL="0">
              <a:spcAft>
                <a:spcPts val="200"/>
              </a:spcAft>
              <a:buNone/>
            </a:pPr>
            <a:r>
              <a:rPr lang="en-US" sz="1200" dirty="0">
                <a:solidFill>
                  <a:srgbClr val="5F6F80"/>
                </a:solidFill>
              </a:rPr>
              <a:t>No JSON parsing, no .content</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Use fields as attributes</a:t>
            </a:r>
            <a:endParaRPr lang="en-US" sz="1500" dirty="0"/>
          </a:p>
          <a:p>
            <a:pPr indent="0" marL="0">
              <a:spcAft>
                <a:spcPts val="200"/>
              </a:spcAft>
              <a:buNone/>
            </a:pPr>
            <a:r>
              <a:rPr lang="en-US" sz="1200" dirty="0">
                <a:solidFill>
                  <a:srgbClr val="5F6F80"/>
                </a:solidFill>
              </a:rPr>
              <a:t>result.sentiment, result.score</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indent="0" marL="0">
              <a:buNone/>
            </a:pPr>
            <a:r>
              <a:rPr lang="en-US" sz="1000" b="1" spc="200" kern="0" dirty="0">
                <a:solidFill>
                  <a:srgbClr val="D4824A"/>
                </a:solidFill>
              </a:rPr>
              <a:t>KEY POINT  </a:t>
            </a:r>
            <a:pPr indent="0" marL="0">
              <a:buNone/>
            </a:pPr>
            <a:r>
              <a:rPr lang="en-US" sz="1300" dirty="0">
                <a:solidFill>
                  <a:srgbClr val="1B2A4A"/>
                </a:solidFill>
              </a:rPr>
              <a:t>Prefer this over raw JSON mode whenever you control the schema.</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indent="0" marL="0">
              <a:buNone/>
            </a:pPr>
            <a:r>
              <a:rPr lang="en-US" sz="900" b="1" spc="200" kern="0" dirty="0">
                <a:solidFill>
                  <a:srgbClr val="D4824A"/>
                </a:solidFill>
              </a:rPr>
              <a:t>EXAMPLE  </a:t>
            </a:r>
            <a:pPr indent="0" marL="0">
              <a:buNone/>
            </a:pPr>
            <a:r>
              <a:rPr lang="en-US" sz="1200" b="1" dirty="0">
                <a:solidFill>
                  <a:srgbClr val="FFFFFF"/>
                </a:solidFill>
              </a:rPr>
              <a:t>Binding a schema (demo 02)</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class Review(BaseModel):</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sentiment: str = Field(</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description="pos | neg | neutral")</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score: int = Field(description="1-10")</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summary: str</a:t>
            </a:r>
            <a:endParaRPr lang="en-US" sz="1050" dirty="0"/>
          </a:p>
          <a:p>
            <a:pPr indent="0" marL="0">
              <a:lnSpc>
                <a:spcPct val="100000"/>
              </a:lnSpc>
              <a:buNone/>
            </a:pP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llm = ChatOpenAI(model="gpt-4o-mini")</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structured = llm.with_structured_output(</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Review)</a:t>
            </a:r>
            <a:endParaRPr lang="en-US" sz="1050" dirty="0"/>
          </a:p>
          <a:p>
            <a:pPr indent="0" marL="0">
              <a:lnSpc>
                <a:spcPct val="100000"/>
              </a:lnSpc>
              <a:buNone/>
            </a:pP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result = structured.invoke(</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"The product was fantastic!")</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result.sentiment   # "positive"</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result.score       # 9</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STRUCTURED OUTPUTS  ·  3 OF 3</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Structured Data Extraction</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List the fields you need</a:t>
            </a:r>
            <a:endParaRPr lang="en-US" sz="1500" dirty="0"/>
          </a:p>
          <a:p>
            <a:pPr indent="0" marL="0">
              <a:spcAft>
                <a:spcPts val="200"/>
              </a:spcAft>
              <a:buNone/>
            </a:pPr>
            <a:r>
              <a:rPr lang="en-US" sz="1200" dirty="0">
                <a:solidFill>
                  <a:srgbClr val="5F6F80"/>
                </a:solidFill>
              </a:rPr>
              <a:t>One Pydantic field per item</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Describe each field clearly</a:t>
            </a:r>
            <a:endParaRPr lang="en-US" sz="1500" dirty="0"/>
          </a:p>
          <a:p>
            <a:pPr indent="0" marL="0">
              <a:spcAft>
                <a:spcPts val="200"/>
              </a:spcAft>
              <a:buNone/>
            </a:pPr>
            <a:r>
              <a:rPr lang="en-US" sz="1200" dirty="0">
                <a:solidFill>
                  <a:srgbClr val="5F6F80"/>
                </a:solidFill>
              </a:rPr>
              <a:t>e.g. "invoice total in USD"</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Run with_structured_output()</a:t>
            </a:r>
            <a:endParaRPr lang="en-US" sz="1500" dirty="0"/>
          </a:p>
          <a:p>
            <a:pPr indent="0" marL="0">
              <a:spcAft>
                <a:spcPts val="200"/>
              </a:spcAft>
              <a:buNone/>
            </a:pPr>
            <a:r>
              <a:rPr lang="en-US" sz="1200" dirty="0">
                <a:solidFill>
                  <a:srgbClr val="5F6F80"/>
                </a:solidFill>
              </a:rPr>
              <a:t>The model fills what it finds</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Make optional fields Optional</a:t>
            </a:r>
            <a:endParaRPr lang="en-US" sz="1500" dirty="0"/>
          </a:p>
          <a:p>
            <a:pPr indent="0" marL="0">
              <a:spcAft>
                <a:spcPts val="200"/>
              </a:spcAft>
              <a:buNone/>
            </a:pPr>
            <a:r>
              <a:rPr lang="en-US" sz="1200" dirty="0">
                <a:solidFill>
                  <a:srgbClr val="5F6F80"/>
                </a:solidFill>
              </a:rPr>
              <a:t>Missing values come back as None</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indent="0" marL="0">
              <a:buNone/>
            </a:pPr>
            <a:r>
              <a:rPr lang="en-US" sz="1000" b="1" spc="200" kern="0" dirty="0">
                <a:solidFill>
                  <a:srgbClr val="D4824A"/>
                </a:solidFill>
              </a:rPr>
              <a:t>KEY POINT  </a:t>
            </a:r>
            <a:pPr indent="0" marL="0">
              <a:buNone/>
            </a:pPr>
            <a:r>
              <a:rPr lang="en-US" sz="1300" dirty="0">
                <a:solidFill>
                  <a:srgbClr val="1B2A4A"/>
                </a:solidFill>
              </a:rPr>
              <a:t>Field(description=...) is what the model reads when filling each field.</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indent="0" marL="0">
              <a:buNone/>
            </a:pPr>
            <a:r>
              <a:rPr lang="en-US" sz="900" b="1" spc="200" kern="0" dirty="0">
                <a:solidFill>
                  <a:srgbClr val="D4824A"/>
                </a:solidFill>
              </a:rPr>
              <a:t>EXAMPLE  </a:t>
            </a:r>
            <a:pPr indent="0" marL="0">
              <a:buNone/>
            </a:pPr>
            <a:r>
              <a:rPr lang="en-US" sz="1200" b="1" dirty="0">
                <a:solidFill>
                  <a:srgbClr val="FFFFFF"/>
                </a:solidFill>
              </a:rPr>
              <a:t>Extracting from a support ticket</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class Ticket(BaseModel):</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customer_name: Optional[str] = None</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issue_type: str = Field(description=</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"billing, technical or other")</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urgency: str = Field(description=</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"low, medium or high")</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product: Optional[str] = None</a:t>
            </a:r>
            <a:endParaRPr lang="en-US" sz="1050" dirty="0"/>
          </a:p>
          <a:p>
            <a:pPr indent="0" marL="0">
              <a:lnSpc>
                <a:spcPct val="100000"/>
              </a:lnSpc>
              <a:buNone/>
            </a:pP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extractor = llm.with_structured_output(</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Ticket)</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result = extractor.invoke(ticket_text)</a:t>
            </a:r>
            <a:endParaRPr lang="en-US" sz="1050" dirty="0"/>
          </a:p>
          <a:p>
            <a:pPr indent="0" marL="0">
              <a:lnSpc>
                <a:spcPct val="100000"/>
              </a:lnSpc>
              <a:buNone/>
            </a:pP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customer_name='Sarah',</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issue_type='billing', urgency='high'</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PYDANTIC VALIDATION  ·  1 OF 2</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Pydantic: Three Roles in an LLM Pipeline</a:t>
            </a:r>
            <a:endParaRPr lang="en-US" sz="2800" dirty="0"/>
          </a:p>
        </p:txBody>
      </p:sp>
      <p:sp>
        <p:nvSpPr>
          <p:cNvPr id="4" name="Shape 2"/>
          <p:cNvSpPr/>
          <p:nvPr/>
        </p:nvSpPr>
        <p:spPr>
          <a:xfrm>
            <a:off x="502920" y="1417320"/>
            <a:ext cx="2377440" cy="2148840"/>
          </a:xfrm>
          <a:prstGeom prst="roundRect">
            <a:avLst>
              <a:gd name="adj" fmla="val 4255"/>
            </a:avLst>
          </a:prstGeom>
          <a:solidFill>
            <a:srgbClr val="F4F6F9"/>
          </a:solidFill>
          <a:ln w="12700">
            <a:solidFill>
              <a:srgbClr val="F4F6F9"/>
            </a:solidFill>
            <a:prstDash val="solid"/>
          </a:ln>
        </p:spPr>
      </p:sp>
      <p:sp>
        <p:nvSpPr>
          <p:cNvPr id="5" name="Shape 3"/>
          <p:cNvSpPr/>
          <p:nvPr/>
        </p:nvSpPr>
        <p:spPr>
          <a:xfrm>
            <a:off x="1417320" y="1645920"/>
            <a:ext cx="548640" cy="548640"/>
          </a:xfrm>
          <a:prstGeom prst="ellipse">
            <a:avLst/>
          </a:prstGeom>
          <a:solidFill>
            <a:srgbClr val="D4824A"/>
          </a:solidFill>
          <a:ln w="12700">
            <a:solidFill>
              <a:srgbClr val="D4824A"/>
            </a:solidFill>
            <a:prstDash val="solid"/>
          </a:ln>
        </p:spPr>
      </p:sp>
      <p:sp>
        <p:nvSpPr>
          <p:cNvPr id="6" name="Text 4"/>
          <p:cNvSpPr txBox="1"/>
          <p:nvPr/>
        </p:nvSpPr>
        <p:spPr>
          <a:xfrm>
            <a:off x="1417320" y="1645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Text 5"/>
          <p:cNvSpPr txBox="1"/>
          <p:nvPr/>
        </p:nvSpPr>
        <p:spPr>
          <a:xfrm>
            <a:off x="685800" y="2331720"/>
            <a:ext cx="2011680" cy="365760"/>
          </a:xfrm>
          <a:prstGeom prst="rect">
            <a:avLst/>
          </a:prstGeom>
          <a:noFill/>
          <a:ln/>
        </p:spPr>
        <p:txBody>
          <a:bodyPr wrap="square" lIns="0" tIns="0" rIns="0" bIns="0" rtlCol="0" anchor="ctr"/>
          <a:lstStyle/>
          <a:p>
            <a:pPr algn="ctr" indent="0" marL="0">
              <a:buNone/>
            </a:pPr>
            <a:r>
              <a:rPr lang="en-US" sz="1800" b="1" dirty="0">
                <a:solidFill>
                  <a:srgbClr val="1B2A4A"/>
                </a:solidFill>
              </a:rPr>
              <a:t>Schema</a:t>
            </a:r>
            <a:endParaRPr lang="en-US" sz="1800" dirty="0"/>
          </a:p>
        </p:txBody>
      </p:sp>
      <p:sp>
        <p:nvSpPr>
          <p:cNvPr id="8" name="Text 6"/>
          <p:cNvSpPr txBox="1"/>
          <p:nvPr/>
        </p:nvSpPr>
        <p:spPr>
          <a:xfrm>
            <a:off x="685800" y="2743200"/>
            <a:ext cx="2011680" cy="640080"/>
          </a:xfrm>
          <a:prstGeom prst="rect">
            <a:avLst/>
          </a:prstGeom>
          <a:noFill/>
          <a:ln/>
        </p:spPr>
        <p:txBody>
          <a:bodyPr wrap="square" lIns="0" tIns="0" rIns="0" bIns="0" rtlCol="0" anchor="t"/>
          <a:lstStyle/>
          <a:p>
            <a:pPr algn="ctr" indent="0" marL="0">
              <a:buNone/>
            </a:pPr>
            <a:r>
              <a:rPr lang="en-US" sz="1300" dirty="0">
                <a:solidFill>
                  <a:srgbClr val="5F6F80"/>
                </a:solidFill>
              </a:rPr>
              <a:t>Defines the shape the model must return</a:t>
            </a:r>
            <a:endParaRPr lang="en-US" sz="1300" dirty="0"/>
          </a:p>
        </p:txBody>
      </p:sp>
      <p:sp>
        <p:nvSpPr>
          <p:cNvPr id="9" name="Shape 7"/>
          <p:cNvSpPr/>
          <p:nvPr/>
        </p:nvSpPr>
        <p:spPr>
          <a:xfrm>
            <a:off x="2953512" y="2487168"/>
            <a:ext cx="356616" cy="0"/>
          </a:xfrm>
          <a:prstGeom prst="line">
            <a:avLst/>
          </a:prstGeom>
          <a:noFill/>
          <a:ln w="25400">
            <a:solidFill>
              <a:srgbClr val="D4824A"/>
            </a:solidFill>
            <a:prstDash val="solid"/>
            <a:tailEnd type="triangle"/>
          </a:ln>
        </p:spPr>
      </p:sp>
      <p:sp>
        <p:nvSpPr>
          <p:cNvPr id="10" name="Shape 8"/>
          <p:cNvSpPr/>
          <p:nvPr/>
        </p:nvSpPr>
        <p:spPr>
          <a:xfrm>
            <a:off x="3383280" y="1417320"/>
            <a:ext cx="2377440" cy="2148840"/>
          </a:xfrm>
          <a:prstGeom prst="roundRect">
            <a:avLst>
              <a:gd name="adj" fmla="val 4255"/>
            </a:avLst>
          </a:prstGeom>
          <a:solidFill>
            <a:srgbClr val="F4F6F9"/>
          </a:solidFill>
          <a:ln w="12700">
            <a:solidFill>
              <a:srgbClr val="F4F6F9"/>
            </a:solidFill>
            <a:prstDash val="solid"/>
          </a:ln>
        </p:spPr>
      </p:sp>
      <p:sp>
        <p:nvSpPr>
          <p:cNvPr id="11" name="Shape 9"/>
          <p:cNvSpPr/>
          <p:nvPr/>
        </p:nvSpPr>
        <p:spPr>
          <a:xfrm>
            <a:off x="4297680" y="1645920"/>
            <a:ext cx="548640" cy="548640"/>
          </a:xfrm>
          <a:prstGeom prst="ellipse">
            <a:avLst/>
          </a:prstGeom>
          <a:solidFill>
            <a:srgbClr val="D4824A"/>
          </a:solidFill>
          <a:ln w="12700">
            <a:solidFill>
              <a:srgbClr val="D4824A"/>
            </a:solidFill>
            <a:prstDash val="solid"/>
          </a:ln>
        </p:spPr>
      </p:sp>
      <p:sp>
        <p:nvSpPr>
          <p:cNvPr id="12" name="Text 10"/>
          <p:cNvSpPr txBox="1"/>
          <p:nvPr/>
        </p:nvSpPr>
        <p:spPr>
          <a:xfrm>
            <a:off x="4297680" y="1645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Text 11"/>
          <p:cNvSpPr txBox="1"/>
          <p:nvPr/>
        </p:nvSpPr>
        <p:spPr>
          <a:xfrm>
            <a:off x="3566160" y="2331720"/>
            <a:ext cx="2011680" cy="365760"/>
          </a:xfrm>
          <a:prstGeom prst="rect">
            <a:avLst/>
          </a:prstGeom>
          <a:noFill/>
          <a:ln/>
        </p:spPr>
        <p:txBody>
          <a:bodyPr wrap="square" lIns="0" tIns="0" rIns="0" bIns="0" rtlCol="0" anchor="ctr"/>
          <a:lstStyle/>
          <a:p>
            <a:pPr algn="ctr" indent="0" marL="0">
              <a:buNone/>
            </a:pPr>
            <a:r>
              <a:rPr lang="en-US" sz="1800" b="1" dirty="0">
                <a:solidFill>
                  <a:srgbClr val="1B2A4A"/>
                </a:solidFill>
              </a:rPr>
              <a:t>Validator</a:t>
            </a:r>
            <a:endParaRPr lang="en-US" sz="1800" dirty="0"/>
          </a:p>
        </p:txBody>
      </p:sp>
      <p:sp>
        <p:nvSpPr>
          <p:cNvPr id="14" name="Text 12"/>
          <p:cNvSpPr txBox="1"/>
          <p:nvPr/>
        </p:nvSpPr>
        <p:spPr>
          <a:xfrm>
            <a:off x="3566160" y="2743200"/>
            <a:ext cx="2011680" cy="640080"/>
          </a:xfrm>
          <a:prstGeom prst="rect">
            <a:avLst/>
          </a:prstGeom>
          <a:noFill/>
          <a:ln/>
        </p:spPr>
        <p:txBody>
          <a:bodyPr wrap="square" lIns="0" tIns="0" rIns="0" bIns="0" rtlCol="0" anchor="t"/>
          <a:lstStyle/>
          <a:p>
            <a:pPr algn="ctr" indent="0" marL="0">
              <a:buNone/>
            </a:pPr>
            <a:r>
              <a:rPr lang="en-US" sz="1300" dirty="0">
                <a:solidFill>
                  <a:srgbClr val="5F6F80"/>
                </a:solidFill>
              </a:rPr>
              <a:t>Checks types, required fields and limits</a:t>
            </a:r>
            <a:endParaRPr lang="en-US" sz="1300" dirty="0"/>
          </a:p>
        </p:txBody>
      </p:sp>
      <p:sp>
        <p:nvSpPr>
          <p:cNvPr id="15" name="Shape 13"/>
          <p:cNvSpPr/>
          <p:nvPr/>
        </p:nvSpPr>
        <p:spPr>
          <a:xfrm>
            <a:off x="5833872" y="2487168"/>
            <a:ext cx="356616" cy="0"/>
          </a:xfrm>
          <a:prstGeom prst="line">
            <a:avLst/>
          </a:prstGeom>
          <a:noFill/>
          <a:ln w="25400">
            <a:solidFill>
              <a:srgbClr val="D4824A"/>
            </a:solidFill>
            <a:prstDash val="solid"/>
            <a:tailEnd type="triangle"/>
          </a:ln>
        </p:spPr>
      </p:sp>
      <p:sp>
        <p:nvSpPr>
          <p:cNvPr id="16" name="Shape 14"/>
          <p:cNvSpPr/>
          <p:nvPr/>
        </p:nvSpPr>
        <p:spPr>
          <a:xfrm>
            <a:off x="6263640" y="1417320"/>
            <a:ext cx="2377440" cy="2148840"/>
          </a:xfrm>
          <a:prstGeom prst="roundRect">
            <a:avLst>
              <a:gd name="adj" fmla="val 4255"/>
            </a:avLst>
          </a:prstGeom>
          <a:solidFill>
            <a:srgbClr val="F4F6F9"/>
          </a:solidFill>
          <a:ln w="12700">
            <a:solidFill>
              <a:srgbClr val="F4F6F9"/>
            </a:solidFill>
            <a:prstDash val="solid"/>
          </a:ln>
        </p:spPr>
      </p:sp>
      <p:sp>
        <p:nvSpPr>
          <p:cNvPr id="17" name="Shape 15"/>
          <p:cNvSpPr/>
          <p:nvPr/>
        </p:nvSpPr>
        <p:spPr>
          <a:xfrm>
            <a:off x="7178040" y="1645920"/>
            <a:ext cx="548640" cy="548640"/>
          </a:xfrm>
          <a:prstGeom prst="ellipse">
            <a:avLst/>
          </a:prstGeom>
          <a:solidFill>
            <a:srgbClr val="D4824A"/>
          </a:solidFill>
          <a:ln w="12700">
            <a:solidFill>
              <a:srgbClr val="D4824A"/>
            </a:solidFill>
            <a:prstDash val="solid"/>
          </a:ln>
        </p:spPr>
      </p:sp>
      <p:sp>
        <p:nvSpPr>
          <p:cNvPr id="18" name="Text 16"/>
          <p:cNvSpPr txBox="1"/>
          <p:nvPr/>
        </p:nvSpPr>
        <p:spPr>
          <a:xfrm>
            <a:off x="7178040" y="1645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9" name="Text 17"/>
          <p:cNvSpPr txBox="1"/>
          <p:nvPr/>
        </p:nvSpPr>
        <p:spPr>
          <a:xfrm>
            <a:off x="6446520" y="2331720"/>
            <a:ext cx="2011680" cy="365760"/>
          </a:xfrm>
          <a:prstGeom prst="rect">
            <a:avLst/>
          </a:prstGeom>
          <a:noFill/>
          <a:ln/>
        </p:spPr>
        <p:txBody>
          <a:bodyPr wrap="square" lIns="0" tIns="0" rIns="0" bIns="0" rtlCol="0" anchor="ctr"/>
          <a:lstStyle/>
          <a:p>
            <a:pPr algn="ctr" indent="0" marL="0">
              <a:buNone/>
            </a:pPr>
            <a:r>
              <a:rPr lang="en-US" sz="1800" b="1" dirty="0">
                <a:solidFill>
                  <a:srgbClr val="1B2A4A"/>
                </a:solidFill>
              </a:rPr>
              <a:t>Safety net</a:t>
            </a:r>
            <a:endParaRPr lang="en-US" sz="1800" dirty="0"/>
          </a:p>
        </p:txBody>
      </p:sp>
      <p:sp>
        <p:nvSpPr>
          <p:cNvPr id="20" name="Text 18"/>
          <p:cNvSpPr txBox="1"/>
          <p:nvPr/>
        </p:nvSpPr>
        <p:spPr>
          <a:xfrm>
            <a:off x="6446520" y="2743200"/>
            <a:ext cx="2011680" cy="640080"/>
          </a:xfrm>
          <a:prstGeom prst="rect">
            <a:avLst/>
          </a:prstGeom>
          <a:noFill/>
          <a:ln/>
        </p:spPr>
        <p:txBody>
          <a:bodyPr wrap="square" lIns="0" tIns="0" rIns="0" bIns="0" rtlCol="0" anchor="t"/>
          <a:lstStyle/>
          <a:p>
            <a:pPr algn="ctr" indent="0" marL="0">
              <a:buNone/>
            </a:pPr>
            <a:r>
              <a:rPr lang="en-US" sz="1300" dirty="0">
                <a:solidFill>
                  <a:srgbClr val="5F6F80"/>
                </a:solidFill>
              </a:rPr>
              <a:t>Raises ValidationError you can catch and retry</a:t>
            </a:r>
            <a:endParaRPr lang="en-US" sz="1300" dirty="0"/>
          </a:p>
        </p:txBody>
      </p:sp>
      <p:sp>
        <p:nvSpPr>
          <p:cNvPr id="21" name="Shape 19"/>
          <p:cNvSpPr/>
          <p:nvPr/>
        </p:nvSpPr>
        <p:spPr>
          <a:xfrm>
            <a:off x="502920" y="3840480"/>
            <a:ext cx="8138160" cy="594360"/>
          </a:xfrm>
          <a:prstGeom prst="roundRect">
            <a:avLst>
              <a:gd name="adj" fmla="val 12308"/>
            </a:avLst>
          </a:prstGeom>
          <a:solidFill>
            <a:srgbClr val="FBEFE6"/>
          </a:solidFill>
          <a:ln w="12700">
            <a:solidFill>
              <a:srgbClr val="FBEFE6"/>
            </a:solidFill>
            <a:prstDash val="solid"/>
          </a:ln>
        </p:spPr>
      </p:sp>
      <p:sp>
        <p:nvSpPr>
          <p:cNvPr id="22" name="Text 20"/>
          <p:cNvSpPr txBox="1"/>
          <p:nvPr/>
        </p:nvSpPr>
        <p:spPr>
          <a:xfrm>
            <a:off x="667512" y="3840480"/>
            <a:ext cx="7808976" cy="594360"/>
          </a:xfrm>
          <a:prstGeom prst="rect">
            <a:avLst/>
          </a:prstGeom>
          <a:noFill/>
          <a:ln/>
        </p:spPr>
        <p:txBody>
          <a:bodyPr wrap="square" lIns="0" tIns="0" rIns="0" bIns="0" rtlCol="0" anchor="ctr"/>
          <a:lstStyle/>
          <a:p>
            <a:pPr indent="0" marL="0">
              <a:buNone/>
            </a:pPr>
            <a:r>
              <a:rPr lang="en-US" sz="1000" b="1" spc="200" kern="0" dirty="0">
                <a:solidFill>
                  <a:srgbClr val="D4824A"/>
                </a:solidFill>
              </a:rPr>
              <a:t>KEY POINT  </a:t>
            </a:r>
            <a:pPr indent="0" marL="0">
              <a:buNone/>
            </a:pPr>
            <a:r>
              <a:rPr lang="en-US" sz="1300" dirty="0">
                <a:solidFill>
                  <a:srgbClr val="1B2A4A"/>
                </a:solidFill>
              </a:rPr>
              <a:t>One Pydantic class does all three jobs. No separate JSON Schema to write.</a:t>
            </a:r>
            <a:endParaRPr lang="en-US" sz="100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PYDANTIC VALIDATION  ·  2 OF 2</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Validators and Constraints</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Bounds: Field(ge=1, le=5)</a:t>
            </a:r>
            <a:endParaRPr lang="en-US" sz="1500" dirty="0"/>
          </a:p>
          <a:p>
            <a:pPr indent="0" marL="0">
              <a:spcAft>
                <a:spcPts val="200"/>
              </a:spcAft>
              <a:buNone/>
            </a:pPr>
            <a:r>
              <a:rPr lang="en-US" sz="1200" dirty="0">
                <a:solidFill>
                  <a:srgbClr val="5F6F80"/>
                </a:solidFill>
              </a:rPr>
              <a:t>Rejects a score of 0 or 100</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Allowed values: Literal[...]</a:t>
            </a:r>
            <a:endParaRPr lang="en-US" sz="1500" dirty="0"/>
          </a:p>
          <a:p>
            <a:pPr indent="0" marL="0">
              <a:spcAft>
                <a:spcPts val="200"/>
              </a:spcAft>
              <a:buNone/>
            </a:pPr>
            <a:r>
              <a:rPr lang="en-US" sz="1200" dirty="0">
                <a:solidFill>
                  <a:srgbClr val="5F6F80"/>
                </a:solidFill>
              </a:rPr>
              <a:t>The model must pick from your list</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Custom rules: @field_validator</a:t>
            </a:r>
            <a:endParaRPr lang="en-US" sz="1500" dirty="0"/>
          </a:p>
          <a:p>
            <a:pPr indent="0" marL="0">
              <a:spcAft>
                <a:spcPts val="200"/>
              </a:spcAft>
              <a:buNone/>
            </a:pPr>
            <a:r>
              <a:rPr lang="en-US" sz="1200" dirty="0">
                <a:solidFill>
                  <a:srgbClr val="5F6F80"/>
                </a:solidFill>
              </a:rPr>
              <a:t>e.g. end_date &gt; start_date</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Catch ValidationError</a:t>
            </a:r>
            <a:endParaRPr lang="en-US" sz="1500" dirty="0"/>
          </a:p>
          <a:p>
            <a:pPr indent="0" marL="0">
              <a:spcAft>
                <a:spcPts val="200"/>
              </a:spcAft>
              <a:buNone/>
            </a:pPr>
            <a:r>
              <a:rPr lang="en-US" sz="1200" dirty="0">
                <a:solidFill>
                  <a:srgbClr val="5F6F80"/>
                </a:solidFill>
              </a:rPr>
              <a:t>Log it, retry, or fall back</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indent="0" marL="0">
              <a:buNone/>
            </a:pPr>
            <a:r>
              <a:rPr lang="en-US" sz="1000" b="1" spc="200" kern="0" dirty="0">
                <a:solidFill>
                  <a:srgbClr val="D4824A"/>
                </a:solidFill>
              </a:rPr>
              <a:t>KEY POINT  </a:t>
            </a:r>
            <a:pPr indent="0" marL="0">
              <a:buNone/>
            </a:pPr>
            <a:r>
              <a:rPr lang="en-US" sz="1300" dirty="0">
                <a:solidFill>
                  <a:srgbClr val="1B2A4A"/>
                </a:solidFill>
              </a:rPr>
              <a:t>ValidationError tells you exactly which field failed and why.</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indent="0" marL="0">
              <a:buNone/>
            </a:pPr>
            <a:r>
              <a:rPr lang="en-US" sz="900" b="1" spc="200" kern="0" dirty="0">
                <a:solidFill>
                  <a:srgbClr val="D4824A"/>
                </a:solidFill>
              </a:rPr>
              <a:t>EXAMPLE  </a:t>
            </a:r>
            <a:pPr indent="0" marL="0">
              <a:buNone/>
            </a:pPr>
            <a:r>
              <a:rPr lang="en-US" sz="1200" b="1" dirty="0">
                <a:solidFill>
                  <a:srgbClr val="FFFFFF"/>
                </a:solidFill>
              </a:rPr>
              <a:t>Catching a bad model response</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class Rating(BaseModel):</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score: int = Field(ge=1, le=5)</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category: Literal[</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"product", "service", "shipping"]</a:t>
            </a:r>
            <a:endParaRPr lang="en-US" sz="1050" dirty="0"/>
          </a:p>
          <a:p>
            <a:pPr indent="0" marL="0">
              <a:lnSpc>
                <a:spcPct val="100000"/>
              </a:lnSpc>
              <a:buNone/>
            </a:pP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try:</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Rating.model_validate(</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{"score": 7, "category": "product"})</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except ValidationError as e:</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print(e)</a:t>
            </a:r>
            <a:endParaRPr lang="en-US" sz="1050" dirty="0"/>
          </a:p>
          <a:p>
            <a:pPr indent="0" marL="0">
              <a:lnSpc>
                <a:spcPct val="100000"/>
              </a:lnSpc>
              <a:buNone/>
            </a:pP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score: Input should be less than</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or equal to 5</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FUNCTION CALLING &amp; TOOL USE  ·  1 OF 3</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How Function Calling Works</a:t>
            </a:r>
            <a:endParaRPr lang="en-US" sz="2800" dirty="0"/>
          </a:p>
        </p:txBody>
      </p:sp>
      <p:sp>
        <p:nvSpPr>
          <p:cNvPr id="4" name="Shape 2"/>
          <p:cNvSpPr/>
          <p:nvPr/>
        </p:nvSpPr>
        <p:spPr>
          <a:xfrm>
            <a:off x="502920" y="1325880"/>
            <a:ext cx="1828800" cy="960120"/>
          </a:xfrm>
          <a:prstGeom prst="roundRect">
            <a:avLst>
              <a:gd name="adj" fmla="val 7619"/>
            </a:avLst>
          </a:prstGeom>
          <a:solidFill>
            <a:srgbClr val="1B2A4A"/>
          </a:solidFill>
          <a:ln w="12700">
            <a:solidFill>
              <a:srgbClr val="1B2A4A"/>
            </a:solidFill>
            <a:prstDash val="solid"/>
          </a:ln>
        </p:spPr>
      </p:sp>
      <p:sp>
        <p:nvSpPr>
          <p:cNvPr id="5" name="Text 3"/>
          <p:cNvSpPr txBox="1"/>
          <p:nvPr/>
        </p:nvSpPr>
        <p:spPr>
          <a:xfrm>
            <a:off x="612648" y="1325880"/>
            <a:ext cx="1609344" cy="960120"/>
          </a:xfrm>
          <a:prstGeom prst="rect">
            <a:avLst/>
          </a:prstGeom>
          <a:noFill/>
          <a:ln/>
        </p:spPr>
        <p:txBody>
          <a:bodyPr wrap="square" lIns="0" tIns="0" rIns="0" bIns="0" rtlCol="0" anchor="ctr"/>
          <a:lstStyle/>
          <a:p>
            <a:pPr algn="ctr" indent="0" marL="0">
              <a:spcAft>
                <a:spcPts val="400"/>
              </a:spcAft>
              <a:buNone/>
            </a:pPr>
            <a:r>
              <a:rPr lang="en-US" sz="1400" b="1" dirty="0">
                <a:solidFill>
                  <a:srgbClr val="FFFFFF"/>
                </a:solidFill>
              </a:rPr>
              <a:t>1  Describe tools</a:t>
            </a:r>
            <a:endParaRPr lang="en-US" sz="1400" dirty="0"/>
          </a:p>
          <a:p>
            <a:pPr algn="ctr" indent="0" marL="0">
              <a:spcAft>
                <a:spcPts val="400"/>
              </a:spcAft>
              <a:buNone/>
            </a:pPr>
            <a:r>
              <a:rPr lang="en-US" sz="1150" dirty="0">
                <a:solidFill>
                  <a:srgbClr val="C8D8E8"/>
                </a:solidFill>
              </a:rPr>
              <a:t>Name, description, parameters</a:t>
            </a:r>
            <a:endParaRPr lang="en-US" sz="1400" dirty="0"/>
          </a:p>
        </p:txBody>
      </p:sp>
      <p:sp>
        <p:nvSpPr>
          <p:cNvPr id="6" name="Shape 4"/>
          <p:cNvSpPr/>
          <p:nvPr/>
        </p:nvSpPr>
        <p:spPr>
          <a:xfrm>
            <a:off x="502920" y="2468880"/>
            <a:ext cx="1828800" cy="914400"/>
          </a:xfrm>
          <a:prstGeom prst="roundRect">
            <a:avLst>
              <a:gd name="adj" fmla="val 8000"/>
            </a:avLst>
          </a:prstGeom>
          <a:solidFill>
            <a:srgbClr val="F4F6F9"/>
          </a:solidFill>
          <a:ln w="12700">
            <a:solidFill>
              <a:srgbClr val="F4F6F9"/>
            </a:solidFill>
            <a:prstDash val="solid"/>
          </a:ln>
        </p:spPr>
      </p:sp>
      <p:sp>
        <p:nvSpPr>
          <p:cNvPr id="7" name="Text 5"/>
          <p:cNvSpPr txBox="1"/>
          <p:nvPr/>
        </p:nvSpPr>
        <p:spPr>
          <a:xfrm>
            <a:off x="594360" y="2468880"/>
            <a:ext cx="1645920" cy="914400"/>
          </a:xfrm>
          <a:prstGeom prst="rect">
            <a:avLst/>
          </a:prstGeom>
          <a:noFill/>
          <a:ln/>
        </p:spPr>
        <p:txBody>
          <a:bodyPr wrap="square" lIns="0" tIns="0" rIns="0" bIns="0" rtlCol="0" anchor="ctr"/>
          <a:lstStyle/>
          <a:p>
            <a:pPr algn="ctr" indent="0" marL="0">
              <a:buNone/>
            </a:pPr>
            <a:r>
              <a:rPr lang="en-US" sz="1050" dirty="0">
                <a:solidFill>
                  <a:srgbClr val="1B2A4A"/>
                </a:solidFill>
                <a:latin typeface="Consolas" pitchFamily="34" charset="0"/>
                <a:ea typeface="Consolas" pitchFamily="34" charset="-122"/>
                <a:cs typeface="Consolas" pitchFamily="34" charset="-120"/>
              </a:rPr>
              <a:t>"Weather in Mumbai?"</a:t>
            </a:r>
            <a:endParaRPr lang="en-US" sz="1050" dirty="0"/>
          </a:p>
          <a:p>
            <a:pPr algn="ctr" indent="0" marL="0">
              <a:buNone/>
            </a:pPr>
            <a:r>
              <a:rPr lang="en-US" sz="1050" dirty="0">
                <a:solidFill>
                  <a:srgbClr val="1B2A4A"/>
                </a:solidFill>
                <a:latin typeface="Consolas" pitchFamily="34" charset="0"/>
                <a:ea typeface="Consolas" pitchFamily="34" charset="-122"/>
                <a:cs typeface="Consolas" pitchFamily="34" charset="-120"/>
              </a:rPr>
              <a:t>+ get_weather tool</a:t>
            </a:r>
            <a:endParaRPr lang="en-US" sz="1050" dirty="0"/>
          </a:p>
        </p:txBody>
      </p:sp>
      <p:sp>
        <p:nvSpPr>
          <p:cNvPr id="8" name="Shape 6"/>
          <p:cNvSpPr/>
          <p:nvPr/>
        </p:nvSpPr>
        <p:spPr>
          <a:xfrm>
            <a:off x="2368296" y="1805940"/>
            <a:ext cx="201168" cy="0"/>
          </a:xfrm>
          <a:prstGeom prst="line">
            <a:avLst/>
          </a:prstGeom>
          <a:noFill/>
          <a:ln w="25400">
            <a:solidFill>
              <a:srgbClr val="D4824A"/>
            </a:solidFill>
            <a:prstDash val="solid"/>
            <a:tailEnd type="triangle"/>
          </a:ln>
        </p:spPr>
      </p:sp>
      <p:sp>
        <p:nvSpPr>
          <p:cNvPr id="9" name="Shape 7"/>
          <p:cNvSpPr/>
          <p:nvPr/>
        </p:nvSpPr>
        <p:spPr>
          <a:xfrm>
            <a:off x="2606040" y="1325880"/>
            <a:ext cx="1828800" cy="960120"/>
          </a:xfrm>
          <a:prstGeom prst="roundRect">
            <a:avLst>
              <a:gd name="adj" fmla="val 7619"/>
            </a:avLst>
          </a:prstGeom>
          <a:solidFill>
            <a:srgbClr val="1B2A4A"/>
          </a:solidFill>
          <a:ln w="12700">
            <a:solidFill>
              <a:srgbClr val="1B2A4A"/>
            </a:solidFill>
            <a:prstDash val="solid"/>
          </a:ln>
        </p:spPr>
      </p:sp>
      <p:sp>
        <p:nvSpPr>
          <p:cNvPr id="10" name="Text 8"/>
          <p:cNvSpPr txBox="1"/>
          <p:nvPr/>
        </p:nvSpPr>
        <p:spPr>
          <a:xfrm>
            <a:off x="2715768" y="1325880"/>
            <a:ext cx="1609344" cy="960120"/>
          </a:xfrm>
          <a:prstGeom prst="rect">
            <a:avLst/>
          </a:prstGeom>
          <a:noFill/>
          <a:ln/>
        </p:spPr>
        <p:txBody>
          <a:bodyPr wrap="square" lIns="0" tIns="0" rIns="0" bIns="0" rtlCol="0" anchor="ctr"/>
          <a:lstStyle/>
          <a:p>
            <a:pPr algn="ctr" indent="0" marL="0">
              <a:spcAft>
                <a:spcPts val="400"/>
              </a:spcAft>
              <a:buNone/>
            </a:pPr>
            <a:r>
              <a:rPr lang="en-US" sz="1400" b="1" dirty="0">
                <a:solidFill>
                  <a:srgbClr val="FFFFFF"/>
                </a:solidFill>
              </a:rPr>
              <a:t>2  Model picks one</a:t>
            </a:r>
            <a:endParaRPr lang="en-US" sz="1400" dirty="0"/>
          </a:p>
          <a:p>
            <a:pPr algn="ctr" indent="0" marL="0">
              <a:spcAft>
                <a:spcPts val="400"/>
              </a:spcAft>
              <a:buNone/>
            </a:pPr>
            <a:r>
              <a:rPr lang="en-US" sz="1150" dirty="0">
                <a:solidFill>
                  <a:srgbClr val="C8D8E8"/>
                </a:solidFill>
              </a:rPr>
              <a:t>Returns a tool_call, not text</a:t>
            </a:r>
            <a:endParaRPr lang="en-US" sz="1400" dirty="0"/>
          </a:p>
        </p:txBody>
      </p:sp>
      <p:sp>
        <p:nvSpPr>
          <p:cNvPr id="11" name="Shape 9"/>
          <p:cNvSpPr/>
          <p:nvPr/>
        </p:nvSpPr>
        <p:spPr>
          <a:xfrm>
            <a:off x="2606040" y="2468880"/>
            <a:ext cx="1828800" cy="914400"/>
          </a:xfrm>
          <a:prstGeom prst="roundRect">
            <a:avLst>
              <a:gd name="adj" fmla="val 8000"/>
            </a:avLst>
          </a:prstGeom>
          <a:solidFill>
            <a:srgbClr val="F4F6F9"/>
          </a:solidFill>
          <a:ln w="12700">
            <a:solidFill>
              <a:srgbClr val="F4F6F9"/>
            </a:solidFill>
            <a:prstDash val="solid"/>
          </a:ln>
        </p:spPr>
      </p:sp>
      <p:sp>
        <p:nvSpPr>
          <p:cNvPr id="12" name="Text 10"/>
          <p:cNvSpPr txBox="1"/>
          <p:nvPr/>
        </p:nvSpPr>
        <p:spPr>
          <a:xfrm>
            <a:off x="2697480" y="2468880"/>
            <a:ext cx="1645920" cy="914400"/>
          </a:xfrm>
          <a:prstGeom prst="rect">
            <a:avLst/>
          </a:prstGeom>
          <a:noFill/>
          <a:ln/>
        </p:spPr>
        <p:txBody>
          <a:bodyPr wrap="square" lIns="0" tIns="0" rIns="0" bIns="0" rtlCol="0" anchor="ctr"/>
          <a:lstStyle/>
          <a:p>
            <a:pPr algn="ctr" indent="0" marL="0">
              <a:buNone/>
            </a:pPr>
            <a:r>
              <a:rPr lang="en-US" sz="1050" dirty="0">
                <a:solidFill>
                  <a:srgbClr val="1B2A4A"/>
                </a:solidFill>
                <a:latin typeface="Consolas" pitchFamily="34" charset="0"/>
                <a:ea typeface="Consolas" pitchFamily="34" charset="-122"/>
                <a:cs typeface="Consolas" pitchFamily="34" charset="-120"/>
              </a:rPr>
              <a:t>get_weather(</a:t>
            </a:r>
            <a:endParaRPr lang="en-US" sz="1050" dirty="0"/>
          </a:p>
          <a:p>
            <a:pPr algn="ctr" indent="0" marL="0">
              <a:buNone/>
            </a:pPr>
            <a:r>
              <a:rPr lang="en-US" sz="1050" dirty="0">
                <a:solidFill>
                  <a:srgbClr val="1B2A4A"/>
                </a:solidFill>
                <a:latin typeface="Consolas" pitchFamily="34" charset="0"/>
                <a:ea typeface="Consolas" pitchFamily="34" charset="-122"/>
                <a:cs typeface="Consolas" pitchFamily="34" charset="-120"/>
              </a:rPr>
              <a:t>city="Mumbai")</a:t>
            </a:r>
            <a:endParaRPr lang="en-US" sz="1050" dirty="0"/>
          </a:p>
        </p:txBody>
      </p:sp>
      <p:sp>
        <p:nvSpPr>
          <p:cNvPr id="13" name="Shape 11"/>
          <p:cNvSpPr/>
          <p:nvPr/>
        </p:nvSpPr>
        <p:spPr>
          <a:xfrm>
            <a:off x="4471416" y="1805940"/>
            <a:ext cx="201168" cy="0"/>
          </a:xfrm>
          <a:prstGeom prst="line">
            <a:avLst/>
          </a:prstGeom>
          <a:noFill/>
          <a:ln w="25400">
            <a:solidFill>
              <a:srgbClr val="D4824A"/>
            </a:solidFill>
            <a:prstDash val="solid"/>
            <a:tailEnd type="triangle"/>
          </a:ln>
        </p:spPr>
      </p:sp>
      <p:sp>
        <p:nvSpPr>
          <p:cNvPr id="14" name="Shape 12"/>
          <p:cNvSpPr/>
          <p:nvPr/>
        </p:nvSpPr>
        <p:spPr>
          <a:xfrm>
            <a:off x="4709160" y="1325880"/>
            <a:ext cx="1828800" cy="960120"/>
          </a:xfrm>
          <a:prstGeom prst="roundRect">
            <a:avLst>
              <a:gd name="adj" fmla="val 7619"/>
            </a:avLst>
          </a:prstGeom>
          <a:solidFill>
            <a:srgbClr val="D4824A"/>
          </a:solidFill>
          <a:ln w="12700">
            <a:solidFill>
              <a:srgbClr val="D4824A"/>
            </a:solidFill>
            <a:prstDash val="solid"/>
          </a:ln>
        </p:spPr>
      </p:sp>
      <p:sp>
        <p:nvSpPr>
          <p:cNvPr id="15" name="Text 13"/>
          <p:cNvSpPr txBox="1"/>
          <p:nvPr/>
        </p:nvSpPr>
        <p:spPr>
          <a:xfrm>
            <a:off x="4818888" y="1325880"/>
            <a:ext cx="1609344" cy="960120"/>
          </a:xfrm>
          <a:prstGeom prst="rect">
            <a:avLst/>
          </a:prstGeom>
          <a:noFill/>
          <a:ln/>
        </p:spPr>
        <p:txBody>
          <a:bodyPr wrap="square" lIns="0" tIns="0" rIns="0" bIns="0" rtlCol="0" anchor="ctr"/>
          <a:lstStyle/>
          <a:p>
            <a:pPr algn="ctr" indent="0" marL="0">
              <a:spcAft>
                <a:spcPts val="400"/>
              </a:spcAft>
              <a:buNone/>
            </a:pPr>
            <a:r>
              <a:rPr lang="en-US" sz="1400" b="1" dirty="0">
                <a:solidFill>
                  <a:srgbClr val="FFFFFF"/>
                </a:solidFill>
              </a:rPr>
              <a:t>3  Your code runs it</a:t>
            </a:r>
            <a:endParaRPr lang="en-US" sz="1400" dirty="0"/>
          </a:p>
          <a:p>
            <a:pPr algn="ctr" indent="0" marL="0">
              <a:spcAft>
                <a:spcPts val="400"/>
              </a:spcAft>
              <a:buNone/>
            </a:pPr>
            <a:r>
              <a:rPr lang="en-US" sz="1150" dirty="0">
                <a:solidFill>
                  <a:srgbClr val="FFFFFF"/>
                </a:solidFill>
              </a:rPr>
              <a:t>Send the result back</a:t>
            </a:r>
            <a:endParaRPr lang="en-US" sz="1400" dirty="0"/>
          </a:p>
        </p:txBody>
      </p:sp>
      <p:sp>
        <p:nvSpPr>
          <p:cNvPr id="16" name="Shape 14"/>
          <p:cNvSpPr/>
          <p:nvPr/>
        </p:nvSpPr>
        <p:spPr>
          <a:xfrm>
            <a:off x="4709160" y="2468880"/>
            <a:ext cx="1828800" cy="914400"/>
          </a:xfrm>
          <a:prstGeom prst="roundRect">
            <a:avLst>
              <a:gd name="adj" fmla="val 8000"/>
            </a:avLst>
          </a:prstGeom>
          <a:solidFill>
            <a:srgbClr val="F4F6F9"/>
          </a:solidFill>
          <a:ln w="12700">
            <a:solidFill>
              <a:srgbClr val="F4F6F9"/>
            </a:solidFill>
            <a:prstDash val="solid"/>
          </a:ln>
        </p:spPr>
      </p:sp>
      <p:sp>
        <p:nvSpPr>
          <p:cNvPr id="17" name="Text 15"/>
          <p:cNvSpPr txBox="1"/>
          <p:nvPr/>
        </p:nvSpPr>
        <p:spPr>
          <a:xfrm>
            <a:off x="4800600" y="2468880"/>
            <a:ext cx="1645920" cy="914400"/>
          </a:xfrm>
          <a:prstGeom prst="rect">
            <a:avLst/>
          </a:prstGeom>
          <a:noFill/>
          <a:ln/>
        </p:spPr>
        <p:txBody>
          <a:bodyPr wrap="square" lIns="0" tIns="0" rIns="0" bIns="0" rtlCol="0" anchor="ctr"/>
          <a:lstStyle/>
          <a:p>
            <a:pPr algn="ctr" indent="0" marL="0">
              <a:buNone/>
            </a:pPr>
            <a:r>
              <a:rPr lang="en-US" sz="1050" dirty="0">
                <a:solidFill>
                  <a:srgbClr val="1B2A4A"/>
                </a:solidFill>
                <a:latin typeface="Consolas" pitchFamily="34" charset="0"/>
                <a:ea typeface="Consolas" pitchFamily="34" charset="-122"/>
                <a:cs typeface="Consolas" pitchFamily="34" charset="-120"/>
              </a:rPr>
              <a:t>{"temp": 32,</a:t>
            </a:r>
            <a:endParaRPr lang="en-US" sz="1050" dirty="0"/>
          </a:p>
          <a:p>
            <a:pPr algn="ctr" indent="0" marL="0">
              <a:buNone/>
            </a:pPr>
            <a:r>
              <a:rPr lang="en-US" sz="1050" dirty="0">
                <a:solidFill>
                  <a:srgbClr val="1B2A4A"/>
                </a:solidFill>
                <a:latin typeface="Consolas" pitchFamily="34" charset="0"/>
                <a:ea typeface="Consolas" pitchFamily="34" charset="-122"/>
                <a:cs typeface="Consolas" pitchFamily="34" charset="-120"/>
              </a:rPr>
              <a:t>"condition": "humid"}</a:t>
            </a:r>
            <a:endParaRPr lang="en-US" sz="1050" dirty="0"/>
          </a:p>
        </p:txBody>
      </p:sp>
      <p:sp>
        <p:nvSpPr>
          <p:cNvPr id="18" name="Shape 16"/>
          <p:cNvSpPr/>
          <p:nvPr/>
        </p:nvSpPr>
        <p:spPr>
          <a:xfrm>
            <a:off x="6574536" y="1805940"/>
            <a:ext cx="201168" cy="0"/>
          </a:xfrm>
          <a:prstGeom prst="line">
            <a:avLst/>
          </a:prstGeom>
          <a:noFill/>
          <a:ln w="25400">
            <a:solidFill>
              <a:srgbClr val="D4824A"/>
            </a:solidFill>
            <a:prstDash val="solid"/>
            <a:tailEnd type="triangle"/>
          </a:ln>
        </p:spPr>
      </p:sp>
      <p:sp>
        <p:nvSpPr>
          <p:cNvPr id="19" name="Shape 17"/>
          <p:cNvSpPr/>
          <p:nvPr/>
        </p:nvSpPr>
        <p:spPr>
          <a:xfrm>
            <a:off x="6812280" y="1325880"/>
            <a:ext cx="1828800" cy="960120"/>
          </a:xfrm>
          <a:prstGeom prst="roundRect">
            <a:avLst>
              <a:gd name="adj" fmla="val 7619"/>
            </a:avLst>
          </a:prstGeom>
          <a:solidFill>
            <a:srgbClr val="1B2A4A"/>
          </a:solidFill>
          <a:ln w="12700">
            <a:solidFill>
              <a:srgbClr val="1B2A4A"/>
            </a:solidFill>
            <a:prstDash val="solid"/>
          </a:ln>
        </p:spPr>
      </p:sp>
      <p:sp>
        <p:nvSpPr>
          <p:cNvPr id="20" name="Text 18"/>
          <p:cNvSpPr txBox="1"/>
          <p:nvPr/>
        </p:nvSpPr>
        <p:spPr>
          <a:xfrm>
            <a:off x="6922008" y="1325880"/>
            <a:ext cx="1609344" cy="960120"/>
          </a:xfrm>
          <a:prstGeom prst="rect">
            <a:avLst/>
          </a:prstGeom>
          <a:noFill/>
          <a:ln/>
        </p:spPr>
        <p:txBody>
          <a:bodyPr wrap="square" lIns="0" tIns="0" rIns="0" bIns="0" rtlCol="0" anchor="ctr"/>
          <a:lstStyle/>
          <a:p>
            <a:pPr algn="ctr" indent="0" marL="0">
              <a:spcAft>
                <a:spcPts val="400"/>
              </a:spcAft>
              <a:buNone/>
            </a:pPr>
            <a:r>
              <a:rPr lang="en-US" sz="1400" b="1" dirty="0">
                <a:solidFill>
                  <a:srgbClr val="FFFFFF"/>
                </a:solidFill>
              </a:rPr>
              <a:t>4  Model answers</a:t>
            </a:r>
            <a:endParaRPr lang="en-US" sz="1400" dirty="0"/>
          </a:p>
          <a:p>
            <a:pPr algn="ctr" indent="0" marL="0">
              <a:spcAft>
                <a:spcPts val="400"/>
              </a:spcAft>
              <a:buNone/>
            </a:pPr>
            <a:r>
              <a:rPr lang="en-US" sz="1150" dirty="0">
                <a:solidFill>
                  <a:srgbClr val="C8D8E8"/>
                </a:solidFill>
              </a:rPr>
              <a:t>Using the tool result</a:t>
            </a:r>
            <a:endParaRPr lang="en-US" sz="1400" dirty="0"/>
          </a:p>
        </p:txBody>
      </p:sp>
      <p:sp>
        <p:nvSpPr>
          <p:cNvPr id="21" name="Shape 19"/>
          <p:cNvSpPr/>
          <p:nvPr/>
        </p:nvSpPr>
        <p:spPr>
          <a:xfrm>
            <a:off x="6812280" y="2468880"/>
            <a:ext cx="1828800" cy="914400"/>
          </a:xfrm>
          <a:prstGeom prst="roundRect">
            <a:avLst>
              <a:gd name="adj" fmla="val 8000"/>
            </a:avLst>
          </a:prstGeom>
          <a:solidFill>
            <a:srgbClr val="F4F6F9"/>
          </a:solidFill>
          <a:ln w="12700">
            <a:solidFill>
              <a:srgbClr val="F4F6F9"/>
            </a:solidFill>
            <a:prstDash val="solid"/>
          </a:ln>
        </p:spPr>
      </p:sp>
      <p:sp>
        <p:nvSpPr>
          <p:cNvPr id="22" name="Text 20"/>
          <p:cNvSpPr txBox="1"/>
          <p:nvPr/>
        </p:nvSpPr>
        <p:spPr>
          <a:xfrm>
            <a:off x="6903720" y="2468880"/>
            <a:ext cx="1645920" cy="914400"/>
          </a:xfrm>
          <a:prstGeom prst="rect">
            <a:avLst/>
          </a:prstGeom>
          <a:noFill/>
          <a:ln/>
        </p:spPr>
        <p:txBody>
          <a:bodyPr wrap="square" lIns="0" tIns="0" rIns="0" bIns="0" rtlCol="0" anchor="ctr"/>
          <a:lstStyle/>
          <a:p>
            <a:pPr algn="ctr" indent="0" marL="0">
              <a:buNone/>
            </a:pPr>
            <a:r>
              <a:rPr lang="en-US" sz="1050" dirty="0">
                <a:solidFill>
                  <a:srgbClr val="1B2A4A"/>
                </a:solidFill>
                <a:latin typeface="Consolas" pitchFamily="34" charset="0"/>
                <a:ea typeface="Consolas" pitchFamily="34" charset="-122"/>
                <a:cs typeface="Consolas" pitchFamily="34" charset="-120"/>
              </a:rPr>
              <a:t>"It's 32°C and humid in Mumbai."</a:t>
            </a:r>
            <a:endParaRPr lang="en-US" sz="1050" dirty="0"/>
          </a:p>
        </p:txBody>
      </p:sp>
      <p:sp>
        <p:nvSpPr>
          <p:cNvPr id="23" name="Text 21"/>
          <p:cNvSpPr txBox="1"/>
          <p:nvPr/>
        </p:nvSpPr>
        <p:spPr>
          <a:xfrm>
            <a:off x="502920" y="3456432"/>
            <a:ext cx="8138160" cy="256032"/>
          </a:xfrm>
          <a:prstGeom prst="rect">
            <a:avLst/>
          </a:prstGeom>
          <a:noFill/>
          <a:ln/>
        </p:spPr>
        <p:txBody>
          <a:bodyPr wrap="square" lIns="0" tIns="0" rIns="0" bIns="0" rtlCol="0" anchor="ctr"/>
          <a:lstStyle/>
          <a:p>
            <a:pPr indent="0" marL="0">
              <a:buNone/>
            </a:pPr>
            <a:r>
              <a:rPr lang="en-US" sz="1100" i="1" dirty="0">
                <a:solidFill>
                  <a:srgbClr val="5F6F80"/>
                </a:solidFill>
              </a:rPr>
              <a:t>Top: what happens.  Bottom: the Mumbai weather example.</a:t>
            </a:r>
            <a:endParaRPr lang="en-US" sz="1100" dirty="0"/>
          </a:p>
        </p:txBody>
      </p:sp>
      <p:sp>
        <p:nvSpPr>
          <p:cNvPr id="24" name="Shape 22"/>
          <p:cNvSpPr/>
          <p:nvPr/>
        </p:nvSpPr>
        <p:spPr>
          <a:xfrm>
            <a:off x="502920" y="3840480"/>
            <a:ext cx="8138160" cy="594360"/>
          </a:xfrm>
          <a:prstGeom prst="roundRect">
            <a:avLst>
              <a:gd name="adj" fmla="val 12308"/>
            </a:avLst>
          </a:prstGeom>
          <a:solidFill>
            <a:srgbClr val="FBEFE6"/>
          </a:solidFill>
          <a:ln w="12700">
            <a:solidFill>
              <a:srgbClr val="FBEFE6"/>
            </a:solidFill>
            <a:prstDash val="solid"/>
          </a:ln>
        </p:spPr>
      </p:sp>
      <p:sp>
        <p:nvSpPr>
          <p:cNvPr id="25" name="Text 23"/>
          <p:cNvSpPr txBox="1"/>
          <p:nvPr/>
        </p:nvSpPr>
        <p:spPr>
          <a:xfrm>
            <a:off x="667512" y="3840480"/>
            <a:ext cx="7808976" cy="594360"/>
          </a:xfrm>
          <a:prstGeom prst="rect">
            <a:avLst/>
          </a:prstGeom>
          <a:noFill/>
          <a:ln/>
        </p:spPr>
        <p:txBody>
          <a:bodyPr wrap="square" lIns="0" tIns="0" rIns="0" bIns="0" rtlCol="0" anchor="ctr"/>
          <a:lstStyle/>
          <a:p>
            <a:pPr indent="0" marL="0">
              <a:buNone/>
            </a:pPr>
            <a:r>
              <a:rPr lang="en-US" sz="1000" b="1" spc="200" kern="0" dirty="0">
                <a:solidFill>
                  <a:srgbClr val="D4824A"/>
                </a:solidFill>
              </a:rPr>
              <a:t>KEY POINT  </a:t>
            </a:r>
            <a:pPr indent="0" marL="0">
              <a:buNone/>
            </a:pPr>
            <a:r>
              <a:rPr lang="en-US" sz="1300" dirty="0">
                <a:solidFill>
                  <a:srgbClr val="1B2A4A"/>
                </a:solidFill>
              </a:rPr>
              <a:t>The model only chooses the tool. Your code executes it. The model never touches the API.</a:t>
            </a:r>
            <a:endParaRPr lang="en-US" sz="100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FUNCTION CALLING &amp; TOOL USE  ·  2 OF 3</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Defining Tools in LangChain</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@tool decorator</a:t>
            </a:r>
            <a:endParaRPr lang="en-US" sz="1500" dirty="0"/>
          </a:p>
          <a:p>
            <a:pPr indent="0" marL="0">
              <a:spcAft>
                <a:spcPts val="200"/>
              </a:spcAft>
              <a:buNone/>
            </a:pPr>
            <a:r>
              <a:rPr lang="en-US" sz="1200" dirty="0">
                <a:solidFill>
                  <a:srgbClr val="5F6F80"/>
                </a:solidFill>
              </a:rPr>
              <a:t>Simplest: docstring + type hints</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StructuredTool.from_function()</a:t>
            </a:r>
            <a:endParaRPr lang="en-US" sz="1500" dirty="0"/>
          </a:p>
          <a:p>
            <a:pPr indent="0" marL="0">
              <a:spcAft>
                <a:spcPts val="200"/>
              </a:spcAft>
              <a:buNone/>
            </a:pPr>
            <a:r>
              <a:rPr lang="en-US" sz="1200" dirty="0">
                <a:solidFill>
                  <a:srgbClr val="5F6F80"/>
                </a:solidFill>
              </a:rPr>
              <a:t>Wrap a function, explicit schema</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BaseTool subclass</a:t>
            </a:r>
            <a:endParaRPr lang="en-US" sz="1500" dirty="0"/>
          </a:p>
          <a:p>
            <a:pPr indent="0" marL="0">
              <a:spcAft>
                <a:spcPts val="200"/>
              </a:spcAft>
              <a:buNone/>
            </a:pPr>
            <a:r>
              <a:rPr lang="en-US" sz="1200" dirty="0">
                <a:solidFill>
                  <a:srgbClr val="5F6F80"/>
                </a:solidFill>
              </a:rPr>
              <a:t>For state, clients, async</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llm.bind_tools([...])</a:t>
            </a:r>
            <a:endParaRPr lang="en-US" sz="1500" dirty="0"/>
          </a:p>
          <a:p>
            <a:pPr indent="0" marL="0">
              <a:spcAft>
                <a:spcPts val="200"/>
              </a:spcAft>
              <a:buNone/>
            </a:pPr>
            <a:r>
              <a:rPr lang="en-US" sz="1200" dirty="0">
                <a:solidFill>
                  <a:srgbClr val="5F6F80"/>
                </a:solidFill>
              </a:rPr>
              <a:t>Hand the tools to the model</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indent="0" marL="0">
              <a:buNone/>
            </a:pPr>
            <a:r>
              <a:rPr lang="en-US" sz="1000" b="1" spc="200" kern="0" dirty="0">
                <a:solidFill>
                  <a:srgbClr val="D4824A"/>
                </a:solidFill>
              </a:rPr>
              <a:t>KEY POINT  </a:t>
            </a:r>
            <a:pPr indent="0" marL="0">
              <a:buNone/>
            </a:pPr>
            <a:r>
              <a:rPr lang="en-US" sz="1300" dirty="0">
                <a:solidFill>
                  <a:srgbClr val="1B2A4A"/>
                </a:solidFill>
              </a:rPr>
              <a:t>Start with @tool. The docstring is how the model knows when to use it.</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indent="0" marL="0">
              <a:buNone/>
            </a:pPr>
            <a:r>
              <a:rPr lang="en-US" sz="900" b="1" spc="200" kern="0" dirty="0">
                <a:solidFill>
                  <a:srgbClr val="D4824A"/>
                </a:solidFill>
              </a:rPr>
              <a:t>EXAMPLE  </a:t>
            </a:r>
            <a:pPr indent="0" marL="0">
              <a:buNone/>
            </a:pPr>
            <a:r>
              <a:rPr lang="en-US" sz="1200" b="1" dirty="0">
                <a:solidFill>
                  <a:srgbClr val="FFFFFF"/>
                </a:solidFill>
              </a:rPr>
              <a:t>Defining tools (demo 07)</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1. @tool decorator</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@tool</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def get_stock_price(ticker: str) -&gt; str:</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"""Price for a ticker like AAPL."""</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return fetch_price(ticker)</a:t>
            </a:r>
            <a:endParaRPr lang="en-US" sz="1050" dirty="0"/>
          </a:p>
          <a:p>
            <a:pPr indent="0" marL="0">
              <a:lnSpc>
                <a:spcPct val="100000"/>
              </a:lnSpc>
              <a:buNone/>
            </a:pP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2. StructuredTool: explicit schema</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search = StructuredTool.from_function(</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func=run_search, name="web_search",</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args_schema=SearchArgs)</a:t>
            </a:r>
            <a:endParaRPr lang="en-US" sz="1050" dirty="0"/>
          </a:p>
          <a:p>
            <a:pPr indent="0" marL="0">
              <a:lnSpc>
                <a:spcPct val="100000"/>
              </a:lnSpc>
              <a:buNone/>
            </a:pP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Bind tools to the model</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llm_tools = llm.bind_tools(</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[get_stock_price, search])</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FUNCTION CALLING &amp; TOOL USE  ·  3 OF 3</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Routing User Intent with Tools</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Give each tool a distinct job</a:t>
            </a:r>
            <a:endParaRPr lang="en-US" sz="1500" dirty="0"/>
          </a:p>
          <a:p>
            <a:pPr indent="0" marL="0">
              <a:spcAft>
                <a:spcPts val="200"/>
              </a:spcAft>
              <a:buNone/>
            </a:pPr>
            <a:r>
              <a:rPr lang="en-US" sz="1200" dirty="0">
                <a:solidFill>
                  <a:srgbClr val="5F6F80"/>
                </a:solidFill>
              </a:rPr>
              <a:t>Calculator, DB lookup, web search</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The model reads every description</a:t>
            </a:r>
            <a:endParaRPr lang="en-US" sz="1500" dirty="0"/>
          </a:p>
          <a:p>
            <a:pPr indent="0" marL="0">
              <a:spcAft>
                <a:spcPts val="200"/>
              </a:spcAft>
              <a:buNone/>
            </a:pPr>
            <a:r>
              <a:rPr lang="en-US" sz="1200" dirty="0">
                <a:solidFill>
                  <a:srgbClr val="5F6F80"/>
                </a:solidFill>
              </a:rPr>
              <a:t>Best match wins, not list order</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An agent loop handles multi-step</a:t>
            </a:r>
            <a:endParaRPr lang="en-US" sz="1500" dirty="0"/>
          </a:p>
          <a:p>
            <a:pPr indent="0" marL="0">
              <a:spcAft>
                <a:spcPts val="200"/>
              </a:spcAft>
              <a:buNone/>
            </a:pPr>
            <a:r>
              <a:rPr lang="en-US" sz="1200" dirty="0">
                <a:solidFill>
                  <a:srgbClr val="5F6F80"/>
                </a:solidFill>
              </a:rPr>
              <a:t>AgentExecutor or LangGraph</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Check response.tool_calls</a:t>
            </a:r>
            <a:endParaRPr lang="en-US" sz="1500" dirty="0"/>
          </a:p>
          <a:p>
            <a:pPr indent="0" marL="0">
              <a:spcAft>
                <a:spcPts val="200"/>
              </a:spcAft>
              <a:buNone/>
            </a:pPr>
            <a:r>
              <a:rPr lang="en-US" sz="1200" dirty="0">
                <a:solidFill>
                  <a:srgbClr val="5F6F80"/>
                </a:solidFill>
              </a:rPr>
              <a:t>See what was chosen, and log it</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indent="0" marL="0">
              <a:buNone/>
            </a:pPr>
            <a:r>
              <a:rPr lang="en-US" sz="1000" b="1" spc="200" kern="0" dirty="0">
                <a:solidFill>
                  <a:srgbClr val="D4824A"/>
                </a:solidFill>
              </a:rPr>
              <a:t>KEY POINT  </a:t>
            </a:r>
            <a:pPr indent="0" marL="0">
              <a:buNone/>
            </a:pPr>
            <a:r>
              <a:rPr lang="en-US" sz="1300" dirty="0">
                <a:solidFill>
                  <a:srgbClr val="1B2A4A"/>
                </a:solidFill>
              </a:rPr>
              <a:t>Wrong tool picked? Fix the description first.</a:t>
            </a:r>
            <a:endParaRPr lang="en-US" sz="1000" dirty="0"/>
          </a:p>
        </p:txBody>
      </p:sp>
      <p:sp>
        <p:nvSpPr>
          <p:cNvPr id="18" name="Shape 16"/>
          <p:cNvSpPr/>
          <p:nvPr/>
        </p:nvSpPr>
        <p:spPr>
          <a:xfrm>
            <a:off x="4846320" y="1234440"/>
            <a:ext cx="3566160" cy="685800"/>
          </a:xfrm>
          <a:prstGeom prst="roundRect">
            <a:avLst>
              <a:gd name="adj" fmla="val 10667"/>
            </a:avLst>
          </a:prstGeom>
          <a:solidFill>
            <a:srgbClr val="F4F6F9"/>
          </a:solidFill>
          <a:ln w="12700">
            <a:solidFill>
              <a:srgbClr val="F4F6F9"/>
            </a:solidFill>
            <a:prstDash val="solid"/>
          </a:ln>
        </p:spPr>
      </p:sp>
      <p:sp>
        <p:nvSpPr>
          <p:cNvPr id="19" name="Text 17"/>
          <p:cNvSpPr txBox="1"/>
          <p:nvPr/>
        </p:nvSpPr>
        <p:spPr>
          <a:xfrm>
            <a:off x="4956048" y="1234440"/>
            <a:ext cx="3346704" cy="685800"/>
          </a:xfrm>
          <a:prstGeom prst="rect">
            <a:avLst/>
          </a:prstGeom>
          <a:noFill/>
          <a:ln/>
        </p:spPr>
        <p:txBody>
          <a:bodyPr wrap="square" lIns="0" tIns="0" rIns="0" bIns="0" rtlCol="0" anchor="ctr"/>
          <a:lstStyle/>
          <a:p>
            <a:pPr algn="ctr" indent="0" marL="0">
              <a:spcAft>
                <a:spcPts val="400"/>
              </a:spcAft>
              <a:buNone/>
            </a:pPr>
            <a:r>
              <a:rPr lang="en-US" sz="1400" b="1" dirty="0">
                <a:solidFill>
                  <a:srgbClr val="1B2A4A"/>
                </a:solidFill>
              </a:rPr>
              <a:t>"AAPL's best closing price this year?"</a:t>
            </a:r>
            <a:endParaRPr lang="en-US" sz="1400" dirty="0"/>
          </a:p>
        </p:txBody>
      </p:sp>
      <p:sp>
        <p:nvSpPr>
          <p:cNvPr id="20" name="Shape 18"/>
          <p:cNvSpPr/>
          <p:nvPr/>
        </p:nvSpPr>
        <p:spPr>
          <a:xfrm>
            <a:off x="6629400" y="1938528"/>
            <a:ext cx="0" cy="274320"/>
          </a:xfrm>
          <a:prstGeom prst="line">
            <a:avLst/>
          </a:prstGeom>
          <a:noFill/>
          <a:ln w="25400">
            <a:solidFill>
              <a:srgbClr val="D4824A"/>
            </a:solidFill>
            <a:prstDash val="solid"/>
            <a:tailEnd type="triangle"/>
          </a:ln>
        </p:spPr>
      </p:sp>
      <p:sp>
        <p:nvSpPr>
          <p:cNvPr id="21" name="Shape 19"/>
          <p:cNvSpPr/>
          <p:nvPr/>
        </p:nvSpPr>
        <p:spPr>
          <a:xfrm>
            <a:off x="4846320" y="2240280"/>
            <a:ext cx="3566160" cy="548640"/>
          </a:xfrm>
          <a:prstGeom prst="roundRect">
            <a:avLst>
              <a:gd name="adj" fmla="val 13333"/>
            </a:avLst>
          </a:prstGeom>
          <a:solidFill>
            <a:srgbClr val="1B2A4A"/>
          </a:solidFill>
          <a:ln w="12700">
            <a:solidFill>
              <a:srgbClr val="1B2A4A"/>
            </a:solidFill>
            <a:prstDash val="solid"/>
          </a:ln>
        </p:spPr>
      </p:sp>
      <p:sp>
        <p:nvSpPr>
          <p:cNvPr id="22" name="Text 20"/>
          <p:cNvSpPr txBox="1"/>
          <p:nvPr/>
        </p:nvSpPr>
        <p:spPr>
          <a:xfrm>
            <a:off x="4956048" y="2240280"/>
            <a:ext cx="3346704" cy="548640"/>
          </a:xfrm>
          <a:prstGeom prst="rect">
            <a:avLst/>
          </a:prstGeom>
          <a:noFill/>
          <a:ln/>
        </p:spPr>
        <p:txBody>
          <a:bodyPr wrap="square" lIns="0" tIns="0" rIns="0" bIns="0" rtlCol="0" anchor="ctr"/>
          <a:lstStyle/>
          <a:p>
            <a:pPr algn="ctr" indent="0" marL="0">
              <a:spcAft>
                <a:spcPts val="400"/>
              </a:spcAft>
              <a:buNone/>
            </a:pPr>
            <a:r>
              <a:rPr lang="en-US" sz="1400" b="1" dirty="0">
                <a:solidFill>
                  <a:srgbClr val="FFFFFF"/>
                </a:solidFill>
              </a:rPr>
              <a:t>Model reads all tool descriptions</a:t>
            </a:r>
            <a:endParaRPr lang="en-US" sz="1400" dirty="0"/>
          </a:p>
        </p:txBody>
      </p:sp>
      <p:sp>
        <p:nvSpPr>
          <p:cNvPr id="23" name="Shape 21"/>
          <p:cNvSpPr/>
          <p:nvPr/>
        </p:nvSpPr>
        <p:spPr>
          <a:xfrm flipH="1">
            <a:off x="5394960" y="2807208"/>
            <a:ext cx="1234440" cy="393192"/>
          </a:xfrm>
          <a:prstGeom prst="line">
            <a:avLst/>
          </a:prstGeom>
          <a:noFill/>
          <a:ln w="25400">
            <a:solidFill>
              <a:srgbClr val="D4824A"/>
            </a:solidFill>
            <a:prstDash val="solid"/>
            <a:tailEnd type="triangle"/>
          </a:ln>
        </p:spPr>
      </p:sp>
      <p:sp>
        <p:nvSpPr>
          <p:cNvPr id="24" name="Shape 22"/>
          <p:cNvSpPr/>
          <p:nvPr/>
        </p:nvSpPr>
        <p:spPr>
          <a:xfrm>
            <a:off x="4846320" y="3218688"/>
            <a:ext cx="1097280" cy="777240"/>
          </a:xfrm>
          <a:prstGeom prst="roundRect">
            <a:avLst>
              <a:gd name="adj" fmla="val 9412"/>
            </a:avLst>
          </a:prstGeom>
          <a:solidFill>
            <a:srgbClr val="D4824A"/>
          </a:solidFill>
          <a:ln w="12700">
            <a:solidFill>
              <a:srgbClr val="D4824A"/>
            </a:solidFill>
            <a:prstDash val="solid"/>
          </a:ln>
        </p:spPr>
      </p:sp>
      <p:sp>
        <p:nvSpPr>
          <p:cNvPr id="25" name="Text 23"/>
          <p:cNvSpPr txBox="1"/>
          <p:nvPr/>
        </p:nvSpPr>
        <p:spPr>
          <a:xfrm>
            <a:off x="4956048" y="3218688"/>
            <a:ext cx="877824" cy="777240"/>
          </a:xfrm>
          <a:prstGeom prst="rect">
            <a:avLst/>
          </a:prstGeom>
          <a:noFill/>
          <a:ln/>
        </p:spPr>
        <p:txBody>
          <a:bodyPr wrap="square" lIns="0" tIns="0" rIns="0" bIns="0" rtlCol="0" anchor="ctr"/>
          <a:lstStyle/>
          <a:p>
            <a:pPr algn="ctr" indent="0" marL="0">
              <a:spcAft>
                <a:spcPts val="400"/>
              </a:spcAft>
              <a:buNone/>
            </a:pPr>
            <a:r>
              <a:rPr lang="en-US" sz="1400" b="1" dirty="0">
                <a:solidFill>
                  <a:srgbClr val="FFFFFF"/>
                </a:solidFill>
              </a:rPr>
              <a:t>search</a:t>
            </a:r>
            <a:endParaRPr lang="en-US" sz="1400" dirty="0"/>
          </a:p>
          <a:p>
            <a:pPr algn="ctr" indent="0" marL="0">
              <a:spcAft>
                <a:spcPts val="400"/>
              </a:spcAft>
              <a:buNone/>
            </a:pPr>
            <a:r>
              <a:rPr lang="en-US" sz="1150" dirty="0">
                <a:solidFill>
                  <a:srgbClr val="FFFFFF"/>
                </a:solidFill>
              </a:rPr>
              <a:t>1st</a:t>
            </a:r>
            <a:endParaRPr lang="en-US" sz="1400" dirty="0"/>
          </a:p>
        </p:txBody>
      </p:sp>
      <p:sp>
        <p:nvSpPr>
          <p:cNvPr id="26" name="Shape 24"/>
          <p:cNvSpPr/>
          <p:nvPr/>
        </p:nvSpPr>
        <p:spPr>
          <a:xfrm>
            <a:off x="6629400" y="2807208"/>
            <a:ext cx="0" cy="393192"/>
          </a:xfrm>
          <a:prstGeom prst="line">
            <a:avLst/>
          </a:prstGeom>
          <a:noFill/>
          <a:ln w="25400">
            <a:solidFill>
              <a:srgbClr val="D4824A"/>
            </a:solidFill>
            <a:prstDash val="solid"/>
            <a:tailEnd type="triangle"/>
          </a:ln>
        </p:spPr>
      </p:sp>
      <p:sp>
        <p:nvSpPr>
          <p:cNvPr id="27" name="Shape 25"/>
          <p:cNvSpPr/>
          <p:nvPr/>
        </p:nvSpPr>
        <p:spPr>
          <a:xfrm>
            <a:off x="6080760" y="3218688"/>
            <a:ext cx="1097280" cy="777240"/>
          </a:xfrm>
          <a:prstGeom prst="roundRect">
            <a:avLst>
              <a:gd name="adj" fmla="val 9412"/>
            </a:avLst>
          </a:prstGeom>
          <a:solidFill>
            <a:srgbClr val="D4824A"/>
          </a:solidFill>
          <a:ln w="12700">
            <a:solidFill>
              <a:srgbClr val="D4824A"/>
            </a:solidFill>
            <a:prstDash val="solid"/>
          </a:ln>
        </p:spPr>
      </p:sp>
      <p:sp>
        <p:nvSpPr>
          <p:cNvPr id="28" name="Text 26"/>
          <p:cNvSpPr txBox="1"/>
          <p:nvPr/>
        </p:nvSpPr>
        <p:spPr>
          <a:xfrm>
            <a:off x="6190488" y="3218688"/>
            <a:ext cx="877824" cy="777240"/>
          </a:xfrm>
          <a:prstGeom prst="rect">
            <a:avLst/>
          </a:prstGeom>
          <a:noFill/>
          <a:ln/>
        </p:spPr>
        <p:txBody>
          <a:bodyPr wrap="square" lIns="0" tIns="0" rIns="0" bIns="0" rtlCol="0" anchor="ctr"/>
          <a:lstStyle/>
          <a:p>
            <a:pPr algn="ctr" indent="0" marL="0">
              <a:spcAft>
                <a:spcPts val="400"/>
              </a:spcAft>
              <a:buNone/>
            </a:pPr>
            <a:r>
              <a:rPr lang="en-US" sz="1400" b="1" dirty="0">
                <a:solidFill>
                  <a:srgbClr val="FFFFFF"/>
                </a:solidFill>
              </a:rPr>
              <a:t>calculator</a:t>
            </a:r>
            <a:endParaRPr lang="en-US" sz="1400" dirty="0"/>
          </a:p>
          <a:p>
            <a:pPr algn="ctr" indent="0" marL="0">
              <a:spcAft>
                <a:spcPts val="400"/>
              </a:spcAft>
              <a:buNone/>
            </a:pPr>
            <a:r>
              <a:rPr lang="en-US" sz="1150" dirty="0">
                <a:solidFill>
                  <a:srgbClr val="FFFFFF"/>
                </a:solidFill>
              </a:rPr>
              <a:t>2nd</a:t>
            </a:r>
            <a:endParaRPr lang="en-US" sz="1400" dirty="0"/>
          </a:p>
        </p:txBody>
      </p:sp>
      <p:sp>
        <p:nvSpPr>
          <p:cNvPr id="29" name="Shape 27"/>
          <p:cNvSpPr/>
          <p:nvPr/>
        </p:nvSpPr>
        <p:spPr>
          <a:xfrm>
            <a:off x="6629400" y="2807208"/>
            <a:ext cx="1234440" cy="393192"/>
          </a:xfrm>
          <a:prstGeom prst="line">
            <a:avLst/>
          </a:prstGeom>
          <a:noFill/>
          <a:ln w="25400">
            <a:solidFill>
              <a:srgbClr val="D4824A"/>
            </a:solidFill>
            <a:prstDash val="solid"/>
            <a:tailEnd type="triangle"/>
          </a:ln>
        </p:spPr>
      </p:sp>
      <p:sp>
        <p:nvSpPr>
          <p:cNvPr id="30" name="Shape 28"/>
          <p:cNvSpPr/>
          <p:nvPr/>
        </p:nvSpPr>
        <p:spPr>
          <a:xfrm>
            <a:off x="7315200" y="3218688"/>
            <a:ext cx="1097280" cy="777240"/>
          </a:xfrm>
          <a:prstGeom prst="roundRect">
            <a:avLst>
              <a:gd name="adj" fmla="val 9412"/>
            </a:avLst>
          </a:prstGeom>
          <a:solidFill>
            <a:srgbClr val="F4F6F9"/>
          </a:solidFill>
          <a:ln w="12700">
            <a:solidFill>
              <a:srgbClr val="F4F6F9"/>
            </a:solidFill>
            <a:prstDash val="solid"/>
          </a:ln>
        </p:spPr>
      </p:sp>
      <p:sp>
        <p:nvSpPr>
          <p:cNvPr id="31" name="Text 29"/>
          <p:cNvSpPr txBox="1"/>
          <p:nvPr/>
        </p:nvSpPr>
        <p:spPr>
          <a:xfrm>
            <a:off x="7424928" y="3218688"/>
            <a:ext cx="877824" cy="777240"/>
          </a:xfrm>
          <a:prstGeom prst="rect">
            <a:avLst/>
          </a:prstGeom>
          <a:noFill/>
          <a:ln/>
        </p:spPr>
        <p:txBody>
          <a:bodyPr wrap="square" lIns="0" tIns="0" rIns="0" bIns="0" rtlCol="0" anchor="ctr"/>
          <a:lstStyle/>
          <a:p>
            <a:pPr algn="ctr" indent="0" marL="0">
              <a:spcAft>
                <a:spcPts val="400"/>
              </a:spcAft>
              <a:buNone/>
            </a:pPr>
            <a:r>
              <a:rPr lang="en-US" sz="1400" b="1" dirty="0">
                <a:solidFill>
                  <a:srgbClr val="5F6F80"/>
                </a:solidFill>
              </a:rPr>
              <a:t>db_lookup</a:t>
            </a:r>
            <a:endParaRPr lang="en-US" sz="1400" dirty="0"/>
          </a:p>
          <a:p>
            <a:pPr algn="ctr" indent="0" marL="0">
              <a:spcAft>
                <a:spcPts val="400"/>
              </a:spcAft>
              <a:buNone/>
            </a:pPr>
            <a:r>
              <a:rPr lang="en-US" sz="1150" dirty="0">
                <a:solidFill>
                  <a:srgbClr val="5F6F80"/>
                </a:solidFill>
              </a:rPr>
              <a:t>not used</a:t>
            </a:r>
            <a:endParaRPr lang="en-US" sz="1400" dirty="0"/>
          </a:p>
        </p:txBody>
      </p:sp>
      <p:sp>
        <p:nvSpPr>
          <p:cNvPr id="32" name="Text 30"/>
          <p:cNvSpPr txBox="1"/>
          <p:nvPr/>
        </p:nvSpPr>
        <p:spPr>
          <a:xfrm>
            <a:off x="4846320" y="4114800"/>
            <a:ext cx="3566160" cy="274320"/>
          </a:xfrm>
          <a:prstGeom prst="rect">
            <a:avLst/>
          </a:prstGeom>
          <a:noFill/>
          <a:ln/>
        </p:spPr>
        <p:txBody>
          <a:bodyPr wrap="square" lIns="0" tIns="0" rIns="0" bIns="0" rtlCol="0" anchor="ctr"/>
          <a:lstStyle/>
          <a:p>
            <a:pPr algn="ctr" indent="0" marL="0">
              <a:buNone/>
            </a:pPr>
            <a:r>
              <a:rPr lang="en-US" sz="1050" i="1" dirty="0">
                <a:solidFill>
                  <a:srgbClr val="5F6F80"/>
                </a:solidFill>
              </a:rPr>
              <a:t>Demo 08</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SAFE DESIGN &amp; ERROR HANDLING  ·  1 OF 4</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Designing Safe Tool Input Schemas</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Literal for allowed values</a:t>
            </a:r>
            <a:endParaRPr lang="en-US" sz="1500" dirty="0"/>
          </a:p>
          <a:p>
            <a:pPr indent="0" marL="0">
              <a:spcAft>
                <a:spcPts val="200"/>
              </a:spcAft>
              <a:buNone/>
            </a:pPr>
            <a:r>
              <a:rPr lang="en-US" sz="1200" dirty="0">
                <a:solidFill>
                  <a:srgbClr val="5F6F80"/>
                </a:solidFill>
              </a:rPr>
              <a:t>The model can't invent "delete"</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Bounds on numbers</a:t>
            </a:r>
            <a:endParaRPr lang="en-US" sz="1500" dirty="0"/>
          </a:p>
          <a:p>
            <a:pPr indent="0" marL="0">
              <a:spcAft>
                <a:spcPts val="200"/>
              </a:spcAft>
              <a:buNone/>
            </a:pPr>
            <a:r>
              <a:rPr lang="en-US" sz="1200" dirty="0">
                <a:solidFill>
                  <a:srgbClr val="5F6F80"/>
                </a:solidFill>
              </a:rPr>
              <a:t>limit: 1-500, never 10,000 rows</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Patterns on strings</a:t>
            </a:r>
            <a:endParaRPr lang="en-US" sz="1500" dirty="0"/>
          </a:p>
          <a:p>
            <a:pPr indent="0" marL="0">
              <a:spcAft>
                <a:spcPts val="200"/>
              </a:spcAft>
              <a:buNone/>
            </a:pPr>
            <a:r>
              <a:rPr lang="en-US" sz="1200" dirty="0">
                <a:solidFill>
                  <a:srgbClr val="5F6F80"/>
                </a:solidFill>
              </a:rPr>
              <a:t>e.g. ^CUST-\d{6}$</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Still validate server-side</a:t>
            </a:r>
            <a:endParaRPr lang="en-US" sz="1500" dirty="0"/>
          </a:p>
          <a:p>
            <a:pPr indent="0" marL="0">
              <a:spcAft>
                <a:spcPts val="200"/>
              </a:spcAft>
              <a:buNone/>
            </a:pPr>
            <a:r>
              <a:rPr lang="en-US" sz="1200" dirty="0">
                <a:solidFill>
                  <a:srgbClr val="5F6F80"/>
                </a:solidFill>
              </a:rPr>
              <a:t>Treat args like user input</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indent="0" marL="0">
              <a:buNone/>
            </a:pPr>
            <a:r>
              <a:rPr lang="en-US" sz="1000" b="1" spc="200" kern="0" dirty="0">
                <a:solidFill>
                  <a:srgbClr val="D4824A"/>
                </a:solidFill>
              </a:rPr>
              <a:t>KEY POINT  </a:t>
            </a:r>
            <a:pPr indent="0" marL="0">
              <a:buNone/>
            </a:pPr>
            <a:r>
              <a:rPr lang="en-US" sz="1300" dirty="0">
                <a:solidFill>
                  <a:srgbClr val="1B2A4A"/>
                </a:solidFill>
              </a:rPr>
              <a:t>The description tells the model what you expect. The validator enforces it.</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indent="0" marL="0">
              <a:buNone/>
            </a:pPr>
            <a:r>
              <a:rPr lang="en-US" sz="900" b="1" spc="200" kern="0" dirty="0">
                <a:solidFill>
                  <a:srgbClr val="D4824A"/>
                </a:solidFill>
              </a:rPr>
              <a:t>EXAMPLE  </a:t>
            </a:r>
            <a:pPr indent="0" marL="0">
              <a:buNone/>
            </a:pPr>
            <a:r>
              <a:rPr lang="en-US" sz="1200" b="1" dirty="0">
                <a:solidFill>
                  <a:srgbClr val="FFFFFF"/>
                </a:solidFill>
              </a:rPr>
              <a:t>A safe tool schema (demo 09)</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class DBQueryArgs(BaseModel):</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table: Literal["orders", "products",</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"customers"]</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limit: int = Field(ge=1, le=500)</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customer_id: Optional[str] = Field(</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default=None,</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pattern=r"^CUST-\d{6}$")</a:t>
            </a:r>
            <a:endParaRPr lang="en-US" sz="1050" dirty="0"/>
          </a:p>
          <a:p>
            <a:pPr indent="0" marL="0">
              <a:lnSpc>
                <a:spcPct val="100000"/>
              </a:lnSpc>
              <a:buNone/>
            </a:pP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@tool(args_schema=DBQueryArgs)</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def query_database(table, limit,</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customer_id=None):</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"""Query one allowed table."""</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return run_query(table, limit,</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customer_id)</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SAFE DESIGN &amp; ERROR HANDLING  ·  2 OF 4</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Tool Permissions and Scope</a:t>
            </a:r>
            <a:endParaRPr lang="en-US" sz="2800" dirty="0"/>
          </a:p>
        </p:txBody>
      </p:sp>
      <p:sp>
        <p:nvSpPr>
          <p:cNvPr id="4" name="Shape 2"/>
          <p:cNvSpPr/>
          <p:nvPr/>
        </p:nvSpPr>
        <p:spPr>
          <a:xfrm>
            <a:off x="502920" y="1298448"/>
            <a:ext cx="329184" cy="329184"/>
          </a:xfrm>
          <a:prstGeom prst="ellipse">
            <a:avLst/>
          </a:prstGeom>
          <a:solidFill>
            <a:srgbClr val="1B2A4A"/>
          </a:solidFill>
          <a:ln w="12700">
            <a:solidFill>
              <a:srgbClr val="1B2A4A"/>
            </a:solidFill>
            <a:prstDash val="solid"/>
          </a:ln>
        </p:spPr>
      </p:sp>
      <p:sp>
        <p:nvSpPr>
          <p:cNvPr id="5" name="Text 3"/>
          <p:cNvSpPr txBox="1"/>
          <p:nvPr/>
        </p:nvSpPr>
        <p:spPr>
          <a:xfrm>
            <a:off x="502920" y="12984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978408" y="1243584"/>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Read-only tools by default</a:t>
            </a:r>
            <a:endParaRPr lang="en-US" sz="1500" dirty="0"/>
          </a:p>
          <a:p>
            <a:pPr indent="0" marL="0">
              <a:spcAft>
                <a:spcPts val="200"/>
              </a:spcAft>
              <a:buNone/>
            </a:pPr>
            <a:r>
              <a:rPr lang="en-US" sz="1200" dirty="0">
                <a:solidFill>
                  <a:srgbClr val="5F6F80"/>
                </a:solidFill>
              </a:rPr>
              <a:t>Add write tools only when needed</a:t>
            </a:r>
            <a:endParaRPr lang="en-US" sz="1500" dirty="0"/>
          </a:p>
        </p:txBody>
      </p:sp>
      <p:sp>
        <p:nvSpPr>
          <p:cNvPr id="7" name="Shape 5"/>
          <p:cNvSpPr/>
          <p:nvPr/>
        </p:nvSpPr>
        <p:spPr>
          <a:xfrm>
            <a:off x="502920" y="1920240"/>
            <a:ext cx="329184" cy="329184"/>
          </a:xfrm>
          <a:prstGeom prst="ellipse">
            <a:avLst/>
          </a:prstGeom>
          <a:solidFill>
            <a:srgbClr val="1B2A4A"/>
          </a:solidFill>
          <a:ln w="12700">
            <a:solidFill>
              <a:srgbClr val="1B2A4A"/>
            </a:solidFill>
            <a:prstDash val="solid"/>
          </a:ln>
        </p:spPr>
      </p:sp>
      <p:sp>
        <p:nvSpPr>
          <p:cNvPr id="8" name="Text 6"/>
          <p:cNvSpPr txBox="1"/>
          <p:nvPr/>
        </p:nvSpPr>
        <p:spPr>
          <a:xfrm>
            <a:off x="502920" y="19202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978408" y="1865376"/>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Inject user_id in your code</a:t>
            </a:r>
            <a:endParaRPr lang="en-US" sz="1500" dirty="0"/>
          </a:p>
          <a:p>
            <a:pPr indent="0" marL="0">
              <a:spcAft>
                <a:spcPts val="200"/>
              </a:spcAft>
              <a:buNone/>
            </a:pPr>
            <a:r>
              <a:rPr lang="en-US" sz="1200" dirty="0">
                <a:solidFill>
                  <a:srgbClr val="5F6F80"/>
                </a:solidFill>
              </a:rPr>
              <a:t>The model never chooses whose data</a:t>
            </a:r>
            <a:endParaRPr lang="en-US" sz="1500" dirty="0"/>
          </a:p>
        </p:txBody>
      </p:sp>
      <p:sp>
        <p:nvSpPr>
          <p:cNvPr id="10" name="Shape 8"/>
          <p:cNvSpPr/>
          <p:nvPr/>
        </p:nvSpPr>
        <p:spPr>
          <a:xfrm>
            <a:off x="502920" y="2542032"/>
            <a:ext cx="329184" cy="329184"/>
          </a:xfrm>
          <a:prstGeom prst="ellipse">
            <a:avLst/>
          </a:prstGeom>
          <a:solidFill>
            <a:srgbClr val="1B2A4A"/>
          </a:solidFill>
          <a:ln w="12700">
            <a:solidFill>
              <a:srgbClr val="1B2A4A"/>
            </a:solidFill>
            <a:prstDash val="solid"/>
          </a:ln>
        </p:spPr>
      </p:sp>
      <p:sp>
        <p:nvSpPr>
          <p:cNvPr id="11" name="Text 9"/>
          <p:cNvSpPr txBox="1"/>
          <p:nvPr/>
        </p:nvSpPr>
        <p:spPr>
          <a:xfrm>
            <a:off x="50292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10"/>
          <p:cNvSpPr txBox="1"/>
          <p:nvPr/>
        </p:nvSpPr>
        <p:spPr>
          <a:xfrm>
            <a:off x="978408" y="2487168"/>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Log every tool call</a:t>
            </a:r>
            <a:endParaRPr lang="en-US" sz="1500" dirty="0"/>
          </a:p>
          <a:p>
            <a:pPr indent="0" marL="0">
              <a:spcAft>
                <a:spcPts val="200"/>
              </a:spcAft>
              <a:buNone/>
            </a:pPr>
            <a:r>
              <a:rPr lang="en-US" sz="1200" dirty="0">
                <a:solidFill>
                  <a:srgbClr val="5F6F80"/>
                </a:solidFill>
              </a:rPr>
              <a:t>Name, arguments and result</a:t>
            </a:r>
            <a:endParaRPr lang="en-US" sz="1500" dirty="0"/>
          </a:p>
        </p:txBody>
      </p:sp>
      <p:sp>
        <p:nvSpPr>
          <p:cNvPr id="13" name="Shape 11"/>
          <p:cNvSpPr/>
          <p:nvPr/>
        </p:nvSpPr>
        <p:spPr>
          <a:xfrm>
            <a:off x="502920" y="316382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502920" y="31638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3"/>
          <p:cNvSpPr txBox="1"/>
          <p:nvPr/>
        </p:nvSpPr>
        <p:spPr>
          <a:xfrm>
            <a:off x="978408" y="3108960"/>
            <a:ext cx="3364992" cy="621792"/>
          </a:xfrm>
          <a:prstGeom prst="rect">
            <a:avLst/>
          </a:prstGeom>
          <a:noFill/>
          <a:ln/>
        </p:spPr>
        <p:txBody>
          <a:bodyPr wrap="square" lIns="0" tIns="0" rIns="0" bIns="0" rtlCol="0" anchor="t"/>
          <a:lstStyle/>
          <a:p>
            <a:pPr indent="0" marL="0">
              <a:spcAft>
                <a:spcPts val="200"/>
              </a:spcAft>
              <a:buNone/>
            </a:pPr>
            <a:r>
              <a:rPr lang="en-US" sz="1500" b="1" dirty="0">
                <a:solidFill>
                  <a:srgbClr val="1B2A4A"/>
                </a:solidFill>
              </a:rPr>
              <a:t>Confirm irreversible actions</a:t>
            </a:r>
            <a:endParaRPr lang="en-US" sz="1500" dirty="0"/>
          </a:p>
          <a:p>
            <a:pPr indent="0" marL="0">
              <a:spcAft>
                <a:spcPts val="200"/>
              </a:spcAft>
              <a:buNone/>
            </a:pPr>
            <a:r>
              <a:rPr lang="en-US" sz="1200" dirty="0">
                <a:solidFill>
                  <a:srgbClr val="5F6F80"/>
                </a:solidFill>
              </a:rPr>
              <a:t>Preview first, then confirm()</a:t>
            </a:r>
            <a:endParaRPr lang="en-US" sz="1500" dirty="0"/>
          </a:p>
        </p:txBody>
      </p:sp>
      <p:sp>
        <p:nvSpPr>
          <p:cNvPr id="16" name="Shape 14"/>
          <p:cNvSpPr/>
          <p:nvPr/>
        </p:nvSpPr>
        <p:spPr>
          <a:xfrm>
            <a:off x="502920" y="3913632"/>
            <a:ext cx="3840480" cy="658368"/>
          </a:xfrm>
          <a:prstGeom prst="roundRect">
            <a:avLst>
              <a:gd name="adj" fmla="val 11111"/>
            </a:avLst>
          </a:prstGeom>
          <a:solidFill>
            <a:srgbClr val="FBEFE6"/>
          </a:solidFill>
          <a:ln w="12700">
            <a:solidFill>
              <a:srgbClr val="FBEFE6"/>
            </a:solidFill>
            <a:prstDash val="solid"/>
          </a:ln>
        </p:spPr>
      </p:sp>
      <p:sp>
        <p:nvSpPr>
          <p:cNvPr id="17" name="Text 15"/>
          <p:cNvSpPr txBox="1"/>
          <p:nvPr/>
        </p:nvSpPr>
        <p:spPr>
          <a:xfrm>
            <a:off x="667512" y="3913632"/>
            <a:ext cx="3511296" cy="658368"/>
          </a:xfrm>
          <a:prstGeom prst="rect">
            <a:avLst/>
          </a:prstGeom>
          <a:noFill/>
          <a:ln/>
        </p:spPr>
        <p:txBody>
          <a:bodyPr wrap="square" lIns="0" tIns="0" rIns="0" bIns="0" rtlCol="0" anchor="ctr"/>
          <a:lstStyle/>
          <a:p>
            <a:pPr indent="0" marL="0">
              <a:buNone/>
            </a:pPr>
            <a:r>
              <a:rPr lang="en-US" sz="1000" b="1" spc="200" kern="0" dirty="0">
                <a:solidFill>
                  <a:srgbClr val="D4824A"/>
                </a:solidFill>
              </a:rPr>
              <a:t>KEY POINT  </a:t>
            </a:r>
            <a:pPr indent="0" marL="0">
              <a:buNone/>
            </a:pPr>
            <a:r>
              <a:rPr lang="en-US" sz="1300" dirty="0">
                <a:solidFill>
                  <a:srgbClr val="1B2A4A"/>
                </a:solidFill>
              </a:rPr>
              <a:t>Least privilege: give the model only the access the task needs.</a:t>
            </a:r>
            <a:endParaRPr lang="en-US" sz="1000" dirty="0"/>
          </a:p>
        </p:txBody>
      </p:sp>
      <p:sp>
        <p:nvSpPr>
          <p:cNvPr id="18" name="Shape 16"/>
          <p:cNvSpPr/>
          <p:nvPr/>
        </p:nvSpPr>
        <p:spPr>
          <a:xfrm>
            <a:off x="4572000" y="1188720"/>
            <a:ext cx="4069080" cy="3383280"/>
          </a:xfrm>
          <a:prstGeom prst="roundRect">
            <a:avLst>
              <a:gd name="adj" fmla="val 2162"/>
            </a:avLst>
          </a:prstGeom>
          <a:solidFill>
            <a:srgbClr val="1B2A4A"/>
          </a:solidFill>
          <a:ln w="12700">
            <a:solidFill>
              <a:srgbClr val="1B2A4A"/>
            </a:solidFill>
            <a:prstDash val="solid"/>
          </a:ln>
        </p:spPr>
      </p:sp>
      <p:sp>
        <p:nvSpPr>
          <p:cNvPr id="19" name="Text 17"/>
          <p:cNvSpPr txBox="1"/>
          <p:nvPr/>
        </p:nvSpPr>
        <p:spPr>
          <a:xfrm>
            <a:off x="4773168" y="1316736"/>
            <a:ext cx="3666744" cy="292608"/>
          </a:xfrm>
          <a:prstGeom prst="rect">
            <a:avLst/>
          </a:prstGeom>
          <a:noFill/>
          <a:ln/>
        </p:spPr>
        <p:txBody>
          <a:bodyPr wrap="square" lIns="0" tIns="0" rIns="0" bIns="0" rtlCol="0" anchor="ctr"/>
          <a:lstStyle/>
          <a:p>
            <a:pPr indent="0" marL="0">
              <a:buNone/>
            </a:pPr>
            <a:r>
              <a:rPr lang="en-US" sz="900" b="1" spc="200" kern="0" dirty="0">
                <a:solidFill>
                  <a:srgbClr val="D4824A"/>
                </a:solidFill>
              </a:rPr>
              <a:t>EXAMPLE  </a:t>
            </a:r>
            <a:pPr indent="0" marL="0">
              <a:buNone/>
            </a:pPr>
            <a:r>
              <a:rPr lang="en-US" sz="1200" b="1" dirty="0">
                <a:solidFill>
                  <a:srgbClr val="FFFFFF"/>
                </a:solidFill>
              </a:rPr>
              <a:t>Scoped tool injection (demo 10)</a:t>
            </a:r>
            <a:endParaRPr lang="en-US" sz="900" dirty="0"/>
          </a:p>
        </p:txBody>
      </p:sp>
      <p:sp>
        <p:nvSpPr>
          <p:cNvPr id="20" name="Text 18"/>
          <p:cNvSpPr txBox="1"/>
          <p:nvPr/>
        </p:nvSpPr>
        <p:spPr>
          <a:xfrm>
            <a:off x="4773168" y="1700784"/>
            <a:ext cx="3703320" cy="2743200"/>
          </a:xfrm>
          <a:prstGeom prst="rect">
            <a:avLst/>
          </a:prstGeom>
          <a:noFill/>
          <a:ln/>
        </p:spPr>
        <p:txBody>
          <a:bodyPr wrap="square" lIns="0" tIns="0" rIns="0" bIns="0" rtlCol="0" anchor="t"/>
          <a:lstStyle/>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def make_tools_for_user(user_id: str):</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 user_id lives in the closure:</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 the model never sees or sets it</a:t>
            </a:r>
            <a:endParaRPr lang="en-US" sz="1050" dirty="0"/>
          </a:p>
          <a:p>
            <a:pPr indent="0" marL="0">
              <a:lnSpc>
                <a:spcPct val="100000"/>
              </a:lnSpc>
              <a:buNone/>
            </a:pP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@tool</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def get_my_orders(limit: int = 10):</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"""Fetch this user's orders."""</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return db.query(</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"SELECT * FROM orders "</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"WHERE user_id=? LIMIT ?",</a:t>
            </a: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[user_id, min(limit, 100)])</a:t>
            </a:r>
            <a:endParaRPr lang="en-US" sz="1050" dirty="0"/>
          </a:p>
          <a:p>
            <a:pPr indent="0" marL="0">
              <a:lnSpc>
                <a:spcPct val="100000"/>
              </a:lnSpc>
              <a:buNone/>
            </a:pPr>
            <a:endParaRPr lang="en-US" sz="1050" dirty="0"/>
          </a:p>
          <a:p>
            <a:pPr indent="0" marL="0">
              <a:lnSpc>
                <a:spcPct val="100000"/>
              </a:lnSpc>
              <a:buNone/>
            </a:pPr>
            <a:r>
              <a:rPr lang="en-US" sz="1050" dirty="0">
                <a:solidFill>
                  <a:srgbClr val="E6EDF5"/>
                </a:solidFill>
                <a:latin typeface="Consolas" pitchFamily="34" charset="0"/>
                <a:ea typeface="Consolas" pitchFamily="34" charset="-122"/>
                <a:cs typeface="Consolas" pitchFamily="34" charset="-120"/>
              </a:rPr>
              <a:t>    return [get_my_orders]</a:t>
            </a:r>
            <a:endParaRPr lang="en-US" sz="105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SAFE DESIGN &amp; ERROR HANDLING  ·  3 OF 4</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Handling Malformed or Partial Output</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926080"/>
                <a:gridCol w="5212080"/>
              </a:tblGrid>
              <a:tr h="457200">
                <a:tc>
                  <a:txBody>
                    <a:bodyPr/>
                    <a:lstStyle/>
                    <a:p>
                      <a:pPr indent="0" marL="0">
                        <a:buNone/>
                      </a:pPr>
                      <a:r>
                        <a:rPr lang="en-US" sz="1200" b="1" spc="100" kern="0" dirty="0">
                          <a:solidFill>
                            <a:srgbClr val="FFFFFF"/>
                          </a:solidFill>
                        </a:rPr>
                        <a:t>WHAT GOES WRONG</a:t>
                      </a:r>
                      <a:endParaRPr lang="en-US" sz="1200" dirty="0"/>
                    </a:p>
                  </a:txBody>
                  <a:tcPr marL="137160" marR="137160" marT="0" marB="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indent="0" marL="0">
                        <a:buNone/>
                      </a:pPr>
                      <a:r>
                        <a:rPr lang="en-US" sz="1200" b="1" spc="100" kern="0" dirty="0">
                          <a:solidFill>
                            <a:srgbClr val="FFFFFF"/>
                          </a:solidFill>
                        </a:rPr>
                        <a:t>HOW TO FIX IT</a:t>
                      </a:r>
                      <a:endParaRPr lang="en-US" sz="1200" dirty="0"/>
                    </a:p>
                  </a:txBody>
                  <a:tcPr marL="137160" marR="137160" marT="0" marB="0" anchor="ctr">
                    <a:lnL w="0" cap="flat" cmpd="sng" algn="ctr">
                      <a:noFill/>
                    </a:lnL>
                    <a:lnR w="0" cap="flat" cmpd="sng" algn="ctr">
                      <a:noFill/>
                    </a:lnR>
                    <a:lnT w="0" cap="flat" cmpd="sng" algn="ctr">
                      <a:noFill/>
                    </a:lnT>
                    <a:lnB w="0" cap="flat" cmpd="sng" algn="ctr">
                      <a:noFill/>
                    </a:lnB>
                    <a:solidFill>
                      <a:srgbClr val="1B2A4A"/>
                    </a:solidFill>
                  </a:tcPr>
                </a:tc>
              </a:tr>
              <a:tr h="457200">
                <a:tc>
                  <a:txBody>
                    <a:bodyPr/>
                    <a:lstStyle/>
                    <a:p>
                      <a:pPr indent="0" marL="0">
                        <a:buNone/>
                      </a:pPr>
                      <a:r>
                        <a:rPr lang="en-US" sz="1400" b="1" dirty="0">
                          <a:solidFill>
                            <a:srgbClr val="1B2A4A"/>
                          </a:solidFill>
                        </a:rPr>
                        <a:t>Extra or wrong keys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indent="0" marL="0">
                        <a:buNone/>
                      </a:pPr>
                      <a:r>
                        <a:rPr lang="en-US" sz="1300" dirty="0">
                          <a:solidFill>
                            <a:srgbClr val="1B2A4A"/>
                          </a:solidFill>
                        </a:rPr>
                        <a:t>model_config = ConfigDict(extra="forbid")</a:t>
                      </a:r>
                      <a:endParaRPr lang="en-US" sz="1300" dirty="0"/>
                    </a:p>
                  </a:txBody>
                  <a:tcPr marL="137160" marR="137160" marT="0" marB="0" anchor="ctr">
                    <a:lnL w="0" cap="flat" cmpd="sng" algn="ctr">
                      <a:noFill/>
                    </a:lnL>
                    <a:lnR w="0" cap="flat" cmpd="sng" algn="ctr">
                      <a:noFill/>
                    </a:lnR>
                    <a:lnT w="0" cap="flat" cmpd="sng" algn="ctr">
                      <a:noFill/>
                    </a:lnT>
                    <a:lnB w="0" cap="flat" cmpd="sng" algn="ctr">
                      <a:noFill/>
                    </a:lnB>
                    <a:solidFill>
                      <a:srgbClr val="F4F6F9"/>
                    </a:solidFill>
                  </a:tcPr>
                </a:tc>
              </a:tr>
              <a:tr h="457200">
                <a:tc>
                  <a:txBody>
                    <a:bodyPr/>
                    <a:lstStyle/>
                    <a:p>
                      <a:pPr indent="0" marL="0">
                        <a:buNone/>
                      </a:pPr>
                      <a:r>
                        <a:rPr lang="en-US" sz="1400" b="1" dirty="0">
                          <a:solidFill>
                            <a:srgbClr val="1B2A4A"/>
                          </a:solidFill>
                        </a:rPr>
                        <a:t>Missing required field</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B2A4A"/>
                          </a:solidFill>
                        </a:rPr>
                        <a:t>Catch ValidationError, retry naming the field</a:t>
                      </a:r>
                      <a:endParaRPr lang="en-US" sz="13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400" b="1" dirty="0">
                          <a:solidFill>
                            <a:srgbClr val="1B2A4A"/>
                          </a:solidFill>
                        </a:rPr>
                        <a:t>Truncated output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indent="0" marL="0">
                        <a:buNone/>
                      </a:pPr>
                      <a:r>
                        <a:rPr lang="en-US" sz="1300" dirty="0">
                          <a:solidFill>
                            <a:srgbClr val="1B2A4A"/>
                          </a:solidFill>
                        </a:rPr>
                        <a:t>Raise max_tokens, or split into smaller tasks</a:t>
                      </a:r>
                      <a:endParaRPr lang="en-US" sz="1300" dirty="0"/>
                    </a:p>
                  </a:txBody>
                  <a:tcPr marL="137160" marR="137160" marT="0" marB="0" anchor="ctr">
                    <a:lnL w="0" cap="flat" cmpd="sng" algn="ctr">
                      <a:noFill/>
                    </a:lnL>
                    <a:lnR w="0" cap="flat" cmpd="sng" algn="ctr">
                      <a:noFill/>
                    </a:lnR>
                    <a:lnT w="0" cap="flat" cmpd="sng" algn="ctr">
                      <a:noFill/>
                    </a:lnT>
                    <a:lnB w="0" cap="flat" cmpd="sng" algn="ctr">
                      <a:noFill/>
                    </a:lnB>
                    <a:solidFill>
                      <a:srgbClr val="F4F6F9"/>
                    </a:solidFill>
                  </a:tcPr>
                </a:tc>
              </a:tr>
              <a:tr h="457200">
                <a:tc>
                  <a:txBody>
                    <a:bodyPr/>
                    <a:lstStyle/>
                    <a:p>
                      <a:pPr indent="0" marL="0">
                        <a:buNone/>
                      </a:pPr>
                      <a:r>
                        <a:rPr lang="en-US" sz="1400" b="1" dirty="0">
                          <a:solidFill>
                            <a:srgbClr val="1B2A4A"/>
                          </a:solidFill>
                        </a:rPr>
                        <a:t>Wrong type ("3" vs 3)</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B2A4A"/>
                          </a:solidFill>
                        </a:rPr>
                        <a:t>Normalize in a @field_validator</a:t>
                      </a:r>
                      <a:endParaRPr lang="en-US" sz="13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502920" y="3840480"/>
            <a:ext cx="8138160" cy="594360"/>
          </a:xfrm>
          <a:prstGeom prst="roundRect">
            <a:avLst>
              <a:gd name="adj" fmla="val 12308"/>
            </a:avLst>
          </a:prstGeom>
          <a:solidFill>
            <a:srgbClr val="FBEFE6"/>
          </a:solidFill>
          <a:ln w="12700">
            <a:solidFill>
              <a:srgbClr val="FBEFE6"/>
            </a:solidFill>
            <a:prstDash val="solid"/>
          </a:ln>
        </p:spPr>
      </p:sp>
      <p:sp>
        <p:nvSpPr>
          <p:cNvPr id="6" name="Text 3"/>
          <p:cNvSpPr txBox="1"/>
          <p:nvPr/>
        </p:nvSpPr>
        <p:spPr>
          <a:xfrm>
            <a:off x="667512" y="3840480"/>
            <a:ext cx="7808976" cy="594360"/>
          </a:xfrm>
          <a:prstGeom prst="rect">
            <a:avLst/>
          </a:prstGeom>
          <a:noFill/>
          <a:ln/>
        </p:spPr>
        <p:txBody>
          <a:bodyPr wrap="square" lIns="0" tIns="0" rIns="0" bIns="0" rtlCol="0" anchor="ctr"/>
          <a:lstStyle/>
          <a:p>
            <a:pPr indent="0" marL="0">
              <a:buNone/>
            </a:pPr>
            <a:r>
              <a:rPr lang="en-US" sz="1000" b="1" spc="200" kern="0" dirty="0">
                <a:solidFill>
                  <a:srgbClr val="D4824A"/>
                </a:solidFill>
              </a:rPr>
              <a:t>KEY POINT  </a:t>
            </a:r>
            <a:pPr indent="0" marL="0">
              <a:buNone/>
            </a:pPr>
            <a:r>
              <a:rPr lang="en-US" sz="1300" dirty="0">
                <a:solidFill>
                  <a:srgbClr val="1B2A4A"/>
                </a:solidFill>
              </a:rPr>
              <a:t>Treat raw model output as untrusted data: never eval() it or pass it straight to a database.</a:t>
            </a:r>
            <a:endParaRPr lang="en-US" sz="100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SAFE DESIGN &amp; ERROR HANDLING  ·  4 OF 4</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Retry and Fallback Strategies</a:t>
            </a:r>
            <a:endParaRPr lang="en-US" sz="2800" dirty="0"/>
          </a:p>
        </p:txBody>
      </p:sp>
      <p:sp>
        <p:nvSpPr>
          <p:cNvPr id="4" name="Shape 2"/>
          <p:cNvSpPr/>
          <p:nvPr/>
        </p:nvSpPr>
        <p:spPr>
          <a:xfrm>
            <a:off x="502920" y="1280160"/>
            <a:ext cx="3657600" cy="512064"/>
          </a:xfrm>
          <a:prstGeom prst="roundRect">
            <a:avLst>
              <a:gd name="adj" fmla="val 14286"/>
            </a:avLst>
          </a:prstGeom>
          <a:solidFill>
            <a:srgbClr val="F4F6F9"/>
          </a:solidFill>
          <a:ln w="12700">
            <a:solidFill>
              <a:srgbClr val="F4F6F9"/>
            </a:solidFill>
            <a:prstDash val="solid"/>
          </a:ln>
        </p:spPr>
      </p:sp>
      <p:sp>
        <p:nvSpPr>
          <p:cNvPr id="5" name="Shape 3"/>
          <p:cNvSpPr/>
          <p:nvPr/>
        </p:nvSpPr>
        <p:spPr>
          <a:xfrm>
            <a:off x="612648" y="1371600"/>
            <a:ext cx="329184" cy="329184"/>
          </a:xfrm>
          <a:prstGeom prst="ellipse">
            <a:avLst/>
          </a:prstGeom>
          <a:solidFill>
            <a:srgbClr val="1B2A4A"/>
          </a:solidFill>
          <a:ln w="12700">
            <a:solidFill>
              <a:srgbClr val="1B2A4A"/>
            </a:solidFill>
            <a:prstDash val="solid"/>
          </a:ln>
        </p:spPr>
      </p:sp>
      <p:sp>
        <p:nvSpPr>
          <p:cNvPr id="6" name="Text 4"/>
          <p:cNvSpPr txBox="1"/>
          <p:nvPr/>
        </p:nvSpPr>
        <p:spPr>
          <a:xfrm>
            <a:off x="612648" y="13716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1051560" y="1280160"/>
            <a:ext cx="3017520" cy="512064"/>
          </a:xfrm>
          <a:prstGeom prst="rect">
            <a:avLst/>
          </a:prstGeom>
          <a:noFill/>
          <a:ln/>
        </p:spPr>
        <p:txBody>
          <a:bodyPr wrap="square" lIns="0" tIns="0" rIns="0" bIns="0" rtlCol="0" anchor="ctr"/>
          <a:lstStyle/>
          <a:p>
            <a:pPr indent="0" marL="0">
              <a:buNone/>
            </a:pPr>
            <a:r>
              <a:rPr lang="en-US" sz="1400" b="1" dirty="0">
                <a:solidFill>
                  <a:srgbClr val="1B2A4A"/>
                </a:solidFill>
              </a:rPr>
              <a:t>Retry with the error   </a:t>
            </a:r>
            <a:pPr indent="0" marL="0">
              <a:buNone/>
            </a:pPr>
            <a:r>
              <a:rPr lang="en-US" sz="1150" dirty="0">
                <a:solidFill>
                  <a:srgbClr val="5F6F80"/>
                </a:solidFill>
              </a:rPr>
              <a:t>Model fixes its output</a:t>
            </a:r>
            <a:endParaRPr lang="en-US" sz="1400" dirty="0"/>
          </a:p>
        </p:txBody>
      </p:sp>
      <p:sp>
        <p:nvSpPr>
          <p:cNvPr id="8" name="Shape 6"/>
          <p:cNvSpPr/>
          <p:nvPr/>
        </p:nvSpPr>
        <p:spPr>
          <a:xfrm>
            <a:off x="731520" y="1901952"/>
            <a:ext cx="3657600" cy="512064"/>
          </a:xfrm>
          <a:prstGeom prst="roundRect">
            <a:avLst>
              <a:gd name="adj" fmla="val 14286"/>
            </a:avLst>
          </a:prstGeom>
          <a:solidFill>
            <a:srgbClr val="F4F6F9"/>
          </a:solidFill>
          <a:ln w="12700">
            <a:solidFill>
              <a:srgbClr val="F4F6F9"/>
            </a:solidFill>
            <a:prstDash val="solid"/>
          </a:ln>
        </p:spPr>
      </p:sp>
      <p:sp>
        <p:nvSpPr>
          <p:cNvPr id="9" name="Shape 7"/>
          <p:cNvSpPr/>
          <p:nvPr/>
        </p:nvSpPr>
        <p:spPr>
          <a:xfrm>
            <a:off x="841248" y="1993392"/>
            <a:ext cx="329184" cy="329184"/>
          </a:xfrm>
          <a:prstGeom prst="ellipse">
            <a:avLst/>
          </a:prstGeom>
          <a:solidFill>
            <a:srgbClr val="1B2A4A"/>
          </a:solidFill>
          <a:ln w="12700">
            <a:solidFill>
              <a:srgbClr val="1B2A4A"/>
            </a:solidFill>
            <a:prstDash val="solid"/>
          </a:ln>
        </p:spPr>
      </p:sp>
      <p:sp>
        <p:nvSpPr>
          <p:cNvPr id="10" name="Text 8"/>
          <p:cNvSpPr txBox="1"/>
          <p:nvPr/>
        </p:nvSpPr>
        <p:spPr>
          <a:xfrm>
            <a:off x="841248" y="19933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txBox="1"/>
          <p:nvPr/>
        </p:nvSpPr>
        <p:spPr>
          <a:xfrm>
            <a:off x="1280160" y="1901952"/>
            <a:ext cx="3017520" cy="512064"/>
          </a:xfrm>
          <a:prstGeom prst="rect">
            <a:avLst/>
          </a:prstGeom>
          <a:noFill/>
          <a:ln/>
        </p:spPr>
        <p:txBody>
          <a:bodyPr wrap="square" lIns="0" tIns="0" rIns="0" bIns="0" rtlCol="0" anchor="ctr"/>
          <a:lstStyle/>
          <a:p>
            <a:pPr indent="0" marL="0">
              <a:buNone/>
            </a:pPr>
            <a:r>
              <a:rPr lang="en-US" sz="1400" b="1" dirty="0">
                <a:solidFill>
                  <a:srgbClr val="1B2A4A"/>
                </a:solidFill>
              </a:rPr>
              <a:t>Simplify the schema   </a:t>
            </a:r>
            <a:pPr indent="0" marL="0">
              <a:buNone/>
            </a:pPr>
            <a:r>
              <a:rPr lang="en-US" sz="1150" dirty="0">
                <a:solidFill>
                  <a:srgbClr val="5F6F80"/>
                </a:solidFill>
              </a:rPr>
              <a:t>Fall back to 3 key fields</a:t>
            </a:r>
            <a:endParaRPr lang="en-US" sz="1400" dirty="0"/>
          </a:p>
        </p:txBody>
      </p:sp>
      <p:sp>
        <p:nvSpPr>
          <p:cNvPr id="12" name="Shape 10"/>
          <p:cNvSpPr/>
          <p:nvPr/>
        </p:nvSpPr>
        <p:spPr>
          <a:xfrm>
            <a:off x="960120" y="2523744"/>
            <a:ext cx="3657600" cy="512064"/>
          </a:xfrm>
          <a:prstGeom prst="roundRect">
            <a:avLst>
              <a:gd name="adj" fmla="val 14286"/>
            </a:avLst>
          </a:prstGeom>
          <a:solidFill>
            <a:srgbClr val="F4F6F9"/>
          </a:solidFill>
          <a:ln w="12700">
            <a:solidFill>
              <a:srgbClr val="F4F6F9"/>
            </a:solidFill>
            <a:prstDash val="solid"/>
          </a:ln>
        </p:spPr>
      </p:sp>
      <p:sp>
        <p:nvSpPr>
          <p:cNvPr id="13" name="Shape 11"/>
          <p:cNvSpPr/>
          <p:nvPr/>
        </p:nvSpPr>
        <p:spPr>
          <a:xfrm>
            <a:off x="1069848" y="2615184"/>
            <a:ext cx="329184" cy="329184"/>
          </a:xfrm>
          <a:prstGeom prst="ellipse">
            <a:avLst/>
          </a:prstGeom>
          <a:solidFill>
            <a:srgbClr val="1B2A4A"/>
          </a:solidFill>
          <a:ln w="12700">
            <a:solidFill>
              <a:srgbClr val="1B2A4A"/>
            </a:solidFill>
            <a:prstDash val="solid"/>
          </a:ln>
        </p:spPr>
      </p:sp>
      <p:sp>
        <p:nvSpPr>
          <p:cNvPr id="14" name="Text 12"/>
          <p:cNvSpPr txBox="1"/>
          <p:nvPr/>
        </p:nvSpPr>
        <p:spPr>
          <a:xfrm>
            <a:off x="1069848" y="26151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1508760" y="2523744"/>
            <a:ext cx="3017520" cy="512064"/>
          </a:xfrm>
          <a:prstGeom prst="rect">
            <a:avLst/>
          </a:prstGeom>
          <a:noFill/>
          <a:ln/>
        </p:spPr>
        <p:txBody>
          <a:bodyPr wrap="square" lIns="0" tIns="0" rIns="0" bIns="0" rtlCol="0" anchor="ctr"/>
          <a:lstStyle/>
          <a:p>
            <a:pPr indent="0" marL="0">
              <a:buNone/>
            </a:pPr>
            <a:r>
              <a:rPr lang="en-US" sz="1400" b="1" dirty="0">
                <a:solidFill>
                  <a:srgbClr val="1B2A4A"/>
                </a:solidFill>
              </a:rPr>
              <a:t>Coerce types   </a:t>
            </a:r>
            <a:pPr indent="0" marL="0">
              <a:buNone/>
            </a:pPr>
            <a:r>
              <a:rPr lang="en-US" sz="1150" dirty="0">
                <a:solidFill>
                  <a:srgbClr val="5F6F80"/>
                </a:solidFill>
              </a:rPr>
              <a:t>"yes" → True, "3" → 3</a:t>
            </a:r>
            <a:endParaRPr lang="en-US" sz="1400" dirty="0"/>
          </a:p>
        </p:txBody>
      </p:sp>
      <p:sp>
        <p:nvSpPr>
          <p:cNvPr id="16" name="Shape 14"/>
          <p:cNvSpPr/>
          <p:nvPr/>
        </p:nvSpPr>
        <p:spPr>
          <a:xfrm>
            <a:off x="1188720" y="3145536"/>
            <a:ext cx="3657600" cy="512064"/>
          </a:xfrm>
          <a:prstGeom prst="roundRect">
            <a:avLst>
              <a:gd name="adj" fmla="val 14286"/>
            </a:avLst>
          </a:prstGeom>
          <a:solidFill>
            <a:srgbClr val="FBEFE6"/>
          </a:solidFill>
          <a:ln w="12700">
            <a:solidFill>
              <a:srgbClr val="FBEFE6"/>
            </a:solidFill>
            <a:prstDash val="solid"/>
          </a:ln>
        </p:spPr>
      </p:sp>
      <p:sp>
        <p:nvSpPr>
          <p:cNvPr id="17" name="Shape 15"/>
          <p:cNvSpPr/>
          <p:nvPr/>
        </p:nvSpPr>
        <p:spPr>
          <a:xfrm>
            <a:off x="1298448" y="3236976"/>
            <a:ext cx="329184" cy="329184"/>
          </a:xfrm>
          <a:prstGeom prst="ellipse">
            <a:avLst/>
          </a:prstGeom>
          <a:solidFill>
            <a:srgbClr val="D4824A"/>
          </a:solidFill>
          <a:ln w="12700">
            <a:solidFill>
              <a:srgbClr val="D4824A"/>
            </a:solidFill>
            <a:prstDash val="solid"/>
          </a:ln>
        </p:spPr>
      </p:sp>
      <p:sp>
        <p:nvSpPr>
          <p:cNvPr id="18" name="Text 16"/>
          <p:cNvSpPr txBox="1"/>
          <p:nvPr/>
        </p:nvSpPr>
        <p:spPr>
          <a:xfrm>
            <a:off x="1298448" y="323697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9" name="Text 17"/>
          <p:cNvSpPr txBox="1"/>
          <p:nvPr/>
        </p:nvSpPr>
        <p:spPr>
          <a:xfrm>
            <a:off x="1737360" y="3145536"/>
            <a:ext cx="3017520" cy="512064"/>
          </a:xfrm>
          <a:prstGeom prst="rect">
            <a:avLst/>
          </a:prstGeom>
          <a:noFill/>
          <a:ln/>
        </p:spPr>
        <p:txBody>
          <a:bodyPr wrap="square" lIns="0" tIns="0" rIns="0" bIns="0" rtlCol="0" anchor="ctr"/>
          <a:lstStyle/>
          <a:p>
            <a:pPr indent="0" marL="0">
              <a:buNone/>
            </a:pPr>
            <a:r>
              <a:rPr lang="en-US" sz="1400" b="1" dirty="0">
                <a:solidFill>
                  <a:srgbClr val="1B2A4A"/>
                </a:solidFill>
              </a:rPr>
              <a:t>Safe default   </a:t>
            </a:r>
            <a:pPr indent="0" marL="0">
              <a:buNone/>
            </a:pPr>
            <a:r>
              <a:rPr lang="en-US" sz="1150" dirty="0">
                <a:solidFill>
                  <a:srgbClr val="5F6F80"/>
                </a:solidFill>
              </a:rPr>
              <a:t>Return a structured error</a:t>
            </a:r>
            <a:endParaRPr lang="en-US" sz="1400" dirty="0"/>
          </a:p>
        </p:txBody>
      </p:sp>
      <p:sp>
        <p:nvSpPr>
          <p:cNvPr id="20" name="Text 18"/>
          <p:cNvSpPr txBox="1"/>
          <p:nvPr/>
        </p:nvSpPr>
        <p:spPr>
          <a:xfrm>
            <a:off x="502920" y="3840480"/>
            <a:ext cx="4206240" cy="274320"/>
          </a:xfrm>
          <a:prstGeom prst="rect">
            <a:avLst/>
          </a:prstGeom>
          <a:noFill/>
          <a:ln/>
        </p:spPr>
        <p:txBody>
          <a:bodyPr wrap="square" lIns="0" tIns="0" rIns="0" bIns="0" rtlCol="0" anchor="ctr"/>
          <a:lstStyle/>
          <a:p>
            <a:pPr indent="0" marL="0">
              <a:buNone/>
            </a:pPr>
            <a:r>
              <a:rPr lang="en-US" sz="1150" i="1" dirty="0">
                <a:solidFill>
                  <a:srgbClr val="5F6F80"/>
                </a:solidFill>
              </a:rPr>
              <a:t>Each layer runs only if the one above it fails.</a:t>
            </a:r>
            <a:endParaRPr lang="en-US" sz="1150" dirty="0"/>
          </a:p>
        </p:txBody>
      </p:sp>
      <p:sp>
        <p:nvSpPr>
          <p:cNvPr id="21" name="Shape 19"/>
          <p:cNvSpPr/>
          <p:nvPr/>
        </p:nvSpPr>
        <p:spPr>
          <a:xfrm>
            <a:off x="5074920" y="1188720"/>
            <a:ext cx="3566160" cy="3383280"/>
          </a:xfrm>
          <a:prstGeom prst="roundRect">
            <a:avLst>
              <a:gd name="adj" fmla="val 2162"/>
            </a:avLst>
          </a:prstGeom>
          <a:solidFill>
            <a:srgbClr val="1B2A4A"/>
          </a:solidFill>
          <a:ln w="12700">
            <a:solidFill>
              <a:srgbClr val="1B2A4A"/>
            </a:solidFill>
            <a:prstDash val="solid"/>
          </a:ln>
        </p:spPr>
      </p:sp>
      <p:sp>
        <p:nvSpPr>
          <p:cNvPr id="22" name="Text 20"/>
          <p:cNvSpPr txBox="1"/>
          <p:nvPr/>
        </p:nvSpPr>
        <p:spPr>
          <a:xfrm>
            <a:off x="5276088" y="1316736"/>
            <a:ext cx="3163824" cy="292608"/>
          </a:xfrm>
          <a:prstGeom prst="rect">
            <a:avLst/>
          </a:prstGeom>
          <a:noFill/>
          <a:ln/>
        </p:spPr>
        <p:txBody>
          <a:bodyPr wrap="square" lIns="0" tIns="0" rIns="0" bIns="0" rtlCol="0" anchor="ctr"/>
          <a:lstStyle/>
          <a:p>
            <a:pPr indent="0" marL="0">
              <a:buNone/>
            </a:pPr>
            <a:r>
              <a:rPr lang="en-US" sz="900" b="1" spc="200" kern="0" dirty="0">
                <a:solidFill>
                  <a:srgbClr val="D4824A"/>
                </a:solidFill>
              </a:rPr>
              <a:t>EXAMPLE  </a:t>
            </a:r>
            <a:pPr indent="0" marL="0">
              <a:buNone/>
            </a:pPr>
            <a:r>
              <a:rPr lang="en-US" sz="1200" b="1" dirty="0">
                <a:solidFill>
                  <a:srgbClr val="FFFFFF"/>
                </a:solidFill>
              </a:rPr>
              <a:t>A layered retry (demo 12)</a:t>
            </a:r>
            <a:endParaRPr lang="en-US" sz="900" dirty="0"/>
          </a:p>
        </p:txBody>
      </p:sp>
      <p:sp>
        <p:nvSpPr>
          <p:cNvPr id="23" name="Text 21"/>
          <p:cNvSpPr txBox="1"/>
          <p:nvPr/>
        </p:nvSpPr>
        <p:spPr>
          <a:xfrm>
            <a:off x="5276088" y="1700784"/>
            <a:ext cx="3200400" cy="2743200"/>
          </a:xfrm>
          <a:prstGeom prst="rect">
            <a:avLst/>
          </a:prstGeom>
          <a:noFill/>
          <a:ln/>
        </p:spPr>
        <p:txBody>
          <a:bodyPr wrap="square" lIns="0" tIns="0" rIns="0" bIns="0" rtlCol="0" anchor="t"/>
          <a:lstStyle/>
          <a:p>
            <a:pPr indent="0" marL="0">
              <a:lnSpc>
                <a:spcPct val="100000"/>
              </a:lnSpc>
              <a:buNone/>
            </a:pPr>
            <a:r>
              <a:rPr lang="en-US" sz="1000" dirty="0">
                <a:solidFill>
                  <a:srgbClr val="E6EDF5"/>
                </a:solidFill>
                <a:latin typeface="Consolas" pitchFamily="34" charset="0"/>
                <a:ea typeface="Consolas" pitchFamily="34" charset="-122"/>
                <a:cs typeface="Consolas" pitchFamily="34" charset="-120"/>
              </a:rPr>
              <a:t>retry_parser = (</a:t>
            </a:r>
            <a:endParaRPr lang="en-US" sz="1000" dirty="0"/>
          </a:p>
          <a:p>
            <a:pPr indent="0" marL="0">
              <a:lnSpc>
                <a:spcPct val="100000"/>
              </a:lnSpc>
              <a:buNone/>
            </a:pPr>
            <a:r>
              <a:rPr lang="en-US" sz="1000" dirty="0">
                <a:solidFill>
                  <a:srgbClr val="E6EDF5"/>
                </a:solidFill>
                <a:latin typeface="Consolas" pitchFamily="34" charset="0"/>
                <a:ea typeface="Consolas" pitchFamily="34" charset="-122"/>
                <a:cs typeface="Consolas" pitchFamily="34" charset="-120"/>
              </a:rPr>
              <a:t>  RetryWithErrorOutputParser.from_llm(</a:t>
            </a:r>
            <a:endParaRPr lang="en-US" sz="1000" dirty="0"/>
          </a:p>
          <a:p>
            <a:pPr indent="0" marL="0">
              <a:lnSpc>
                <a:spcPct val="100000"/>
              </a:lnSpc>
              <a:buNone/>
            </a:pPr>
            <a:r>
              <a:rPr lang="en-US" sz="1000" dirty="0">
                <a:solidFill>
                  <a:srgbClr val="E6EDF5"/>
                </a:solidFill>
                <a:latin typeface="Consolas" pitchFamily="34" charset="0"/>
                <a:ea typeface="Consolas" pitchFamily="34" charset="-122"/>
                <a:cs typeface="Consolas" pitchFamily="34" charset="-120"/>
              </a:rPr>
              <a:t>    parser=parser, llm=llm,</a:t>
            </a:r>
            <a:endParaRPr lang="en-US" sz="1000" dirty="0"/>
          </a:p>
          <a:p>
            <a:pPr indent="0" marL="0">
              <a:lnSpc>
                <a:spcPct val="100000"/>
              </a:lnSpc>
              <a:buNone/>
            </a:pPr>
            <a:r>
              <a:rPr lang="en-US" sz="1000" dirty="0">
                <a:solidFill>
                  <a:srgbClr val="E6EDF5"/>
                </a:solidFill>
                <a:latin typeface="Consolas" pitchFamily="34" charset="0"/>
                <a:ea typeface="Consolas" pitchFamily="34" charset="-122"/>
                <a:cs typeface="Consolas" pitchFamily="34" charset="-120"/>
              </a:rPr>
              <a:t>    max_retries=2))</a:t>
            </a:r>
            <a:endParaRPr lang="en-US" sz="1000" dirty="0"/>
          </a:p>
          <a:p>
            <a:pPr indent="0" marL="0">
              <a:lnSpc>
                <a:spcPct val="100000"/>
              </a:lnSpc>
              <a:buNone/>
            </a:pPr>
            <a:endParaRPr lang="en-US" sz="1000" dirty="0"/>
          </a:p>
          <a:p>
            <a:pPr indent="0" marL="0">
              <a:lnSpc>
                <a:spcPct val="100000"/>
              </a:lnSpc>
              <a:buNone/>
            </a:pPr>
            <a:r>
              <a:rPr lang="en-US" sz="1000" dirty="0">
                <a:solidFill>
                  <a:srgbClr val="E6EDF5"/>
                </a:solidFill>
                <a:latin typeface="Consolas" pitchFamily="34" charset="0"/>
                <a:ea typeface="Consolas" pitchFamily="34" charset="-122"/>
                <a:cs typeface="Consolas" pitchFamily="34" charset="-120"/>
              </a:rPr>
              <a:t>try:</a:t>
            </a:r>
            <a:endParaRPr lang="en-US" sz="1000" dirty="0"/>
          </a:p>
          <a:p>
            <a:pPr indent="0" marL="0">
              <a:lnSpc>
                <a:spcPct val="100000"/>
              </a:lnSpc>
              <a:buNone/>
            </a:pPr>
            <a:r>
              <a:rPr lang="en-US" sz="1000" dirty="0">
                <a:solidFill>
                  <a:srgbClr val="E6EDF5"/>
                </a:solidFill>
                <a:latin typeface="Consolas" pitchFamily="34" charset="0"/>
                <a:ea typeface="Consolas" pitchFamily="34" charset="-122"/>
                <a:cs typeface="Consolas" pitchFamily="34" charset="-120"/>
              </a:rPr>
              <a:t>    result = retry_parser.parse_with_prompt(</a:t>
            </a:r>
            <a:endParaRPr lang="en-US" sz="1000" dirty="0"/>
          </a:p>
          <a:p>
            <a:pPr indent="0" marL="0">
              <a:lnSpc>
                <a:spcPct val="100000"/>
              </a:lnSpc>
              <a:buNone/>
            </a:pPr>
            <a:r>
              <a:rPr lang="en-US" sz="1000" dirty="0">
                <a:solidFill>
                  <a:srgbClr val="E6EDF5"/>
                </a:solidFill>
                <a:latin typeface="Consolas" pitchFamily="34" charset="0"/>
                <a:ea typeface="Consolas" pitchFamily="34" charset="-122"/>
                <a:cs typeface="Consolas" pitchFamily="34" charset="-120"/>
              </a:rPr>
              <a:t>        raw_output, prompt_value)</a:t>
            </a:r>
            <a:endParaRPr lang="en-US" sz="1000" dirty="0"/>
          </a:p>
          <a:p>
            <a:pPr indent="0" marL="0">
              <a:lnSpc>
                <a:spcPct val="100000"/>
              </a:lnSpc>
              <a:buNone/>
            </a:pPr>
            <a:r>
              <a:rPr lang="en-US" sz="1000" dirty="0">
                <a:solidFill>
                  <a:srgbClr val="E6EDF5"/>
                </a:solidFill>
                <a:latin typeface="Consolas" pitchFamily="34" charset="0"/>
                <a:ea typeface="Consolas" pitchFamily="34" charset="-122"/>
                <a:cs typeface="Consolas" pitchFamily="34" charset="-120"/>
              </a:rPr>
              <a:t>except OutputParserException:</a:t>
            </a:r>
            <a:endParaRPr lang="en-US" sz="1000" dirty="0"/>
          </a:p>
          <a:p>
            <a:pPr indent="0" marL="0">
              <a:lnSpc>
                <a:spcPct val="100000"/>
              </a:lnSpc>
              <a:buNone/>
            </a:pPr>
            <a:r>
              <a:rPr lang="en-US" sz="1000" dirty="0">
                <a:solidFill>
                  <a:srgbClr val="E6EDF5"/>
                </a:solidFill>
                <a:latin typeface="Consolas" pitchFamily="34" charset="0"/>
                <a:ea typeface="Consolas" pitchFamily="34" charset="-122"/>
                <a:cs typeface="Consolas" pitchFamily="34" charset="-120"/>
              </a:rPr>
              <a:t>    result = Review(sentiment="unknown",</a:t>
            </a:r>
            <a:endParaRPr lang="en-US" sz="1000" dirty="0"/>
          </a:p>
          <a:p>
            <a:pPr indent="0" marL="0">
              <a:lnSpc>
                <a:spcPct val="100000"/>
              </a:lnSpc>
              <a:buNone/>
            </a:pPr>
            <a:r>
              <a:rPr lang="en-US" sz="1000" dirty="0">
                <a:solidFill>
                  <a:srgbClr val="E6EDF5"/>
                </a:solidFill>
                <a:latin typeface="Consolas" pitchFamily="34" charset="0"/>
                <a:ea typeface="Consolas" pitchFamily="34" charset="-122"/>
                <a:cs typeface="Consolas" pitchFamily="34" charset="-120"/>
              </a:rPr>
              <a:t>                    score=0,</a:t>
            </a:r>
            <a:endParaRPr lang="en-US" sz="1000" dirty="0"/>
          </a:p>
          <a:p>
            <a:pPr indent="0" marL="0">
              <a:lnSpc>
                <a:spcPct val="100000"/>
              </a:lnSpc>
              <a:buNone/>
            </a:pPr>
            <a:r>
              <a:rPr lang="en-US" sz="1000" dirty="0">
                <a:solidFill>
                  <a:srgbClr val="E6EDF5"/>
                </a:solidFill>
                <a:latin typeface="Consolas" pitchFamily="34" charset="0"/>
                <a:ea typeface="Consolas" pitchFamily="34" charset="-122"/>
                <a:cs typeface="Consolas" pitchFamily="34" charset="-120"/>
              </a:rPr>
              <a:t>                    summary="parse failed")</a:t>
            </a:r>
            <a:endParaRPr lang="en-US" sz="100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REFERENCE</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Techniques at a Glance</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423160"/>
                <a:gridCol w="2240280"/>
                <a:gridCol w="3474720"/>
              </a:tblGrid>
              <a:tr h="420624">
                <a:tc>
                  <a:txBody>
                    <a:bodyPr/>
                    <a:lstStyle/>
                    <a:p>
                      <a:pPr indent="0" marL="0">
                        <a:buNone/>
                      </a:pPr>
                      <a:r>
                        <a:rPr lang="en-US" sz="1150" b="1" spc="100" kern="0" dirty="0">
                          <a:solidFill>
                            <a:srgbClr val="FFFFFF"/>
                          </a:solidFill>
                        </a:rPr>
                        <a:t>TECHNIQUE</a:t>
                      </a:r>
                      <a:endParaRPr lang="en-US" sz="1150" dirty="0"/>
                    </a:p>
                  </a:txBody>
                  <a:tcPr marL="109728" marR="109728" marT="0" marB="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indent="0" marL="0">
                        <a:buNone/>
                      </a:pPr>
                      <a:r>
                        <a:rPr lang="en-US" sz="1150" b="1" spc="100" kern="0" dirty="0">
                          <a:solidFill>
                            <a:srgbClr val="FFFFFF"/>
                          </a:solidFill>
                        </a:rPr>
                        <a:t>USE IT FOR</a:t>
                      </a:r>
                      <a:endParaRPr lang="en-US" sz="1150" dirty="0"/>
                    </a:p>
                  </a:txBody>
                  <a:tcPr marL="109728" marR="109728" marT="0" marB="0" anchor="ctr">
                    <a:lnL w="0" cap="flat" cmpd="sng" algn="ctr">
                      <a:noFill/>
                    </a:lnL>
                    <a:lnR w="0" cap="flat" cmpd="sng" algn="ctr">
                      <a:noFill/>
                    </a:lnR>
                    <a:lnT w="0" cap="flat" cmpd="sng" algn="ctr">
                      <a:noFill/>
                    </a:lnT>
                    <a:lnB w="0" cap="flat" cmpd="sng" algn="ctr">
                      <a:noFill/>
                    </a:lnB>
                    <a:solidFill>
                      <a:srgbClr val="1B2A4A"/>
                    </a:solidFill>
                  </a:tcPr>
                </a:tc>
                <a:tc>
                  <a:txBody>
                    <a:bodyPr/>
                    <a:lstStyle/>
                    <a:p>
                      <a:pPr indent="0" marL="0">
                        <a:buNone/>
                      </a:pPr>
                      <a:r>
                        <a:rPr lang="en-US" sz="1150" b="1" spc="100" kern="0" dirty="0">
                          <a:solidFill>
                            <a:srgbClr val="FFFFFF"/>
                          </a:solidFill>
                        </a:rPr>
                        <a:t>API</a:t>
                      </a:r>
                      <a:endParaRPr lang="en-US" sz="1150" dirty="0"/>
                    </a:p>
                  </a:txBody>
                  <a:tcPr marL="109728" marR="109728" marT="0" marB="0" anchor="ctr">
                    <a:lnL w="0" cap="flat" cmpd="sng" algn="ctr">
                      <a:noFill/>
                    </a:lnL>
                    <a:lnR w="0" cap="flat" cmpd="sng" algn="ctr">
                      <a:noFill/>
                    </a:lnR>
                    <a:lnT w="0" cap="flat" cmpd="sng" algn="ctr">
                      <a:noFill/>
                    </a:lnT>
                    <a:lnB w="0" cap="flat" cmpd="sng" algn="ctr">
                      <a:noFill/>
                    </a:lnB>
                    <a:solidFill>
                      <a:srgbClr val="1B2A4A"/>
                    </a:solidFill>
                  </a:tcPr>
                </a:tc>
              </a:tr>
              <a:tr h="420624">
                <a:tc>
                  <a:txBody>
                    <a:bodyPr/>
                    <a:lstStyle/>
                    <a:p>
                      <a:pPr indent="0" marL="0">
                        <a:buNone/>
                      </a:pPr>
                      <a:r>
                        <a:rPr lang="en-US" sz="1250" b="1" dirty="0">
                          <a:solidFill>
                            <a:srgbClr val="1B2A4A"/>
                          </a:solidFill>
                        </a:rPr>
                        <a:t>JSON mode</a:t>
                      </a:r>
                      <a:endParaRPr lang="en-US" sz="125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indent="0" marL="0">
                        <a:buNone/>
                      </a:pPr>
                      <a:r>
                        <a:rPr lang="en-US" sz="1250" dirty="0">
                          <a:solidFill>
                            <a:srgbClr val="1B2A4A"/>
                          </a:solidFill>
                        </a:rPr>
                        <a:t>Any structured response</a:t>
                      </a:r>
                      <a:endParaRPr lang="en-US" sz="125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indent="0" marL="0">
                        <a:buNone/>
                      </a:pPr>
                      <a:r>
                        <a:rPr lang="en-US" sz="1050" dirty="0">
                          <a:solidFill>
                            <a:srgbClr val="1B2A4A"/>
                          </a:solidFill>
                          <a:latin typeface="Consolas" pitchFamily="34" charset="0"/>
                          <a:ea typeface="Consolas" pitchFamily="34" charset="-122"/>
                          <a:cs typeface="Consolas" pitchFamily="34" charset="-120"/>
                        </a:rPr>
                        <a:t>response_format={"type": "json_object"}</a:t>
                      </a:r>
                      <a:endParaRPr lang="en-US" sz="1050" dirty="0">
                        <a:latin typeface="Consolas" charset="0"/>
                        <a:ea typeface="Consolas" charset="0"/>
                        <a:cs typeface="Consolas"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r>
              <a:tr h="420624">
                <a:tc>
                  <a:txBody>
                    <a:bodyPr/>
                    <a:lstStyle/>
                    <a:p>
                      <a:pPr indent="0" marL="0">
                        <a:buNone/>
                      </a:pPr>
                      <a:r>
                        <a:rPr lang="en-US" sz="1250" b="1" dirty="0">
                          <a:solidFill>
                            <a:srgbClr val="1B2A4A"/>
                          </a:solidFill>
                        </a:rPr>
                        <a:t>with_structured_output()</a:t>
                      </a:r>
                      <a:endParaRPr lang="en-US" sz="125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50" dirty="0">
                          <a:solidFill>
                            <a:srgbClr val="1B2A4A"/>
                          </a:solidFill>
                        </a:rPr>
                        <a:t>Typed, predictable fields</a:t>
                      </a:r>
                      <a:endParaRPr lang="en-US" sz="125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1B2A4A"/>
                          </a:solidFill>
                          <a:latin typeface="Consolas" pitchFamily="34" charset="0"/>
                          <a:ea typeface="Consolas" pitchFamily="34" charset="-122"/>
                          <a:cs typeface="Consolas" pitchFamily="34" charset="-120"/>
                        </a:rPr>
                        <a:t>llm.with_structured_output(MyModel)</a:t>
                      </a:r>
                      <a:endParaRPr lang="en-US" sz="1050" dirty="0">
                        <a:latin typeface="Consolas" charset="0"/>
                        <a:ea typeface="Consolas" charset="0"/>
                        <a:cs typeface="Consolas"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20624">
                <a:tc>
                  <a:txBody>
                    <a:bodyPr/>
                    <a:lstStyle/>
                    <a:p>
                      <a:pPr indent="0" marL="0">
                        <a:buNone/>
                      </a:pPr>
                      <a:r>
                        <a:rPr lang="en-US" sz="1250" b="1" dirty="0">
                          <a:solidFill>
                            <a:srgbClr val="1B2A4A"/>
                          </a:solidFill>
                        </a:rPr>
                        <a:t>@tool</a:t>
                      </a:r>
                      <a:endParaRPr lang="en-US" sz="125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indent="0" marL="0">
                        <a:buNone/>
                      </a:pPr>
                      <a:r>
                        <a:rPr lang="en-US" sz="1250" dirty="0">
                          <a:solidFill>
                            <a:srgbClr val="1B2A4A"/>
                          </a:solidFill>
                        </a:rPr>
                        <a:t>Simple tools</a:t>
                      </a:r>
                      <a:endParaRPr lang="en-US" sz="125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indent="0" marL="0">
                        <a:buNone/>
                      </a:pPr>
                      <a:r>
                        <a:rPr lang="en-US" sz="1050" dirty="0">
                          <a:solidFill>
                            <a:srgbClr val="1B2A4A"/>
                          </a:solidFill>
                          <a:latin typeface="Consolas" pitchFamily="34" charset="0"/>
                          <a:ea typeface="Consolas" pitchFamily="34" charset="-122"/>
                          <a:cs typeface="Consolas" pitchFamily="34" charset="-120"/>
                        </a:rPr>
                        <a:t>@tool on a typed function</a:t>
                      </a:r>
                      <a:endParaRPr lang="en-US" sz="1050" dirty="0">
                        <a:latin typeface="Consolas" charset="0"/>
                        <a:ea typeface="Consolas" charset="0"/>
                        <a:cs typeface="Consolas"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r>
              <a:tr h="420624">
                <a:tc>
                  <a:txBody>
                    <a:bodyPr/>
                    <a:lstStyle/>
                    <a:p>
                      <a:pPr indent="0" marL="0">
                        <a:buNone/>
                      </a:pPr>
                      <a:r>
                        <a:rPr lang="en-US" sz="1250" b="1" dirty="0">
                          <a:solidFill>
                            <a:srgbClr val="1B2A4A"/>
                          </a:solidFill>
                        </a:rPr>
                        <a:t>BaseTool subclass</a:t>
                      </a:r>
                      <a:endParaRPr lang="en-US" sz="125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50" dirty="0">
                          <a:solidFill>
                            <a:srgbClr val="1B2A4A"/>
                          </a:solidFill>
                        </a:rPr>
                        <a:t>Tools with state or async</a:t>
                      </a:r>
                      <a:endParaRPr lang="en-US" sz="125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1B2A4A"/>
                          </a:solidFill>
                          <a:latin typeface="Consolas" pitchFamily="34" charset="0"/>
                          <a:ea typeface="Consolas" pitchFamily="34" charset="-122"/>
                          <a:cs typeface="Consolas" pitchFamily="34" charset="-120"/>
                        </a:rPr>
                        <a:t>class MyTool(BaseTool)</a:t>
                      </a:r>
                      <a:endParaRPr lang="en-US" sz="1050" dirty="0">
                        <a:latin typeface="Consolas" charset="0"/>
                        <a:ea typeface="Consolas" charset="0"/>
                        <a:cs typeface="Consolas"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20624">
                <a:tc>
                  <a:txBody>
                    <a:bodyPr/>
                    <a:lstStyle/>
                    <a:p>
                      <a:pPr indent="0" marL="0">
                        <a:buNone/>
                      </a:pPr>
                      <a:r>
                        <a:rPr lang="en-US" sz="1250" b="1" dirty="0">
                          <a:solidFill>
                            <a:srgbClr val="1B2A4A"/>
                          </a:solidFill>
                        </a:rPr>
                        <a:t>PydanticOutputParser</a:t>
                      </a:r>
                      <a:endParaRPr lang="en-US" sz="125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indent="0" marL="0">
                        <a:buNone/>
                      </a:pPr>
                      <a:r>
                        <a:rPr lang="en-US" sz="1250" dirty="0">
                          <a:solidFill>
                            <a:srgbClr val="1B2A4A"/>
                          </a:solidFill>
                        </a:rPr>
                        <a:t>Models without tool calling</a:t>
                      </a:r>
                      <a:endParaRPr lang="en-US" sz="1250" dirty="0"/>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c>
                  <a:txBody>
                    <a:bodyPr/>
                    <a:lstStyle/>
                    <a:p>
                      <a:pPr indent="0" marL="0">
                        <a:buNone/>
                      </a:pPr>
                      <a:r>
                        <a:rPr lang="en-US" sz="1050" dirty="0">
                          <a:solidFill>
                            <a:srgbClr val="1B2A4A"/>
                          </a:solidFill>
                          <a:latin typeface="Consolas" pitchFamily="34" charset="0"/>
                          <a:ea typeface="Consolas" pitchFamily="34" charset="-122"/>
                          <a:cs typeface="Consolas" pitchFamily="34" charset="-120"/>
                        </a:rPr>
                        <a:t>PydanticOutputParser(pydantic_object=...)</a:t>
                      </a:r>
                      <a:endParaRPr lang="en-US" sz="1050" dirty="0">
                        <a:latin typeface="Consolas" charset="0"/>
                        <a:ea typeface="Consolas" charset="0"/>
                        <a:cs typeface="Consolas"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4F6F9"/>
                    </a:solidFill>
                  </a:tcPr>
                </a:tc>
              </a:tr>
              <a:tr h="420624">
                <a:tc>
                  <a:txBody>
                    <a:bodyPr/>
                    <a:lstStyle/>
                    <a:p>
                      <a:pPr indent="0" marL="0">
                        <a:buNone/>
                      </a:pPr>
                      <a:r>
                        <a:rPr lang="en-US" sz="1250" b="1" dirty="0">
                          <a:solidFill>
                            <a:srgbClr val="1B2A4A"/>
                          </a:solidFill>
                        </a:rPr>
                        <a:t>RetryWithErrorOutputParser</a:t>
                      </a:r>
                      <a:endParaRPr lang="en-US" sz="125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50" dirty="0">
                          <a:solidFill>
                            <a:srgbClr val="1B2A4A"/>
                          </a:solidFill>
                        </a:rPr>
                        <a:t>Unreliable output</a:t>
                      </a:r>
                      <a:endParaRPr lang="en-US" sz="125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1B2A4A"/>
                          </a:solidFill>
                          <a:latin typeface="Consolas" pitchFamily="34" charset="0"/>
                          <a:ea typeface="Consolas" pitchFamily="34" charset="-122"/>
                          <a:cs typeface="Consolas" pitchFamily="34" charset="-120"/>
                        </a:rPr>
                        <a:t>RetryWithErrorOutputParser.from_llm(...)</a:t>
                      </a:r>
                      <a:endParaRPr lang="en-US" sz="1050" dirty="0">
                        <a:latin typeface="Consolas" charset="0"/>
                        <a:ea typeface="Consolas" charset="0"/>
                        <a:cs typeface="Consolas"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PUTTING IT ALL TOGETHER</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A Tool-Enabled Agent, End to End</a:t>
            </a:r>
            <a:endParaRPr lang="en-US" sz="2800" dirty="0"/>
          </a:p>
        </p:txBody>
      </p:sp>
      <p:sp>
        <p:nvSpPr>
          <p:cNvPr id="4" name="Shape 2"/>
          <p:cNvSpPr/>
          <p:nvPr/>
        </p:nvSpPr>
        <p:spPr>
          <a:xfrm>
            <a:off x="502920" y="1371600"/>
            <a:ext cx="1828800" cy="1828800"/>
          </a:xfrm>
          <a:prstGeom prst="roundRect">
            <a:avLst>
              <a:gd name="adj" fmla="val 5000"/>
            </a:avLst>
          </a:prstGeom>
          <a:solidFill>
            <a:srgbClr val="F4F6F9"/>
          </a:solidFill>
          <a:ln w="12700">
            <a:solidFill>
              <a:srgbClr val="F4F6F9"/>
            </a:solidFill>
            <a:prstDash val="solid"/>
          </a:ln>
        </p:spPr>
      </p:sp>
      <p:sp>
        <p:nvSpPr>
          <p:cNvPr id="5" name="Shape 3"/>
          <p:cNvSpPr/>
          <p:nvPr/>
        </p:nvSpPr>
        <p:spPr>
          <a:xfrm>
            <a:off x="1170432" y="1554480"/>
            <a:ext cx="493776" cy="493776"/>
          </a:xfrm>
          <a:prstGeom prst="ellipse">
            <a:avLst/>
          </a:prstGeom>
          <a:solidFill>
            <a:srgbClr val="1B2A4A"/>
          </a:solidFill>
          <a:ln w="12700">
            <a:solidFill>
              <a:srgbClr val="1B2A4A"/>
            </a:solidFill>
            <a:prstDash val="solid"/>
          </a:ln>
        </p:spPr>
      </p:sp>
      <p:sp>
        <p:nvSpPr>
          <p:cNvPr id="6" name="Text 4"/>
          <p:cNvSpPr txBox="1"/>
          <p:nvPr/>
        </p:nvSpPr>
        <p:spPr>
          <a:xfrm>
            <a:off x="1170432" y="155448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txBox="1"/>
          <p:nvPr/>
        </p:nvSpPr>
        <p:spPr>
          <a:xfrm>
            <a:off x="594360" y="2148840"/>
            <a:ext cx="1645920" cy="365760"/>
          </a:xfrm>
          <a:prstGeom prst="rect">
            <a:avLst/>
          </a:prstGeom>
          <a:noFill/>
          <a:ln/>
        </p:spPr>
        <p:txBody>
          <a:bodyPr wrap="square" lIns="0" tIns="0" rIns="0" bIns="0" rtlCol="0" anchor="ctr"/>
          <a:lstStyle/>
          <a:p>
            <a:pPr algn="ctr" indent="0" marL="0">
              <a:buNone/>
            </a:pPr>
            <a:r>
              <a:rPr lang="en-US" sz="1600" b="1" dirty="0">
                <a:solidFill>
                  <a:srgbClr val="1B2A4A"/>
                </a:solidFill>
              </a:rPr>
              <a:t>Tools</a:t>
            </a:r>
            <a:endParaRPr lang="en-US" sz="1600" dirty="0"/>
          </a:p>
        </p:txBody>
      </p:sp>
      <p:sp>
        <p:nvSpPr>
          <p:cNvPr id="8" name="Text 6"/>
          <p:cNvSpPr txBox="1"/>
          <p:nvPr/>
        </p:nvSpPr>
        <p:spPr>
          <a:xfrm>
            <a:off x="594360" y="2542032"/>
            <a:ext cx="1645920" cy="548640"/>
          </a:xfrm>
          <a:prstGeom prst="rect">
            <a:avLst/>
          </a:prstGeom>
          <a:noFill/>
          <a:ln/>
        </p:spPr>
        <p:txBody>
          <a:bodyPr wrap="square" lIns="0" tIns="0" rIns="0" bIns="0" rtlCol="0" anchor="t"/>
          <a:lstStyle/>
          <a:p>
            <a:pPr algn="ctr" indent="0" marL="0">
              <a:buNone/>
            </a:pPr>
            <a:r>
              <a:rPr lang="en-US" sz="1200" dirty="0">
                <a:solidFill>
                  <a:srgbClr val="5F6F80"/>
                </a:solidFill>
              </a:rPr>
              <a:t>@tool lookup_order</a:t>
            </a:r>
            <a:endParaRPr lang="en-US" sz="1200" dirty="0"/>
          </a:p>
          <a:p>
            <a:pPr algn="ctr" indent="0" marL="0">
              <a:buNone/>
            </a:pPr>
            <a:r>
              <a:rPr lang="en-US" sz="1200" dirty="0">
                <a:solidFill>
                  <a:srgbClr val="5F6F80"/>
                </a:solidFill>
              </a:rPr>
              <a:t>with a safe schema</a:t>
            </a:r>
            <a:endParaRPr lang="en-US" sz="1200" dirty="0"/>
          </a:p>
        </p:txBody>
      </p:sp>
      <p:sp>
        <p:nvSpPr>
          <p:cNvPr id="9" name="Shape 7"/>
          <p:cNvSpPr/>
          <p:nvPr/>
        </p:nvSpPr>
        <p:spPr>
          <a:xfrm>
            <a:off x="2368296" y="2286000"/>
            <a:ext cx="201168" cy="0"/>
          </a:xfrm>
          <a:prstGeom prst="line">
            <a:avLst/>
          </a:prstGeom>
          <a:noFill/>
          <a:ln w="25400">
            <a:solidFill>
              <a:srgbClr val="D4824A"/>
            </a:solidFill>
            <a:prstDash val="solid"/>
            <a:tailEnd type="triangle"/>
          </a:ln>
        </p:spPr>
      </p:sp>
      <p:sp>
        <p:nvSpPr>
          <p:cNvPr id="10" name="Shape 8"/>
          <p:cNvSpPr/>
          <p:nvPr/>
        </p:nvSpPr>
        <p:spPr>
          <a:xfrm>
            <a:off x="2606040" y="1371600"/>
            <a:ext cx="1828800" cy="1828800"/>
          </a:xfrm>
          <a:prstGeom prst="roundRect">
            <a:avLst>
              <a:gd name="adj" fmla="val 5000"/>
            </a:avLst>
          </a:prstGeom>
          <a:solidFill>
            <a:srgbClr val="F4F6F9"/>
          </a:solidFill>
          <a:ln w="12700">
            <a:solidFill>
              <a:srgbClr val="F4F6F9"/>
            </a:solidFill>
            <a:prstDash val="solid"/>
          </a:ln>
        </p:spPr>
      </p:sp>
      <p:sp>
        <p:nvSpPr>
          <p:cNvPr id="11" name="Shape 9"/>
          <p:cNvSpPr/>
          <p:nvPr/>
        </p:nvSpPr>
        <p:spPr>
          <a:xfrm>
            <a:off x="3273552" y="1554480"/>
            <a:ext cx="493776" cy="493776"/>
          </a:xfrm>
          <a:prstGeom prst="ellipse">
            <a:avLst/>
          </a:prstGeom>
          <a:solidFill>
            <a:srgbClr val="1B2A4A"/>
          </a:solidFill>
          <a:ln w="12700">
            <a:solidFill>
              <a:srgbClr val="1B2A4A"/>
            </a:solidFill>
            <a:prstDash val="solid"/>
          </a:ln>
        </p:spPr>
      </p:sp>
      <p:sp>
        <p:nvSpPr>
          <p:cNvPr id="12" name="Text 10"/>
          <p:cNvSpPr txBox="1"/>
          <p:nvPr/>
        </p:nvSpPr>
        <p:spPr>
          <a:xfrm>
            <a:off x="3273552" y="155448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1"/>
          <p:cNvSpPr txBox="1"/>
          <p:nvPr/>
        </p:nvSpPr>
        <p:spPr>
          <a:xfrm>
            <a:off x="2697480" y="2148840"/>
            <a:ext cx="1645920" cy="365760"/>
          </a:xfrm>
          <a:prstGeom prst="rect">
            <a:avLst/>
          </a:prstGeom>
          <a:noFill/>
          <a:ln/>
        </p:spPr>
        <p:txBody>
          <a:bodyPr wrap="square" lIns="0" tIns="0" rIns="0" bIns="0" rtlCol="0" anchor="ctr"/>
          <a:lstStyle/>
          <a:p>
            <a:pPr algn="ctr" indent="0" marL="0">
              <a:buNone/>
            </a:pPr>
            <a:r>
              <a:rPr lang="en-US" sz="1600" b="1" dirty="0">
                <a:solidFill>
                  <a:srgbClr val="1B2A4A"/>
                </a:solidFill>
              </a:rPr>
              <a:t>Agent loop</a:t>
            </a:r>
            <a:endParaRPr lang="en-US" sz="1600" dirty="0"/>
          </a:p>
        </p:txBody>
      </p:sp>
      <p:sp>
        <p:nvSpPr>
          <p:cNvPr id="14" name="Text 12"/>
          <p:cNvSpPr txBox="1"/>
          <p:nvPr/>
        </p:nvSpPr>
        <p:spPr>
          <a:xfrm>
            <a:off x="2697480" y="2542032"/>
            <a:ext cx="1645920" cy="548640"/>
          </a:xfrm>
          <a:prstGeom prst="rect">
            <a:avLst/>
          </a:prstGeom>
          <a:noFill/>
          <a:ln/>
        </p:spPr>
        <p:txBody>
          <a:bodyPr wrap="square" lIns="0" tIns="0" rIns="0" bIns="0" rtlCol="0" anchor="t"/>
          <a:lstStyle/>
          <a:p>
            <a:pPr algn="ctr" indent="0" marL="0">
              <a:buNone/>
            </a:pPr>
            <a:r>
              <a:rPr lang="en-US" sz="1200" dirty="0">
                <a:solidFill>
                  <a:srgbClr val="5F6F80"/>
                </a:solidFill>
              </a:rPr>
              <a:t>Tool-calling agent</a:t>
            </a:r>
            <a:endParaRPr lang="en-US" sz="1200" dirty="0"/>
          </a:p>
          <a:p>
            <a:pPr algn="ctr" indent="0" marL="0">
              <a:buNone/>
            </a:pPr>
            <a:r>
              <a:rPr lang="en-US" sz="1200" dirty="0">
                <a:solidFill>
                  <a:srgbClr val="5F6F80"/>
                </a:solidFill>
              </a:rPr>
              <a:t>+ AgentExecutor</a:t>
            </a:r>
            <a:endParaRPr lang="en-US" sz="1200" dirty="0"/>
          </a:p>
        </p:txBody>
      </p:sp>
      <p:sp>
        <p:nvSpPr>
          <p:cNvPr id="15" name="Shape 13"/>
          <p:cNvSpPr/>
          <p:nvPr/>
        </p:nvSpPr>
        <p:spPr>
          <a:xfrm>
            <a:off x="4471416" y="2286000"/>
            <a:ext cx="201168" cy="0"/>
          </a:xfrm>
          <a:prstGeom prst="line">
            <a:avLst/>
          </a:prstGeom>
          <a:noFill/>
          <a:ln w="25400">
            <a:solidFill>
              <a:srgbClr val="D4824A"/>
            </a:solidFill>
            <a:prstDash val="solid"/>
            <a:tailEnd type="triangle"/>
          </a:ln>
        </p:spPr>
      </p:sp>
      <p:sp>
        <p:nvSpPr>
          <p:cNvPr id="16" name="Shape 14"/>
          <p:cNvSpPr/>
          <p:nvPr/>
        </p:nvSpPr>
        <p:spPr>
          <a:xfrm>
            <a:off x="4709160" y="1371600"/>
            <a:ext cx="1828800" cy="1828800"/>
          </a:xfrm>
          <a:prstGeom prst="roundRect">
            <a:avLst>
              <a:gd name="adj" fmla="val 5000"/>
            </a:avLst>
          </a:prstGeom>
          <a:solidFill>
            <a:srgbClr val="F4F6F9"/>
          </a:solidFill>
          <a:ln w="12700">
            <a:solidFill>
              <a:srgbClr val="F4F6F9"/>
            </a:solidFill>
            <a:prstDash val="solid"/>
          </a:ln>
        </p:spPr>
      </p:sp>
      <p:sp>
        <p:nvSpPr>
          <p:cNvPr id="17" name="Shape 15"/>
          <p:cNvSpPr/>
          <p:nvPr/>
        </p:nvSpPr>
        <p:spPr>
          <a:xfrm>
            <a:off x="5376672" y="1554480"/>
            <a:ext cx="493776" cy="493776"/>
          </a:xfrm>
          <a:prstGeom prst="ellipse">
            <a:avLst/>
          </a:prstGeom>
          <a:solidFill>
            <a:srgbClr val="1B2A4A"/>
          </a:solidFill>
          <a:ln w="12700">
            <a:solidFill>
              <a:srgbClr val="1B2A4A"/>
            </a:solidFill>
            <a:prstDash val="solid"/>
          </a:ln>
        </p:spPr>
      </p:sp>
      <p:sp>
        <p:nvSpPr>
          <p:cNvPr id="18" name="Text 16"/>
          <p:cNvSpPr txBox="1"/>
          <p:nvPr/>
        </p:nvSpPr>
        <p:spPr>
          <a:xfrm>
            <a:off x="5376672" y="155448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4800600" y="2148840"/>
            <a:ext cx="1645920" cy="365760"/>
          </a:xfrm>
          <a:prstGeom prst="rect">
            <a:avLst/>
          </a:prstGeom>
          <a:noFill/>
          <a:ln/>
        </p:spPr>
        <p:txBody>
          <a:bodyPr wrap="square" lIns="0" tIns="0" rIns="0" bIns="0" rtlCol="0" anchor="ctr"/>
          <a:lstStyle/>
          <a:p>
            <a:pPr algn="ctr" indent="0" marL="0">
              <a:buNone/>
            </a:pPr>
            <a:r>
              <a:rPr lang="en-US" sz="1600" b="1" dirty="0">
                <a:solidFill>
                  <a:srgbClr val="1B2A4A"/>
                </a:solidFill>
              </a:rPr>
              <a:t>Final schema</a:t>
            </a:r>
            <a:endParaRPr lang="en-US" sz="1600" dirty="0"/>
          </a:p>
        </p:txBody>
      </p:sp>
      <p:sp>
        <p:nvSpPr>
          <p:cNvPr id="20" name="Text 18"/>
          <p:cNvSpPr txBox="1"/>
          <p:nvPr/>
        </p:nvSpPr>
        <p:spPr>
          <a:xfrm>
            <a:off x="4800600" y="2542032"/>
            <a:ext cx="1645920" cy="548640"/>
          </a:xfrm>
          <a:prstGeom prst="rect">
            <a:avLst/>
          </a:prstGeom>
          <a:noFill/>
          <a:ln/>
        </p:spPr>
        <p:txBody>
          <a:bodyPr wrap="square" lIns="0" tIns="0" rIns="0" bIns="0" rtlCol="0" anchor="t"/>
          <a:lstStyle/>
          <a:p>
            <a:pPr algn="ctr" indent="0" marL="0">
              <a:buNone/>
            </a:pPr>
            <a:r>
              <a:rPr lang="en-US" sz="1200" dirty="0">
                <a:solidFill>
                  <a:srgbClr val="5F6F80"/>
                </a:solidFill>
              </a:rPr>
              <a:t>Pydantic AgentAnswer:</a:t>
            </a:r>
            <a:endParaRPr lang="en-US" sz="1200" dirty="0"/>
          </a:p>
          <a:p>
            <a:pPr algn="ctr" indent="0" marL="0">
              <a:buNone/>
            </a:pPr>
            <a:r>
              <a:rPr lang="en-US" sz="1200" dirty="0">
                <a:solidFill>
                  <a:srgbClr val="5F6F80"/>
                </a:solidFill>
              </a:rPr>
              <a:t>status, message, data</a:t>
            </a:r>
            <a:endParaRPr lang="en-US" sz="1200" dirty="0"/>
          </a:p>
        </p:txBody>
      </p:sp>
      <p:sp>
        <p:nvSpPr>
          <p:cNvPr id="21" name="Shape 19"/>
          <p:cNvSpPr/>
          <p:nvPr/>
        </p:nvSpPr>
        <p:spPr>
          <a:xfrm>
            <a:off x="6574536" y="2286000"/>
            <a:ext cx="201168" cy="0"/>
          </a:xfrm>
          <a:prstGeom prst="line">
            <a:avLst/>
          </a:prstGeom>
          <a:noFill/>
          <a:ln w="25400">
            <a:solidFill>
              <a:srgbClr val="D4824A"/>
            </a:solidFill>
            <a:prstDash val="solid"/>
            <a:tailEnd type="triangle"/>
          </a:ln>
        </p:spPr>
      </p:sp>
      <p:sp>
        <p:nvSpPr>
          <p:cNvPr id="22" name="Shape 20"/>
          <p:cNvSpPr/>
          <p:nvPr/>
        </p:nvSpPr>
        <p:spPr>
          <a:xfrm>
            <a:off x="6812280" y="1371600"/>
            <a:ext cx="1828800" cy="1828800"/>
          </a:xfrm>
          <a:prstGeom prst="roundRect">
            <a:avLst>
              <a:gd name="adj" fmla="val 5000"/>
            </a:avLst>
          </a:prstGeom>
          <a:solidFill>
            <a:srgbClr val="F4F6F9"/>
          </a:solidFill>
          <a:ln w="12700">
            <a:solidFill>
              <a:srgbClr val="F4F6F9"/>
            </a:solidFill>
            <a:prstDash val="solid"/>
          </a:ln>
        </p:spPr>
      </p:sp>
      <p:sp>
        <p:nvSpPr>
          <p:cNvPr id="23" name="Shape 21"/>
          <p:cNvSpPr/>
          <p:nvPr/>
        </p:nvSpPr>
        <p:spPr>
          <a:xfrm>
            <a:off x="7479792" y="1554480"/>
            <a:ext cx="493776" cy="493776"/>
          </a:xfrm>
          <a:prstGeom prst="ellipse">
            <a:avLst/>
          </a:prstGeom>
          <a:solidFill>
            <a:srgbClr val="D4824A"/>
          </a:solidFill>
          <a:ln w="12700">
            <a:solidFill>
              <a:srgbClr val="D4824A"/>
            </a:solidFill>
            <a:prstDash val="solid"/>
          </a:ln>
        </p:spPr>
      </p:sp>
      <p:sp>
        <p:nvSpPr>
          <p:cNvPr id="24" name="Text 22"/>
          <p:cNvSpPr txBox="1"/>
          <p:nvPr/>
        </p:nvSpPr>
        <p:spPr>
          <a:xfrm>
            <a:off x="7479792" y="155448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5" name="Text 23"/>
          <p:cNvSpPr txBox="1"/>
          <p:nvPr/>
        </p:nvSpPr>
        <p:spPr>
          <a:xfrm>
            <a:off x="6903720" y="2148840"/>
            <a:ext cx="1645920" cy="365760"/>
          </a:xfrm>
          <a:prstGeom prst="rect">
            <a:avLst/>
          </a:prstGeom>
          <a:noFill/>
          <a:ln/>
        </p:spPr>
        <p:txBody>
          <a:bodyPr wrap="square" lIns="0" tIns="0" rIns="0" bIns="0" rtlCol="0" anchor="ctr"/>
          <a:lstStyle/>
          <a:p>
            <a:pPr algn="ctr" indent="0" marL="0">
              <a:buNone/>
            </a:pPr>
            <a:r>
              <a:rPr lang="en-US" sz="1600" b="1" dirty="0">
                <a:solidFill>
                  <a:srgbClr val="1B2A4A"/>
                </a:solidFill>
              </a:rPr>
              <a:t>Retry parser</a:t>
            </a:r>
            <a:endParaRPr lang="en-US" sz="1600" dirty="0"/>
          </a:p>
        </p:txBody>
      </p:sp>
      <p:sp>
        <p:nvSpPr>
          <p:cNvPr id="26" name="Text 24"/>
          <p:cNvSpPr txBox="1"/>
          <p:nvPr/>
        </p:nvSpPr>
        <p:spPr>
          <a:xfrm>
            <a:off x="6903720" y="2542032"/>
            <a:ext cx="1645920" cy="548640"/>
          </a:xfrm>
          <a:prstGeom prst="rect">
            <a:avLst/>
          </a:prstGeom>
          <a:noFill/>
          <a:ln/>
        </p:spPr>
        <p:txBody>
          <a:bodyPr wrap="square" lIns="0" tIns="0" rIns="0" bIns="0" rtlCol="0" anchor="t"/>
          <a:lstStyle/>
          <a:p>
            <a:pPr algn="ctr" indent="0" marL="0">
              <a:buNone/>
            </a:pPr>
            <a:r>
              <a:rPr lang="en-US" sz="1200" dirty="0">
                <a:solidFill>
                  <a:srgbClr val="5F6F80"/>
                </a:solidFill>
              </a:rPr>
              <a:t>Re-prompts if the answer</a:t>
            </a:r>
            <a:endParaRPr lang="en-US" sz="1200" dirty="0"/>
          </a:p>
          <a:p>
            <a:pPr algn="ctr" indent="0" marL="0">
              <a:buNone/>
            </a:pPr>
            <a:r>
              <a:rPr lang="en-US" sz="1200" dirty="0">
                <a:solidFill>
                  <a:srgbClr val="5F6F80"/>
                </a:solidFill>
              </a:rPr>
              <a:t>fails validation</a:t>
            </a:r>
            <a:endParaRPr lang="en-US" sz="1200" dirty="0"/>
          </a:p>
        </p:txBody>
      </p:sp>
      <p:sp>
        <p:nvSpPr>
          <p:cNvPr id="27" name="Text 25"/>
          <p:cNvSpPr txBox="1"/>
          <p:nvPr/>
        </p:nvSpPr>
        <p:spPr>
          <a:xfrm>
            <a:off x="502920" y="3364992"/>
            <a:ext cx="8138160" cy="274320"/>
          </a:xfrm>
          <a:prstGeom prst="rect">
            <a:avLst/>
          </a:prstGeom>
          <a:noFill/>
          <a:ln/>
        </p:spPr>
        <p:txBody>
          <a:bodyPr wrap="square" lIns="0" tIns="0" rIns="0" bIns="0" rtlCol="0" anchor="ctr"/>
          <a:lstStyle/>
          <a:p>
            <a:pPr indent="0" marL="0">
              <a:buNone/>
            </a:pPr>
            <a:r>
              <a:rPr lang="en-US" sz="1200" i="1" dirty="0">
                <a:solidFill>
                  <a:srgbClr val="5F6F80"/>
                </a:solidFill>
              </a:rPr>
              <a:t>Result: a validated AgentAnswer object, not a raw string. See demo 13.</a:t>
            </a:r>
            <a:endParaRPr lang="en-US" sz="1200" dirty="0"/>
          </a:p>
        </p:txBody>
      </p:sp>
      <p:sp>
        <p:nvSpPr>
          <p:cNvPr id="28" name="Shape 26"/>
          <p:cNvSpPr/>
          <p:nvPr/>
        </p:nvSpPr>
        <p:spPr>
          <a:xfrm>
            <a:off x="502920" y="3840480"/>
            <a:ext cx="8138160" cy="594360"/>
          </a:xfrm>
          <a:prstGeom prst="roundRect">
            <a:avLst>
              <a:gd name="adj" fmla="val 12308"/>
            </a:avLst>
          </a:prstGeom>
          <a:solidFill>
            <a:srgbClr val="FBEFE6"/>
          </a:solidFill>
          <a:ln w="12700">
            <a:solidFill>
              <a:srgbClr val="FBEFE6"/>
            </a:solidFill>
            <a:prstDash val="solid"/>
          </a:ln>
        </p:spPr>
      </p:sp>
      <p:sp>
        <p:nvSpPr>
          <p:cNvPr id="29" name="Text 27"/>
          <p:cNvSpPr txBox="1"/>
          <p:nvPr/>
        </p:nvSpPr>
        <p:spPr>
          <a:xfrm>
            <a:off x="667512" y="3840480"/>
            <a:ext cx="7808976" cy="594360"/>
          </a:xfrm>
          <a:prstGeom prst="rect">
            <a:avLst/>
          </a:prstGeom>
          <a:noFill/>
          <a:ln/>
        </p:spPr>
        <p:txBody>
          <a:bodyPr wrap="square" lIns="0" tIns="0" rIns="0" bIns="0" rtlCol="0" anchor="ctr"/>
          <a:lstStyle/>
          <a:p>
            <a:pPr indent="0" marL="0">
              <a:buNone/>
            </a:pPr>
            <a:r>
              <a:rPr lang="en-US" sz="1000" b="1" spc="200" kern="0" dirty="0">
                <a:solidFill>
                  <a:srgbClr val="D4824A"/>
                </a:solidFill>
              </a:rPr>
              <a:t>KEY POINT  </a:t>
            </a:r>
            <a:pPr indent="0" marL="0">
              <a:buNone/>
            </a:pPr>
            <a:r>
              <a:rPr lang="en-US" sz="1300" dirty="0">
                <a:solidFill>
                  <a:srgbClr val="1B2A4A"/>
                </a:solidFill>
              </a:rPr>
              <a:t>Add one layer at a time, and log inputs and outputs at every layer.</a:t>
            </a:r>
            <a:endParaRPr lang="en-US" sz="100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201168"/>
            <a:ext cx="8138160" cy="256032"/>
          </a:xfrm>
          <a:prstGeom prst="rect">
            <a:avLst/>
          </a:prstGeom>
          <a:noFill/>
          <a:ln/>
        </p:spPr>
        <p:txBody>
          <a:bodyPr wrap="square" lIns="0" tIns="0" rIns="0" bIns="0" rtlCol="0" anchor="ctr"/>
          <a:lstStyle/>
          <a:p>
            <a:pPr indent="0" marL="0">
              <a:buNone/>
            </a:pPr>
            <a:r>
              <a:rPr lang="en-US" sz="1000" b="1" spc="300" kern="0" dirty="0">
                <a:solidFill>
                  <a:srgbClr val="D4824A"/>
                </a:solidFill>
              </a:rPr>
              <a:t>PRACTICAL GUIDANCE</a:t>
            </a:r>
            <a:endParaRPr lang="en-US" sz="1000" dirty="0"/>
          </a:p>
        </p:txBody>
      </p:sp>
      <p:sp>
        <p:nvSpPr>
          <p:cNvPr id="3" name="Text 1"/>
          <p:cNvSpPr/>
          <p:nvPr>
            <p:ph idx="101" type="title" hasCustomPrompt="1"/>
          </p:nvPr>
        </p:nvSpPr>
        <p:spPr>
          <a:xfrm>
            <a:off x="502920" y="457200"/>
            <a:ext cx="8138160" cy="594360"/>
          </a:xfrm>
          <a:prstGeom prst="rect">
            <a:avLst/>
          </a:prstGeom>
          <a:noFill/>
          <a:ln/>
        </p:spPr>
        <p:txBody>
          <a:bodyPr wrap="square" lIns="0" tIns="0" rIns="0" bIns="0" rtlCol="0" anchor="ctr"/>
          <a:lstStyle/>
          <a:p>
            <a:pPr algn="l" indent="0" marL="0">
              <a:buNone/>
            </a:pPr>
            <a:r>
              <a:rPr lang="en-US" sz="2800" b="1" dirty="0">
                <a:solidFill>
                  <a:srgbClr val="1B2A4A"/>
                </a:solidFill>
              </a:rPr>
              <a:t>Common Mistakes and Fixes</a:t>
            </a:r>
            <a:endParaRPr lang="en-US" sz="2800" dirty="0"/>
          </a:p>
        </p:txBody>
      </p:sp>
      <p:sp>
        <p:nvSpPr>
          <p:cNvPr id="4" name="Shape 2"/>
          <p:cNvSpPr/>
          <p:nvPr/>
        </p:nvSpPr>
        <p:spPr>
          <a:xfrm>
            <a:off x="502920" y="1280160"/>
            <a:ext cx="3017520" cy="603504"/>
          </a:xfrm>
          <a:prstGeom prst="roundRect">
            <a:avLst>
              <a:gd name="adj" fmla="val 12121"/>
            </a:avLst>
          </a:prstGeom>
          <a:solidFill>
            <a:srgbClr val="FBEFE6"/>
          </a:solidFill>
          <a:ln w="12700">
            <a:solidFill>
              <a:srgbClr val="FBEFE6"/>
            </a:solidFill>
            <a:prstDash val="solid"/>
          </a:ln>
        </p:spPr>
      </p:sp>
      <p:sp>
        <p:nvSpPr>
          <p:cNvPr id="5" name="Text 3"/>
          <p:cNvSpPr txBox="1"/>
          <p:nvPr/>
        </p:nvSpPr>
        <p:spPr>
          <a:xfrm>
            <a:off x="685800" y="1280160"/>
            <a:ext cx="2743200" cy="603504"/>
          </a:xfrm>
          <a:prstGeom prst="rect">
            <a:avLst/>
          </a:prstGeom>
          <a:noFill/>
          <a:ln/>
        </p:spPr>
        <p:txBody>
          <a:bodyPr wrap="square" lIns="0" tIns="0" rIns="0" bIns="0" rtlCol="0" anchor="ctr"/>
          <a:lstStyle/>
          <a:p>
            <a:pPr indent="0" marL="0">
              <a:buNone/>
            </a:pPr>
            <a:r>
              <a:rPr lang="en-US" sz="1500" b="1" dirty="0">
                <a:solidFill>
                  <a:srgbClr val="1B2A4A"/>
                </a:solidFill>
              </a:rPr>
              <a:t>JSON mode, no schema</a:t>
            </a:r>
            <a:endParaRPr lang="en-US" sz="1500" dirty="0"/>
          </a:p>
        </p:txBody>
      </p:sp>
      <p:sp>
        <p:nvSpPr>
          <p:cNvPr id="6" name="Shape 4"/>
          <p:cNvSpPr/>
          <p:nvPr/>
        </p:nvSpPr>
        <p:spPr>
          <a:xfrm>
            <a:off x="3611880" y="1581912"/>
            <a:ext cx="411480" cy="0"/>
          </a:xfrm>
          <a:prstGeom prst="line">
            <a:avLst/>
          </a:prstGeom>
          <a:noFill/>
          <a:ln w="25400">
            <a:solidFill>
              <a:srgbClr val="D4824A"/>
            </a:solidFill>
            <a:prstDash val="solid"/>
            <a:tailEnd type="triangle"/>
          </a:ln>
        </p:spPr>
      </p:sp>
      <p:sp>
        <p:nvSpPr>
          <p:cNvPr id="7" name="Shape 5"/>
          <p:cNvSpPr/>
          <p:nvPr/>
        </p:nvSpPr>
        <p:spPr>
          <a:xfrm>
            <a:off x="4114800" y="1280160"/>
            <a:ext cx="4526280" cy="603504"/>
          </a:xfrm>
          <a:prstGeom prst="roundRect">
            <a:avLst>
              <a:gd name="adj" fmla="val 12121"/>
            </a:avLst>
          </a:prstGeom>
          <a:solidFill>
            <a:srgbClr val="F4F6F9"/>
          </a:solidFill>
          <a:ln w="12700">
            <a:solidFill>
              <a:srgbClr val="F4F6F9"/>
            </a:solidFill>
            <a:prstDash val="solid"/>
          </a:ln>
        </p:spPr>
      </p:sp>
      <p:sp>
        <p:nvSpPr>
          <p:cNvPr id="8" name="Text 6"/>
          <p:cNvSpPr txBox="1"/>
          <p:nvPr/>
        </p:nvSpPr>
        <p:spPr>
          <a:xfrm>
            <a:off x="4297680" y="1280160"/>
            <a:ext cx="4206240" cy="603504"/>
          </a:xfrm>
          <a:prstGeom prst="rect">
            <a:avLst/>
          </a:prstGeom>
          <a:noFill/>
          <a:ln/>
        </p:spPr>
        <p:txBody>
          <a:bodyPr wrap="square" lIns="0" tIns="0" rIns="0" bIns="0" rtlCol="0" anchor="ctr"/>
          <a:lstStyle/>
          <a:p>
            <a:pPr indent="0" marL="0">
              <a:buNone/>
            </a:pPr>
            <a:r>
              <a:rPr lang="en-US" sz="1300" dirty="0">
                <a:solidFill>
                  <a:srgbClr val="1B2A4A"/>
                </a:solidFill>
              </a:rPr>
              <a:t>Use with_structured_output() with a Pydantic model</a:t>
            </a:r>
            <a:endParaRPr lang="en-US" sz="1300" dirty="0"/>
          </a:p>
        </p:txBody>
      </p:sp>
      <p:sp>
        <p:nvSpPr>
          <p:cNvPr id="9" name="Shape 7"/>
          <p:cNvSpPr/>
          <p:nvPr/>
        </p:nvSpPr>
        <p:spPr>
          <a:xfrm>
            <a:off x="502920" y="2029968"/>
            <a:ext cx="3017520" cy="603504"/>
          </a:xfrm>
          <a:prstGeom prst="roundRect">
            <a:avLst>
              <a:gd name="adj" fmla="val 12121"/>
            </a:avLst>
          </a:prstGeom>
          <a:solidFill>
            <a:srgbClr val="FBEFE6"/>
          </a:solidFill>
          <a:ln w="12700">
            <a:solidFill>
              <a:srgbClr val="FBEFE6"/>
            </a:solidFill>
            <a:prstDash val="solid"/>
          </a:ln>
        </p:spPr>
      </p:sp>
      <p:sp>
        <p:nvSpPr>
          <p:cNvPr id="10" name="Text 8"/>
          <p:cNvSpPr txBox="1"/>
          <p:nvPr/>
        </p:nvSpPr>
        <p:spPr>
          <a:xfrm>
            <a:off x="685800" y="2029968"/>
            <a:ext cx="2743200" cy="603504"/>
          </a:xfrm>
          <a:prstGeom prst="rect">
            <a:avLst/>
          </a:prstGeom>
          <a:noFill/>
          <a:ln/>
        </p:spPr>
        <p:txBody>
          <a:bodyPr wrap="square" lIns="0" tIns="0" rIns="0" bIns="0" rtlCol="0" anchor="ctr"/>
          <a:lstStyle/>
          <a:p>
            <a:pPr indent="0" marL="0">
              <a:buNone/>
            </a:pPr>
            <a:r>
              <a:rPr lang="en-US" sz="1500" b="1" dirty="0">
                <a:solidFill>
                  <a:srgbClr val="1B2A4A"/>
                </a:solidFill>
              </a:rPr>
              <a:t>Vague tool description</a:t>
            </a:r>
            <a:endParaRPr lang="en-US" sz="1500" dirty="0"/>
          </a:p>
        </p:txBody>
      </p:sp>
      <p:sp>
        <p:nvSpPr>
          <p:cNvPr id="11" name="Shape 9"/>
          <p:cNvSpPr/>
          <p:nvPr/>
        </p:nvSpPr>
        <p:spPr>
          <a:xfrm>
            <a:off x="3611880" y="2331720"/>
            <a:ext cx="411480" cy="0"/>
          </a:xfrm>
          <a:prstGeom prst="line">
            <a:avLst/>
          </a:prstGeom>
          <a:noFill/>
          <a:ln w="25400">
            <a:solidFill>
              <a:srgbClr val="D4824A"/>
            </a:solidFill>
            <a:prstDash val="solid"/>
            <a:tailEnd type="triangle"/>
          </a:ln>
        </p:spPr>
      </p:sp>
      <p:sp>
        <p:nvSpPr>
          <p:cNvPr id="12" name="Shape 10"/>
          <p:cNvSpPr/>
          <p:nvPr/>
        </p:nvSpPr>
        <p:spPr>
          <a:xfrm>
            <a:off x="4114800" y="2029968"/>
            <a:ext cx="4526280" cy="603504"/>
          </a:xfrm>
          <a:prstGeom prst="roundRect">
            <a:avLst>
              <a:gd name="adj" fmla="val 12121"/>
            </a:avLst>
          </a:prstGeom>
          <a:solidFill>
            <a:srgbClr val="F4F6F9"/>
          </a:solidFill>
          <a:ln w="12700">
            <a:solidFill>
              <a:srgbClr val="F4F6F9"/>
            </a:solidFill>
            <a:prstDash val="solid"/>
          </a:ln>
        </p:spPr>
      </p:sp>
      <p:sp>
        <p:nvSpPr>
          <p:cNvPr id="13" name="Text 11"/>
          <p:cNvSpPr txBox="1"/>
          <p:nvPr/>
        </p:nvSpPr>
        <p:spPr>
          <a:xfrm>
            <a:off x="4297680" y="2029968"/>
            <a:ext cx="4206240" cy="603504"/>
          </a:xfrm>
          <a:prstGeom prst="rect">
            <a:avLst/>
          </a:prstGeom>
          <a:noFill/>
          <a:ln/>
        </p:spPr>
        <p:txBody>
          <a:bodyPr wrap="square" lIns="0" tIns="0" rIns="0" bIns="0" rtlCol="0" anchor="ctr"/>
          <a:lstStyle/>
          <a:p>
            <a:pPr indent="0" marL="0">
              <a:buNone/>
            </a:pPr>
            <a:r>
              <a:rPr lang="en-US" sz="1300" dirty="0">
                <a:solidFill>
                  <a:srgbClr val="1B2A4A"/>
                </a:solidFill>
              </a:rPr>
              <a:t>Say when to use it: "Use when the user asks about order status"</a:t>
            </a:r>
            <a:endParaRPr lang="en-US" sz="1300" dirty="0"/>
          </a:p>
        </p:txBody>
      </p:sp>
      <p:sp>
        <p:nvSpPr>
          <p:cNvPr id="14" name="Shape 12"/>
          <p:cNvSpPr/>
          <p:nvPr/>
        </p:nvSpPr>
        <p:spPr>
          <a:xfrm>
            <a:off x="502920" y="2779776"/>
            <a:ext cx="3017520" cy="603504"/>
          </a:xfrm>
          <a:prstGeom prst="roundRect">
            <a:avLst>
              <a:gd name="adj" fmla="val 12121"/>
            </a:avLst>
          </a:prstGeom>
          <a:solidFill>
            <a:srgbClr val="FBEFE6"/>
          </a:solidFill>
          <a:ln w="12700">
            <a:solidFill>
              <a:srgbClr val="FBEFE6"/>
            </a:solidFill>
            <a:prstDash val="solid"/>
          </a:ln>
        </p:spPr>
      </p:sp>
      <p:sp>
        <p:nvSpPr>
          <p:cNvPr id="15" name="Text 13"/>
          <p:cNvSpPr txBox="1"/>
          <p:nvPr/>
        </p:nvSpPr>
        <p:spPr>
          <a:xfrm>
            <a:off x="685800" y="2779776"/>
            <a:ext cx="2743200" cy="603504"/>
          </a:xfrm>
          <a:prstGeom prst="rect">
            <a:avLst/>
          </a:prstGeom>
          <a:noFill/>
          <a:ln/>
        </p:spPr>
        <p:txBody>
          <a:bodyPr wrap="square" lIns="0" tIns="0" rIns="0" bIns="0" rtlCol="0" anchor="ctr"/>
          <a:lstStyle/>
          <a:p>
            <a:pPr indent="0" marL="0">
              <a:buNone/>
            </a:pPr>
            <a:r>
              <a:rPr lang="en-US" sz="1500" b="1" dirty="0">
                <a:solidFill>
                  <a:srgbClr val="1B2A4A"/>
                </a:solidFill>
              </a:rPr>
              <a:t>Trusting model arguments</a:t>
            </a:r>
            <a:endParaRPr lang="en-US" sz="1500" dirty="0"/>
          </a:p>
        </p:txBody>
      </p:sp>
      <p:sp>
        <p:nvSpPr>
          <p:cNvPr id="16" name="Shape 14"/>
          <p:cNvSpPr/>
          <p:nvPr/>
        </p:nvSpPr>
        <p:spPr>
          <a:xfrm>
            <a:off x="3611880" y="3081528"/>
            <a:ext cx="411480" cy="0"/>
          </a:xfrm>
          <a:prstGeom prst="line">
            <a:avLst/>
          </a:prstGeom>
          <a:noFill/>
          <a:ln w="25400">
            <a:solidFill>
              <a:srgbClr val="D4824A"/>
            </a:solidFill>
            <a:prstDash val="solid"/>
            <a:tailEnd type="triangle"/>
          </a:ln>
        </p:spPr>
      </p:sp>
      <p:sp>
        <p:nvSpPr>
          <p:cNvPr id="17" name="Shape 15"/>
          <p:cNvSpPr/>
          <p:nvPr/>
        </p:nvSpPr>
        <p:spPr>
          <a:xfrm>
            <a:off x="4114800" y="2779776"/>
            <a:ext cx="4526280" cy="603504"/>
          </a:xfrm>
          <a:prstGeom prst="roundRect">
            <a:avLst>
              <a:gd name="adj" fmla="val 12121"/>
            </a:avLst>
          </a:prstGeom>
          <a:solidFill>
            <a:srgbClr val="F4F6F9"/>
          </a:solidFill>
          <a:ln w="12700">
            <a:solidFill>
              <a:srgbClr val="F4F6F9"/>
            </a:solidFill>
            <a:prstDash val="solid"/>
          </a:ln>
        </p:spPr>
      </p:sp>
      <p:sp>
        <p:nvSpPr>
          <p:cNvPr id="18" name="Text 16"/>
          <p:cNvSpPr txBox="1"/>
          <p:nvPr/>
        </p:nvSpPr>
        <p:spPr>
          <a:xfrm>
            <a:off x="4297680" y="2779776"/>
            <a:ext cx="4206240" cy="603504"/>
          </a:xfrm>
          <a:prstGeom prst="rect">
            <a:avLst/>
          </a:prstGeom>
          <a:noFill/>
          <a:ln/>
        </p:spPr>
        <p:txBody>
          <a:bodyPr wrap="square" lIns="0" tIns="0" rIns="0" bIns="0" rtlCol="0" anchor="ctr"/>
          <a:lstStyle/>
          <a:p>
            <a:pPr indent="0" marL="0">
              <a:buNone/>
            </a:pPr>
            <a:r>
              <a:rPr lang="en-US" sz="1300" dirty="0">
                <a:solidFill>
                  <a:srgbClr val="1B2A4A"/>
                </a:solidFill>
              </a:rPr>
              <a:t>Validate with Pydantic and scope the tool's access</a:t>
            </a:r>
            <a:endParaRPr lang="en-US" sz="1300" dirty="0"/>
          </a:p>
        </p:txBody>
      </p:sp>
      <p:sp>
        <p:nvSpPr>
          <p:cNvPr id="19" name="Shape 17"/>
          <p:cNvSpPr/>
          <p:nvPr/>
        </p:nvSpPr>
        <p:spPr>
          <a:xfrm>
            <a:off x="502920" y="3529584"/>
            <a:ext cx="3017520" cy="603504"/>
          </a:xfrm>
          <a:prstGeom prst="roundRect">
            <a:avLst>
              <a:gd name="adj" fmla="val 12121"/>
            </a:avLst>
          </a:prstGeom>
          <a:solidFill>
            <a:srgbClr val="FBEFE6"/>
          </a:solidFill>
          <a:ln w="12700">
            <a:solidFill>
              <a:srgbClr val="FBEFE6"/>
            </a:solidFill>
            <a:prstDash val="solid"/>
          </a:ln>
        </p:spPr>
      </p:sp>
      <p:sp>
        <p:nvSpPr>
          <p:cNvPr id="20" name="Text 18"/>
          <p:cNvSpPr txBox="1"/>
          <p:nvPr/>
        </p:nvSpPr>
        <p:spPr>
          <a:xfrm>
            <a:off x="685800" y="3529584"/>
            <a:ext cx="2743200" cy="603504"/>
          </a:xfrm>
          <a:prstGeom prst="rect">
            <a:avLst/>
          </a:prstGeom>
          <a:noFill/>
          <a:ln/>
        </p:spPr>
        <p:txBody>
          <a:bodyPr wrap="square" lIns="0" tIns="0" rIns="0" bIns="0" rtlCol="0" anchor="ctr"/>
          <a:lstStyle/>
          <a:p>
            <a:pPr indent="0" marL="0">
              <a:buNone/>
            </a:pPr>
            <a:r>
              <a:rPr lang="en-US" sz="1500" b="1" dirty="0">
                <a:solidFill>
                  <a:srgbClr val="1B2A4A"/>
                </a:solidFill>
              </a:rPr>
              <a:t>No retry, no fallback</a:t>
            </a:r>
            <a:endParaRPr lang="en-US" sz="1500" dirty="0"/>
          </a:p>
        </p:txBody>
      </p:sp>
      <p:sp>
        <p:nvSpPr>
          <p:cNvPr id="21" name="Shape 19"/>
          <p:cNvSpPr/>
          <p:nvPr/>
        </p:nvSpPr>
        <p:spPr>
          <a:xfrm>
            <a:off x="3611880" y="3831336"/>
            <a:ext cx="411480" cy="0"/>
          </a:xfrm>
          <a:prstGeom prst="line">
            <a:avLst/>
          </a:prstGeom>
          <a:noFill/>
          <a:ln w="25400">
            <a:solidFill>
              <a:srgbClr val="D4824A"/>
            </a:solidFill>
            <a:prstDash val="solid"/>
            <a:tailEnd type="triangle"/>
          </a:ln>
        </p:spPr>
      </p:sp>
      <p:sp>
        <p:nvSpPr>
          <p:cNvPr id="22" name="Shape 20"/>
          <p:cNvSpPr/>
          <p:nvPr/>
        </p:nvSpPr>
        <p:spPr>
          <a:xfrm>
            <a:off x="4114800" y="3529584"/>
            <a:ext cx="4526280" cy="603504"/>
          </a:xfrm>
          <a:prstGeom prst="roundRect">
            <a:avLst>
              <a:gd name="adj" fmla="val 12121"/>
            </a:avLst>
          </a:prstGeom>
          <a:solidFill>
            <a:srgbClr val="F4F6F9"/>
          </a:solidFill>
          <a:ln w="12700">
            <a:solidFill>
              <a:srgbClr val="F4F6F9"/>
            </a:solidFill>
            <a:prstDash val="solid"/>
          </a:ln>
        </p:spPr>
      </p:sp>
      <p:sp>
        <p:nvSpPr>
          <p:cNvPr id="23" name="Text 21"/>
          <p:cNvSpPr txBox="1"/>
          <p:nvPr/>
        </p:nvSpPr>
        <p:spPr>
          <a:xfrm>
            <a:off x="4297680" y="3529584"/>
            <a:ext cx="4206240" cy="603504"/>
          </a:xfrm>
          <a:prstGeom prst="rect">
            <a:avLst/>
          </a:prstGeom>
          <a:noFill/>
          <a:ln/>
        </p:spPr>
        <p:txBody>
          <a:bodyPr wrap="square" lIns="0" tIns="0" rIns="0" bIns="0" rtlCol="0" anchor="ctr"/>
          <a:lstStyle/>
          <a:p>
            <a:pPr indent="0" marL="0">
              <a:buNone/>
            </a:pPr>
            <a:r>
              <a:rPr lang="en-US" sz="1300" dirty="0">
                <a:solidFill>
                  <a:srgbClr val="1B2A4A"/>
                </a:solidFill>
              </a:rPr>
              <a:t>Add a retry parser and a structured-error fallback</a:t>
            </a:r>
            <a:endParaRPr lang="en-US" sz="1300" dirty="0"/>
          </a:p>
        </p:txBody>
      </p:sp>
      <p:sp>
        <p:nvSpPr>
          <p:cNvPr id="25" name="Slide Number Placeholder 0"/>
          <p:cNvSpPr>
            <a:spLocks noGrp="1"/>
          </p:cNvSpPr>
          <p:nvPr>
            <p:ph type="sldNum" sz="quarter" idx="4294967295"/>
          </p:nvPr>
        </p:nvSpPr>
        <p:spPr>
          <a:xfrm>
            <a:off x="8229600" y="4800600"/>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B0C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411480"/>
            <a:ext cx="7315200" cy="274320"/>
          </a:xfrm>
          <a:prstGeom prst="rect">
            <a:avLst/>
          </a:prstGeom>
          <a:noFill/>
          <a:ln/>
        </p:spPr>
        <p:txBody>
          <a:bodyPr wrap="square" lIns="0" tIns="0" rIns="0" bIns="0" rtlCol="0" anchor="ctr"/>
          <a:lstStyle/>
          <a:p>
            <a:pPr indent="0" marL="0">
              <a:buNone/>
            </a:pPr>
            <a:r>
              <a:rPr lang="en-US" sz="1100" b="1" spc="400" kern="0" dirty="0">
                <a:solidFill>
                  <a:srgbClr val="D4824A"/>
                </a:solidFill>
              </a:rPr>
              <a:t>KEY TAKEAWAYS</a:t>
            </a:r>
            <a:endParaRPr lang="en-US" sz="1100" dirty="0"/>
          </a:p>
        </p:txBody>
      </p:sp>
      <p:sp>
        <p:nvSpPr>
          <p:cNvPr id="3" name="Text 1"/>
          <p:cNvSpPr txBox="1"/>
          <p:nvPr/>
        </p:nvSpPr>
        <p:spPr>
          <a:xfrm>
            <a:off x="502920" y="731520"/>
            <a:ext cx="8138160" cy="594360"/>
          </a:xfrm>
          <a:prstGeom prst="rect">
            <a:avLst/>
          </a:prstGeom>
          <a:noFill/>
          <a:ln/>
        </p:spPr>
        <p:txBody>
          <a:bodyPr wrap="square" lIns="0" tIns="0" rIns="0" bIns="0" rtlCol="0" anchor="ctr"/>
          <a:lstStyle/>
          <a:p>
            <a:pPr indent="0" marL="0">
              <a:buNone/>
            </a:pPr>
            <a:r>
              <a:rPr lang="en-US" sz="3000" b="1" dirty="0">
                <a:solidFill>
                  <a:srgbClr val="FFFFFF"/>
                </a:solidFill>
              </a:rPr>
              <a:t>Three Things to Remember</a:t>
            </a:r>
            <a:endParaRPr lang="en-US" sz="3000" dirty="0"/>
          </a:p>
        </p:txBody>
      </p:sp>
      <p:sp>
        <p:nvSpPr>
          <p:cNvPr id="4" name="Shape 2"/>
          <p:cNvSpPr/>
          <p:nvPr/>
        </p:nvSpPr>
        <p:spPr>
          <a:xfrm>
            <a:off x="502920" y="1691640"/>
            <a:ext cx="2514600" cy="2468880"/>
          </a:xfrm>
          <a:prstGeom prst="roundRect">
            <a:avLst>
              <a:gd name="adj" fmla="val 3704"/>
            </a:avLst>
          </a:prstGeom>
          <a:solidFill>
            <a:srgbClr val="243353"/>
          </a:solidFill>
          <a:ln w="12700">
            <a:solidFill>
              <a:srgbClr val="243353"/>
            </a:solidFill>
            <a:prstDash val="solid"/>
          </a:ln>
        </p:spPr>
      </p:sp>
      <p:sp>
        <p:nvSpPr>
          <p:cNvPr id="5" name="Shape 3"/>
          <p:cNvSpPr/>
          <p:nvPr/>
        </p:nvSpPr>
        <p:spPr>
          <a:xfrm>
            <a:off x="777240" y="1920240"/>
            <a:ext cx="548640" cy="548640"/>
          </a:xfrm>
          <a:prstGeom prst="ellipse">
            <a:avLst/>
          </a:prstGeom>
          <a:solidFill>
            <a:srgbClr val="D4824A"/>
          </a:solidFill>
          <a:ln w="12700">
            <a:solidFill>
              <a:srgbClr val="D4824A"/>
            </a:solidFill>
            <a:prstDash val="solid"/>
          </a:ln>
        </p:spPr>
      </p:sp>
      <p:sp>
        <p:nvSpPr>
          <p:cNvPr id="6" name="Text 4"/>
          <p:cNvSpPr txBox="1"/>
          <p:nvPr/>
        </p:nvSpPr>
        <p:spPr>
          <a:xfrm>
            <a:off x="777240" y="19202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Text 5"/>
          <p:cNvSpPr txBox="1"/>
          <p:nvPr/>
        </p:nvSpPr>
        <p:spPr>
          <a:xfrm>
            <a:off x="777240" y="2651760"/>
            <a:ext cx="1965960" cy="411480"/>
          </a:xfrm>
          <a:prstGeom prst="rect">
            <a:avLst/>
          </a:prstGeom>
          <a:noFill/>
          <a:ln/>
        </p:spPr>
        <p:txBody>
          <a:bodyPr wrap="square" lIns="0" tIns="0" rIns="0" bIns="0" rtlCol="0" anchor="ctr"/>
          <a:lstStyle/>
          <a:p>
            <a:pPr indent="0" marL="0">
              <a:buNone/>
            </a:pPr>
            <a:r>
              <a:rPr lang="en-US" sz="1800" b="1" dirty="0">
                <a:solidFill>
                  <a:srgbClr val="FFFFFF"/>
                </a:solidFill>
              </a:rPr>
              <a:t>Schema first</a:t>
            </a:r>
            <a:endParaRPr lang="en-US" sz="1800" dirty="0"/>
          </a:p>
        </p:txBody>
      </p:sp>
      <p:sp>
        <p:nvSpPr>
          <p:cNvPr id="8" name="Text 6"/>
          <p:cNvSpPr txBox="1"/>
          <p:nvPr/>
        </p:nvSpPr>
        <p:spPr>
          <a:xfrm>
            <a:off x="777240" y="3108960"/>
            <a:ext cx="1965960" cy="914400"/>
          </a:xfrm>
          <a:prstGeom prst="rect">
            <a:avLst/>
          </a:prstGeom>
          <a:noFill/>
          <a:ln/>
        </p:spPr>
        <p:txBody>
          <a:bodyPr wrap="square" lIns="0" tIns="0" rIns="0" bIns="0" rtlCol="0" anchor="t"/>
          <a:lstStyle/>
          <a:p>
            <a:pPr indent="0" marL="0">
              <a:buNone/>
            </a:pPr>
            <a:r>
              <a:rPr lang="en-US" sz="1350" dirty="0">
                <a:solidFill>
                  <a:srgbClr val="C8D8E8"/>
                </a:solidFill>
              </a:rPr>
              <a:t>Pydantic enforces the shape. The prompt only guides it.</a:t>
            </a:r>
            <a:endParaRPr lang="en-US" sz="1350" dirty="0"/>
          </a:p>
        </p:txBody>
      </p:sp>
      <p:sp>
        <p:nvSpPr>
          <p:cNvPr id="9" name="Shape 7"/>
          <p:cNvSpPr/>
          <p:nvPr/>
        </p:nvSpPr>
        <p:spPr>
          <a:xfrm>
            <a:off x="3314700" y="1691640"/>
            <a:ext cx="2514600" cy="2468880"/>
          </a:xfrm>
          <a:prstGeom prst="roundRect">
            <a:avLst>
              <a:gd name="adj" fmla="val 3704"/>
            </a:avLst>
          </a:prstGeom>
          <a:solidFill>
            <a:srgbClr val="243353"/>
          </a:solidFill>
          <a:ln w="12700">
            <a:solidFill>
              <a:srgbClr val="243353"/>
            </a:solidFill>
            <a:prstDash val="solid"/>
          </a:ln>
        </p:spPr>
      </p:sp>
      <p:sp>
        <p:nvSpPr>
          <p:cNvPr id="10" name="Shape 8"/>
          <p:cNvSpPr/>
          <p:nvPr/>
        </p:nvSpPr>
        <p:spPr>
          <a:xfrm>
            <a:off x="3589020" y="1920240"/>
            <a:ext cx="548640" cy="548640"/>
          </a:xfrm>
          <a:prstGeom prst="ellipse">
            <a:avLst/>
          </a:prstGeom>
          <a:solidFill>
            <a:srgbClr val="D4824A"/>
          </a:solidFill>
          <a:ln w="12700">
            <a:solidFill>
              <a:srgbClr val="D4824A"/>
            </a:solidFill>
            <a:prstDash val="solid"/>
          </a:ln>
        </p:spPr>
      </p:sp>
      <p:sp>
        <p:nvSpPr>
          <p:cNvPr id="11" name="Text 9"/>
          <p:cNvSpPr txBox="1"/>
          <p:nvPr/>
        </p:nvSpPr>
        <p:spPr>
          <a:xfrm>
            <a:off x="3589020" y="19202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2" name="Text 10"/>
          <p:cNvSpPr txBox="1"/>
          <p:nvPr/>
        </p:nvSpPr>
        <p:spPr>
          <a:xfrm>
            <a:off x="3589020" y="2651760"/>
            <a:ext cx="1965960" cy="411480"/>
          </a:xfrm>
          <a:prstGeom prst="rect">
            <a:avLst/>
          </a:prstGeom>
          <a:noFill/>
          <a:ln/>
        </p:spPr>
        <p:txBody>
          <a:bodyPr wrap="square" lIns="0" tIns="0" rIns="0" bIns="0" rtlCol="0" anchor="ctr"/>
          <a:lstStyle/>
          <a:p>
            <a:pPr indent="0" marL="0">
              <a:buNone/>
            </a:pPr>
            <a:r>
              <a:rPr lang="en-US" sz="1800" b="1" dirty="0">
                <a:solidFill>
                  <a:srgbClr val="FFFFFF"/>
                </a:solidFill>
              </a:rPr>
              <a:t>Your code runs tools</a:t>
            </a:r>
            <a:endParaRPr lang="en-US" sz="1800" dirty="0"/>
          </a:p>
        </p:txBody>
      </p:sp>
      <p:sp>
        <p:nvSpPr>
          <p:cNvPr id="13" name="Text 11"/>
          <p:cNvSpPr txBox="1"/>
          <p:nvPr/>
        </p:nvSpPr>
        <p:spPr>
          <a:xfrm>
            <a:off x="3589020" y="3108960"/>
            <a:ext cx="1965960" cy="914400"/>
          </a:xfrm>
          <a:prstGeom prst="rect">
            <a:avLst/>
          </a:prstGeom>
          <a:noFill/>
          <a:ln/>
        </p:spPr>
        <p:txBody>
          <a:bodyPr wrap="square" lIns="0" tIns="0" rIns="0" bIns="0" rtlCol="0" anchor="t"/>
          <a:lstStyle/>
          <a:p>
            <a:pPr indent="0" marL="0">
              <a:buNone/>
            </a:pPr>
            <a:r>
              <a:rPr lang="en-US" sz="1350" dirty="0">
                <a:solidFill>
                  <a:srgbClr val="C8D8E8"/>
                </a:solidFill>
              </a:rPr>
              <a:t>Your code executes tools and controls what the model can touch.</a:t>
            </a:r>
            <a:endParaRPr lang="en-US" sz="1350" dirty="0"/>
          </a:p>
        </p:txBody>
      </p:sp>
      <p:sp>
        <p:nvSpPr>
          <p:cNvPr id="14" name="Shape 12"/>
          <p:cNvSpPr/>
          <p:nvPr/>
        </p:nvSpPr>
        <p:spPr>
          <a:xfrm>
            <a:off x="6126480" y="1691640"/>
            <a:ext cx="2514600" cy="2468880"/>
          </a:xfrm>
          <a:prstGeom prst="roundRect">
            <a:avLst>
              <a:gd name="adj" fmla="val 3704"/>
            </a:avLst>
          </a:prstGeom>
          <a:solidFill>
            <a:srgbClr val="243353"/>
          </a:solidFill>
          <a:ln w="12700">
            <a:solidFill>
              <a:srgbClr val="243353"/>
            </a:solidFill>
            <a:prstDash val="solid"/>
          </a:ln>
        </p:spPr>
      </p:sp>
      <p:sp>
        <p:nvSpPr>
          <p:cNvPr id="15" name="Shape 13"/>
          <p:cNvSpPr/>
          <p:nvPr/>
        </p:nvSpPr>
        <p:spPr>
          <a:xfrm>
            <a:off x="6400800" y="1920240"/>
            <a:ext cx="548640" cy="548640"/>
          </a:xfrm>
          <a:prstGeom prst="ellipse">
            <a:avLst/>
          </a:prstGeom>
          <a:solidFill>
            <a:srgbClr val="D4824A"/>
          </a:solidFill>
          <a:ln w="12700">
            <a:solidFill>
              <a:srgbClr val="D4824A"/>
            </a:solidFill>
            <a:prstDash val="solid"/>
          </a:ln>
        </p:spPr>
      </p:sp>
      <p:sp>
        <p:nvSpPr>
          <p:cNvPr id="16" name="Text 14"/>
          <p:cNvSpPr txBox="1"/>
          <p:nvPr/>
        </p:nvSpPr>
        <p:spPr>
          <a:xfrm>
            <a:off x="6400800" y="19202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7" name="Text 15"/>
          <p:cNvSpPr txBox="1"/>
          <p:nvPr/>
        </p:nvSpPr>
        <p:spPr>
          <a:xfrm>
            <a:off x="6400800" y="2651760"/>
            <a:ext cx="1965960" cy="411480"/>
          </a:xfrm>
          <a:prstGeom prst="rect">
            <a:avLst/>
          </a:prstGeom>
          <a:noFill/>
          <a:ln/>
        </p:spPr>
        <p:txBody>
          <a:bodyPr wrap="square" lIns="0" tIns="0" rIns="0" bIns="0" rtlCol="0" anchor="ctr"/>
          <a:lstStyle/>
          <a:p>
            <a:pPr indent="0" marL="0">
              <a:buNone/>
            </a:pPr>
            <a:r>
              <a:rPr lang="en-US" sz="1800" b="1" dirty="0">
                <a:solidFill>
                  <a:srgbClr val="FFFFFF"/>
                </a:solidFill>
              </a:rPr>
              <a:t>Plan for failure</a:t>
            </a:r>
            <a:endParaRPr lang="en-US" sz="1800" dirty="0"/>
          </a:p>
        </p:txBody>
      </p:sp>
      <p:sp>
        <p:nvSpPr>
          <p:cNvPr id="18" name="Text 16"/>
          <p:cNvSpPr txBox="1"/>
          <p:nvPr/>
        </p:nvSpPr>
        <p:spPr>
          <a:xfrm>
            <a:off x="6400800" y="3108960"/>
            <a:ext cx="1965960" cy="914400"/>
          </a:xfrm>
          <a:prstGeom prst="rect">
            <a:avLst/>
          </a:prstGeom>
          <a:noFill/>
          <a:ln/>
        </p:spPr>
        <p:txBody>
          <a:bodyPr wrap="square" lIns="0" tIns="0" rIns="0" bIns="0" rtlCol="0" anchor="t"/>
          <a:lstStyle/>
          <a:p>
            <a:pPr indent="0" marL="0">
              <a:buNone/>
            </a:pPr>
            <a:r>
              <a:rPr lang="en-US" sz="1350" dirty="0">
                <a:solidFill>
                  <a:srgbClr val="C8D8E8"/>
                </a:solidFill>
              </a:rPr>
              <a:t>Validation, retry and fallback belong in the design.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Structured Outputs, Function Calling, and Tool Use</dc:title>
  <dc:subject>PptxGenJS Presentation</dc:subject>
  <dc:creator>Atul Kahate</dc:creator>
  <cp:lastModifiedBy>Atul Kahate</cp:lastModifiedBy>
  <cp:revision>1</cp:revision>
  <dcterms:created xsi:type="dcterms:W3CDTF">2026-10-02T04:20:00Z</dcterms:created>
  <dcterms:modified xsi:type="dcterms:W3CDTF">2026-10-02T04:20:00Z</dcterms:modified>
</cp:coreProperties>
</file>