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77" r:id="rId4"/>
    <p:sldId id="276" r:id="rId5"/>
    <p:sldId id="258" r:id="rId6"/>
    <p:sldId id="259" r:id="rId7"/>
    <p:sldId id="278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9" r:id="rId18"/>
    <p:sldId id="269" r:id="rId19"/>
    <p:sldId id="282" r:id="rId20"/>
    <p:sldId id="270" r:id="rId21"/>
    <p:sldId id="271" r:id="rId22"/>
    <p:sldId id="272" r:id="rId23"/>
    <p:sldId id="273" r:id="rId24"/>
    <p:sldId id="274" r:id="rId25"/>
    <p:sldId id="28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0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8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-1645920" y="4846320"/>
            <a:ext cx="3840480" cy="3840480"/>
          </a:xfrm>
          <a:prstGeom prst="ellipse">
            <a:avLst/>
          </a:prstGeom>
          <a:solidFill>
            <a:srgbClr val="11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1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2781173" y="1417320"/>
            <a:ext cx="6599179" cy="218521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dirty="0">
                <a:solidFill>
                  <a:srgbClr val="FFFFFF"/>
                </a:solidFill>
              </a:rPr>
              <a:t>Working with LLMs</a:t>
            </a:r>
          </a:p>
          <a:p>
            <a:pPr algn="ctr">
              <a:defRPr sz="4000" b="1">
                <a:solidFill>
                  <a:srgbClr val="1E232A"/>
                </a:solidFill>
              </a:defRPr>
            </a:pPr>
            <a:endParaRPr lang="en-IN" dirty="0"/>
          </a:p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sz="2800" dirty="0">
                <a:solidFill>
                  <a:srgbClr val="E8EDF5"/>
                </a:solidFill>
              </a:rPr>
              <a:t>Atul Kahate</a:t>
            </a:r>
          </a:p>
          <a:p>
            <a:pPr algn="ctr">
              <a:defRPr sz="4000" b="1">
                <a:solidFill>
                  <a:srgbClr val="1E232A"/>
                </a:solidFill>
              </a:defRPr>
            </a:pPr>
            <a:r>
              <a:rPr lang="en-IN" sz="2800" dirty="0">
                <a:solidFill>
                  <a:srgbClr val="E8EDF5"/>
                </a:solidFill>
              </a:rPr>
              <a:t>(https://www.linkedin.com/in/atulkahate)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423160" y="3749039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rPr>
                <a:solidFill>
                  <a:srgbClr val="E8EDF5"/>
                </a:solidFill>
              </a:rPr>
              <a:t>Basic LLM calls → multimodal → local LLM → document Q&amp;A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rPr>
                <a:solidFill>
                  <a:srgbClr val="E8EDF5"/>
                </a:solidFill>
              </a:rPr>
              <a:t>Translation → code generation → sampling parameters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rPr>
                <a:solidFill>
                  <a:srgbClr val="E8EDF5"/>
                </a:solidFill>
              </a:rPr>
              <a:t>Tool calling → cost and latency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173" y="914400"/>
            <a:ext cx="6599179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300" b="1" spc="150">
                <a:solidFill>
                  <a:srgbClr val="F2A65A"/>
                </a:solidFill>
              </a:rPr>
              <a:t>MODULE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spc="150">
                <a:solidFill>
                  <a:srgbClr val="F2A65A"/>
                </a:solidFill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0584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3000" b="1">
                <a:solidFill>
                  <a:srgbClr val="305291"/>
                </a:solidFill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515600" cy="4114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50">
                <a:solidFill>
                  <a:srgbClr val="5C6470"/>
                </a:solidFill>
              </a:rPr>
              <a:t>Twelve runnable demos, building from a single API call up to the ideas behind agentic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130552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69748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Python, virtual environment, API keys, and pulling local Ollama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7830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480560" y="201168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window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2130552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4840" y="269748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Foundations (Demos 1–5)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10896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One prompt → one response, across OpenAI, Anthropic, Gemini, multimodal input, and a local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178308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183880" y="201168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out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2130552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38160" y="269748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Applied Tasks (Demos 6–9)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10896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Summarization, document Q&amp;A, multilingual translation, and code generation.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7240" y="457200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slid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4690872"/>
            <a:ext cx="310896" cy="3108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1520" y="525780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Controlling Output (Demo 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Temperature, top_p, top_k, and max tokens — the same prompt, four different behaviors.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434340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480560" y="457200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oin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9432" y="4690872"/>
            <a:ext cx="310896" cy="3108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34840" y="525780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Tools, Cost &amp; Latency (Demos 11–12)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66928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Letting the model call a function, then measuring what a call actually costs and takes.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0" y="4343400"/>
            <a:ext cx="35204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183880" y="4572000"/>
            <a:ext cx="548640" cy="548640"/>
          </a:xfrm>
          <a:prstGeom prst="ellipse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chartlin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2752" y="4690872"/>
            <a:ext cx="310896" cy="3108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138160" y="5257800"/>
            <a:ext cx="3154680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350" b="1">
                <a:solidFill>
                  <a:srgbClr val="305291"/>
                </a:solidFill>
              </a:rPr>
              <a:t>From LLM to Agentic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669280"/>
            <a:ext cx="3154680" cy="868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>
                <a:solidFill>
                  <a:srgbClr val="5C6470"/>
                </a:solidFill>
              </a:rPr>
              <a:t>How the 12 demos form a natural progression toward agents that reason and act in a loop.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DD5827-3BB0-0473-5AA5-95A3D3207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23" y="942319"/>
            <a:ext cx="11895353" cy="47569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84477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65760" y="1234440"/>
            <a:ext cx="8778240" cy="5120640"/>
          </a:xfrm>
          <a:prstGeom prst="roundRect">
            <a:avLst/>
          </a:prstGeom>
          <a:solidFill>
            <a:srgbClr val="F8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FDE191-7AE7-AF28-B58F-FF62C0101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305291"/>
                </a:solidFill>
              </a:rPr>
              <a:t>Setup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6197F-C3FA-DFDC-8775-ED3117C8D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Python (3.10 or above)</a:t>
            </a:r>
          </a:p>
          <a:p>
            <a:r>
              <a:rPr lang="en-IN" dirty="0"/>
              <a:t>Virtual environment creation</a:t>
            </a:r>
          </a:p>
          <a:p>
            <a:pPr lvl="1"/>
            <a:r>
              <a:rPr lang="en-IN" dirty="0" err="1"/>
              <a:t>mkdir</a:t>
            </a:r>
            <a:r>
              <a:rPr lang="en-IN" dirty="0"/>
              <a:t> </a:t>
            </a:r>
            <a:r>
              <a:rPr lang="en-IN" dirty="0" err="1"/>
              <a:t>llm</a:t>
            </a:r>
            <a:r>
              <a:rPr lang="en-IN" dirty="0"/>
              <a:t>-demos</a:t>
            </a:r>
          </a:p>
          <a:p>
            <a:pPr lvl="1"/>
            <a:r>
              <a:rPr lang="en-IN" dirty="0"/>
              <a:t>cd </a:t>
            </a:r>
            <a:r>
              <a:rPr lang="en-IN" dirty="0" err="1"/>
              <a:t>llm</a:t>
            </a:r>
            <a:r>
              <a:rPr lang="en-IN" dirty="0"/>
              <a:t>-demos</a:t>
            </a:r>
          </a:p>
          <a:p>
            <a:pPr lvl="1"/>
            <a:r>
              <a:rPr lang="en-IN" dirty="0"/>
              <a:t>.\</a:t>
            </a:r>
            <a:r>
              <a:rPr lang="en-IN" dirty="0" err="1"/>
              <a:t>venv</a:t>
            </a:r>
            <a:r>
              <a:rPr lang="en-IN" dirty="0"/>
              <a:t>\Scripts\Activate.ps1</a:t>
            </a:r>
          </a:p>
          <a:p>
            <a:r>
              <a:rPr lang="en-IN" dirty="0"/>
              <a:t>API keys (OpenAI, Anthropic, Gemini)</a:t>
            </a:r>
          </a:p>
          <a:p>
            <a:pPr lvl="1"/>
            <a:r>
              <a:rPr lang="en-IN" dirty="0"/>
              <a:t>Respective websites</a:t>
            </a:r>
          </a:p>
          <a:p>
            <a:r>
              <a:rPr lang="en-IN" dirty="0"/>
              <a:t>Creation of .env file</a:t>
            </a:r>
          </a:p>
          <a:p>
            <a:r>
              <a:rPr lang="en-IN" dirty="0" err="1"/>
              <a:t>Ollama</a:t>
            </a:r>
            <a:r>
              <a:rPr lang="en-IN" dirty="0"/>
              <a:t> download (https://ollama.com/download)</a:t>
            </a:r>
          </a:p>
          <a:p>
            <a:r>
              <a:rPr lang="en-IN" dirty="0"/>
              <a:t>Models download in </a:t>
            </a:r>
            <a:r>
              <a:rPr lang="en-IN" dirty="0" err="1"/>
              <a:t>Ollama</a:t>
            </a:r>
            <a:endParaRPr lang="en-IN" dirty="0"/>
          </a:p>
          <a:p>
            <a:pPr lvl="1"/>
            <a:r>
              <a:rPr lang="en-IN" dirty="0" err="1"/>
              <a:t>ollama</a:t>
            </a:r>
            <a:r>
              <a:rPr lang="en-IN" dirty="0"/>
              <a:t> pull llama3.2:latest</a:t>
            </a:r>
          </a:p>
          <a:p>
            <a:pPr lvl="1"/>
            <a:r>
              <a:rPr lang="en-IN" dirty="0" err="1"/>
              <a:t>ollama</a:t>
            </a:r>
            <a:r>
              <a:rPr lang="en-IN" dirty="0"/>
              <a:t> pull qwen3:8b</a:t>
            </a:r>
          </a:p>
          <a:p>
            <a:r>
              <a:rPr lang="en-IN" dirty="0"/>
              <a:t>Installing packages in virtual environment</a:t>
            </a:r>
          </a:p>
          <a:p>
            <a:pPr lvl="1"/>
            <a:r>
              <a:rPr lang="en-US" dirty="0"/>
              <a:t>pip install -r requirements.txt</a:t>
            </a:r>
            <a:endParaRPr lang="en-GB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200" b="1" spc="150">
                <a:solidFill>
                  <a:srgbClr val="F2A65A"/>
                </a:solidFill>
              </a:rP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8935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Common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Each supplied script includes its own setup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Keep API keys in .env — never put them directly in source code.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Ollama examples run against a local model.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supplied code uses the model names shown in each script.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For a live class, test every model/API call beforehand.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1. Basic example using OpenAI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OpenAI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Create an OpenAI client.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Choose gpt-4o-mini.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Send system + user messages.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Print the response and token usage.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A38626-1524-511A-EBA8-1925DC9F0E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95296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2. Basic example using Anthropic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Claude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Create an Anthropic client.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Choose the model in MODEL.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Use the Messages API.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Print response text and usage.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3. Basic example using Gemini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prompt → one Gemini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Configure the Google API key.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Create a GenerativeModel.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Call generate_content().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Print response text and usage metadata.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4. Multimodal example —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Text + image → model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script creates a small sample image if needed.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image is encoded as base64.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Text and image are sent together.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model identifies shapes and colors.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5. Basic example using Ollama / Llama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Run an LLM locally — no cloud API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Install Ollama.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Pull llama3.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Call ollama.chat().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Useful for local experimentation and privacy-sensitive demos.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6. Text summarization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Document → short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Reads assets/sample_document.txt.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Uses a system instruction for 3–5 bullets.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Uses temperature=0.3.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Shows a useful real-world transformation task.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7. Q&amp;A using Ollama / Qwen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Document + question →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Loads the supplied sample document.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Asks three questions.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system instruction says: use ONLY the document.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Important: this is context stuffing, not full RAG.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Larger documents would need chunking + retrieval.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8. Multilingual translation using Gemini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One English sentence → several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Source text is fixed in SOURCE_TEXT.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Targets: French, Hindi, Japanese and Spanish.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prompt requests translation only.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Easy demo: change the target-language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9. Code generation using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Natural-language specification → Python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Claude receives a precise coding task.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It is instructed to return only code.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Generated code is saved to assets/generated_code.py.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Demo the difference between generating and executing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10. Temperature, top_p, top_k and max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Same prompt + different sampling settings → different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Four configurations are tested.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Low temperature + top_k=1 demonstrates narrow sampling.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Higher temperature/top_k gives more variation.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A small max_output_tokens value can truncate output.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Compare the four results side by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5EC160-516E-27B7-5AE9-5EE17E0AC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1726531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11. Tool calling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User request → model requests a tool → Python executes it → model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rPr dirty="0"/>
              <a:t>The model is given a </a:t>
            </a:r>
            <a:r>
              <a:rPr dirty="0" err="1"/>
              <a:t>get_current_weather</a:t>
            </a:r>
            <a:r>
              <a:rPr dirty="0"/>
              <a:t> tool.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rPr dirty="0"/>
              <a:t>The tool is a local Python function with fake data.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rPr dirty="0"/>
              <a:t>The model decides whether to call it.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rPr dirty="0"/>
              <a:t>Your application executes the function.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rPr dirty="0"/>
              <a:t>The result is sent back for the final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B5F0EA-6D49-E28B-C987-F1D1E6D12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08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12. Cost + latency using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Measure one API call instead of guessing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Measures wall-clock latency with time.perf_counter().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Reads prompt/completion token counts from API usage.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Calculates approximate cost from per-1M-token rates.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Also estimates output tokens/sec.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supplied script explicitly says to verify pricing before real budgeting.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7395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470"/>
                </a:solidFill>
              </a:defRPr>
            </a:pPr>
            <a:r>
              <a:t>Based on the supplied Claude Code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The document used for the Q&amp;A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assets/sample_document.txt — inspect it before running Demo 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10698480" cy="4892040"/>
          </a:xfrm>
          <a:prstGeom prst="roundRect">
            <a:avLst/>
          </a:prstGeom>
          <a:solidFill>
            <a:srgbClr val="17284A"/>
          </a:solidFill>
          <a:ln w="9525">
            <a:solidFill>
              <a:srgbClr val="2A3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/>
          <a:lstStyle/>
          <a:p>
            <a:pPr algn="l">
              <a:defRPr sz="1400">
                <a:solidFill>
                  <a:srgbClr val="E8EDF5"/>
                </a:solidFill>
                <a:latin typeface="Consolas"/>
              </a:defRPr>
            </a:pPr>
            <a:r>
              <a:t>Project Nimbus – Internal Project Brief</a:t>
            </a:r>
            <a:br/>
            <a:br/>
            <a:r>
              <a:t>Project Nimbus is a fictional internal software modernization project.</a:t>
            </a:r>
            <a:br/>
            <a:r>
              <a:t>Project lead: Priya Sharma</a:t>
            </a:r>
            <a:br/>
            <a:r>
              <a:t>Approved budget: $250,000</a:t>
            </a:r>
            <a:br/>
            <a:br/>
            <a:r>
              <a:t>Timeline:</a:t>
            </a:r>
            <a:br/>
            <a:r>
              <a:t>Phase 1 covers requirements gathering and architecture.</a:t>
            </a:r>
            <a:br/>
            <a:r>
              <a:t>Phase 2 covers development and integration.</a:t>
            </a:r>
            <a:br/>
            <a:r>
              <a:t>Phase 3 covers testing, deployment and handover.</a:t>
            </a:r>
            <a:br/>
            <a:br/>
            <a:r>
              <a:t>The project aims to modernize the company's internal reporting system</a:t>
            </a:r>
            <a:br/>
            <a:r>
              <a:t>and reduce manual reporting work.</a:t>
            </a:r>
            <a:br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Demo 11: what tool calling actually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This is the bridge from LLMs to agentic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30759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User: What's the weather in Bengaluru?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7627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LLM: Requests get_current_weather(city=...)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63239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044951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Application: Runs the Python function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1363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Tool: Returns weather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00600"/>
            <a:ext cx="914400" cy="50292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782312"/>
            <a:ext cx="8961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32A"/>
                </a:solidFill>
              </a:defRPr>
            </a:pPr>
            <a:r>
              <a:t>LLM: Turns tool result into a natural-language 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Demo 12: understanding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Use the numbers returned by the API, then apply the supplied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The code's rates are explicitly marked as approximate.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Pricing can change — verify before using for budgeting.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Latency is measured for the actual request.</a:t>
            </a:r>
          </a:p>
          <a:p>
            <a:pPr>
              <a:spcAft>
                <a:spcPts val="1000"/>
              </a:spcAft>
              <a:defRPr sz="2000">
                <a:solidFill>
                  <a:srgbClr val="1E232A"/>
                </a:solidFill>
              </a:defRPr>
            </a:pPr>
            <a:r>
              <a:t>Latency includes network and service effects; it is not a fixed model property.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232A"/>
                </a:solidFill>
              </a:defRPr>
            </a:pPr>
            <a:r>
              <a:rPr>
                <a:solidFill>
                  <a:srgbClr val="305291"/>
                </a:solidFill>
              </a:rPr>
              <a:t>From LLM to agentic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470"/>
                </a:solidFill>
              </a:defRPr>
            </a:pPr>
            <a:r>
              <a:t>The 12 demos form a natural progression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LLM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03704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460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Multimodal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23944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34840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4418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5507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Parameters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6442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7531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Tools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884663" y="2267712"/>
            <a:ext cx="594360" cy="320040"/>
          </a:xfrm>
          <a:prstGeom prst="rightArrow">
            <a:avLst/>
          </a:prstGeom>
          <a:solidFill>
            <a:srgbClr val="5C6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195559" y="2057400"/>
            <a:ext cx="1554480" cy="777240"/>
          </a:xfrm>
          <a:prstGeom prst="roundRect">
            <a:avLst/>
          </a:prstGeom>
          <a:solidFill>
            <a:srgbClr val="305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65760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LLM: generate text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Multimodal: understand images + text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Data: answer from supplied documents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Parameters: control generation behavior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Tools: interact with external functions</a:t>
            </a:r>
          </a:p>
          <a:p>
            <a:pPr>
              <a:spcAft>
                <a:spcPts val="1000"/>
              </a:spcAft>
              <a:defRPr sz="1800">
                <a:solidFill>
                  <a:srgbClr val="1E232A"/>
                </a:solidFill>
              </a:defRPr>
            </a:pPr>
            <a:r>
              <a:t>Agent: reason about what to do and use tools in a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8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11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00" b="1" spc="150">
                <a:solidFill>
                  <a:srgbClr val="F2A65A"/>
                </a:solidFill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05840"/>
            <a:ext cx="91440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319272" cy="3566160"/>
          </a:xfrm>
          <a:prstGeom prst="roundRect">
            <a:avLst>
              <a:gd name="adj" fmla="val 6000"/>
            </a:avLst>
          </a:prstGeom>
          <a:solidFill>
            <a:srgbClr val="11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" y="2377440"/>
            <a:ext cx="685800" cy="6858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out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523744"/>
            <a:ext cx="393192" cy="393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246120"/>
            <a:ext cx="2807208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Every demo is the same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977639"/>
            <a:ext cx="2807208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50">
                <a:solidFill>
                  <a:srgbClr val="E8EDF5"/>
                </a:solidFill>
              </a:rPr>
              <a:t>Configure a client, send messages, read the response — cloud or local, text or image, the pattern repeats.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03120"/>
            <a:ext cx="3319272" cy="3566160"/>
          </a:xfrm>
          <a:prstGeom prst="roundRect">
            <a:avLst>
              <a:gd name="adj" fmla="val 6000"/>
            </a:avLst>
          </a:prstGeom>
          <a:solidFill>
            <a:srgbClr val="11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99432" y="2377440"/>
            <a:ext cx="685800" cy="6858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2523744"/>
            <a:ext cx="393192" cy="3931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81144" y="3246120"/>
            <a:ext cx="2807208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Sampling parameters are a dial, not magic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3977639"/>
            <a:ext cx="2807208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50">
                <a:solidFill>
                  <a:srgbClr val="E8EDF5"/>
                </a:solidFill>
              </a:rPr>
              <a:t>Temperature, top_p, top_k, and max tokens trade determinism for variety — pick settings to match the task.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27264" y="2103120"/>
            <a:ext cx="3319272" cy="3566160"/>
          </a:xfrm>
          <a:prstGeom prst="roundRect">
            <a:avLst>
              <a:gd name="adj" fmla="val 6000"/>
            </a:avLst>
          </a:prstGeom>
          <a:solidFill>
            <a:srgbClr val="111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101584" y="2377440"/>
            <a:ext cx="685800" cy="685800"/>
          </a:xfrm>
          <a:prstGeom prst="ellipse">
            <a:avLst/>
          </a:prstGeom>
          <a:solidFill>
            <a:srgbClr val="F2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chartlin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523744"/>
            <a:ext cx="393192" cy="3931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83296" y="3246120"/>
            <a:ext cx="2807208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Tool calling is the bridge to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977639"/>
            <a:ext cx="2807208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50">
                <a:solidFill>
                  <a:srgbClr val="E8EDF5"/>
                </a:solidFill>
              </a:rPr>
              <a:t>Once a model can call a function and read the result, the next step is deciding when to call several, in a loop.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6160" y="6473952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5C6470"/>
                </a:solidFill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1395</Words>
  <Application>Microsoft Office PowerPoint</Application>
  <PresentationFormat>Widescreen</PresentationFormat>
  <Paragraphs>200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Atul Kahate</cp:lastModifiedBy>
  <cp:revision>4</cp:revision>
  <dcterms:created xsi:type="dcterms:W3CDTF">2013-01-27T09:14:16Z</dcterms:created>
  <dcterms:modified xsi:type="dcterms:W3CDTF">2026-09-19T14:24:52Z</dcterms:modified>
  <cp:category/>
</cp:coreProperties>
</file>